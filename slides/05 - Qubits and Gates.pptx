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2" r:id="rId15"/>
    <p:sldId id="270" r:id="rId16"/>
    <p:sldId id="273" r:id="rId17"/>
    <p:sldId id="271" r:id="rId18"/>
    <p:sldId id="274" r:id="rId19"/>
    <p:sldId id="275" r:id="rId20"/>
    <p:sldId id="26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/>
    <p:restoredTop sz="91770" autoAdjust="0"/>
  </p:normalViewPr>
  <p:slideViewPr>
    <p:cSldViewPr snapToGrid="0">
      <p:cViewPr varScale="1">
        <p:scale>
          <a:sx n="88" d="100"/>
          <a:sy n="88" d="100"/>
        </p:scale>
        <p:origin x="6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90" d="100"/>
        <a:sy n="90" d="100"/>
      </p:scale>
      <p:origin x="0" y="-348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90CB10-0298-4CDD-B96D-ABA862E1ACBD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4BB539-68D7-45DA-B25C-C41122A0E7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745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BB539-68D7-45DA-B25C-C41122A0E7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9226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BB539-68D7-45DA-B25C-C41122A0E7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1315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511300" y="1114425"/>
            <a:ext cx="9448800" cy="128016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524000" y="3124200"/>
            <a:ext cx="9436100" cy="7620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Candara" panose="020E0502030303020204" pitchFamily="34" charset="0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206500" y="1114425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3" name="Rectangle 32"/>
          <p:cNvSpPr/>
          <p:nvPr/>
        </p:nvSpPr>
        <p:spPr>
          <a:xfrm>
            <a:off x="1219200" y="3124200"/>
            <a:ext cx="9753600" cy="7620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Rectangle 21"/>
          <p:cNvSpPr/>
          <p:nvPr/>
        </p:nvSpPr>
        <p:spPr>
          <a:xfrm>
            <a:off x="1206500" y="1114425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ctangle 31"/>
          <p:cNvSpPr/>
          <p:nvPr/>
        </p:nvSpPr>
        <p:spPr>
          <a:xfrm>
            <a:off x="1219200" y="3124200"/>
            <a:ext cx="304800" cy="7620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5" name="Date Placeholder 27">
            <a:extLst>
              <a:ext uri="{FF2B5EF4-FFF2-40B4-BE49-F238E27FC236}">
                <a16:creationId xmlns:a16="http://schemas.microsoft.com/office/drawing/2014/main" id="{BCE0B330-C09A-8B4E-AA0B-69C4967F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20050" y="6365810"/>
            <a:ext cx="2551899" cy="365760"/>
          </a:xfrm>
          <a:prstGeom prst="rect">
            <a:avLst/>
          </a:prstGeom>
        </p:spPr>
        <p:txBody>
          <a:bodyPr/>
          <a:lstStyle>
            <a:lvl1pPr algn="ctr">
              <a:defRPr sz="1800"/>
            </a:lvl1pPr>
          </a:lstStyle>
          <a:p>
            <a:fld id="{9C6D7FAD-5A05-5E4D-B8E9-53FB00C64228}" type="datetimeFigureOut">
              <a:rPr lang="en-US" smtClean="0"/>
              <a:t>3/19/2025</a:t>
            </a:fld>
            <a:endParaRPr lang="en-US"/>
          </a:p>
        </p:txBody>
      </p:sp>
      <p:pic>
        <p:nvPicPr>
          <p:cNvPr id="17" name="Picture 16" descr="A picture containing object, clock, screen, room&#10;&#10;Description automatically generated">
            <a:extLst>
              <a:ext uri="{FF2B5EF4-FFF2-40B4-BE49-F238E27FC236}">
                <a16:creationId xmlns:a16="http://schemas.microsoft.com/office/drawing/2014/main" id="{CDD5D102-CB1C-F145-B6F8-B83F3880C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9128" y="5797598"/>
            <a:ext cx="3315392" cy="1044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629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16610"/>
          </a:xfrm>
        </p:spPr>
        <p:txBody>
          <a:bodyPr/>
          <a:lstStyle/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6950" y="6338389"/>
            <a:ext cx="1261164" cy="365760"/>
          </a:xfrm>
          <a:prstGeom prst="rect">
            <a:avLst/>
          </a:prstGeom>
        </p:spPr>
        <p:txBody>
          <a:bodyPr/>
          <a:lstStyle/>
          <a:p>
            <a:fld id="{AAE9D7F5-2D48-9647-949A-F5F108C3F42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157507" y="1032691"/>
            <a:ext cx="11508922" cy="4792617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14" name="Date Placeholder 27"/>
          <p:cNvSpPr>
            <a:spLocks noGrp="1"/>
          </p:cNvSpPr>
          <p:nvPr>
            <p:ph type="dt" sz="half" idx="10"/>
          </p:nvPr>
        </p:nvSpPr>
        <p:spPr>
          <a:xfrm>
            <a:off x="4820050" y="6365810"/>
            <a:ext cx="2551899" cy="365760"/>
          </a:xfrm>
          <a:prstGeom prst="rect">
            <a:avLst/>
          </a:prstGeom>
        </p:spPr>
        <p:txBody>
          <a:bodyPr/>
          <a:lstStyle>
            <a:lvl1pPr algn="ctr">
              <a:defRPr sz="1800">
                <a:latin typeface="Candara" panose="020E0502030303020204" pitchFamily="34" charset="0"/>
              </a:defRPr>
            </a:lvl1pPr>
          </a:lstStyle>
          <a:p>
            <a:fld id="{9C6D7FAD-5A05-5E4D-B8E9-53FB00C64228}" type="datetimeFigureOut">
              <a:rPr lang="en-US" smtClean="0"/>
              <a:t>3/19/2025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362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066800"/>
            <a:ext cx="9448800" cy="1280160"/>
          </a:xfrm>
        </p:spPr>
        <p:txBody>
          <a:bodyPr anchor="t" anchorCtr="0"/>
          <a:lstStyle>
            <a:lvl1pPr algn="r">
              <a:buNone/>
              <a:defRPr sz="3200" b="0" cap="none" baseline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7200" y="2895600"/>
            <a:ext cx="90424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219200" y="1066800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1219200" y="1066800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5" name="Date Placeholder 27">
            <a:extLst>
              <a:ext uri="{FF2B5EF4-FFF2-40B4-BE49-F238E27FC236}">
                <a16:creationId xmlns:a16="http://schemas.microsoft.com/office/drawing/2014/main" id="{8092CCAB-AB79-FF48-BB64-9B731D39FE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20050" y="6365810"/>
            <a:ext cx="2551899" cy="365760"/>
          </a:xfrm>
          <a:prstGeom prst="rect">
            <a:avLst/>
          </a:prstGeom>
        </p:spPr>
        <p:txBody>
          <a:bodyPr/>
          <a:lstStyle>
            <a:lvl1pPr algn="ctr">
              <a:defRPr sz="1800"/>
            </a:lvl1pPr>
          </a:lstStyle>
          <a:p>
            <a:fld id="{9C6D7FAD-5A05-5E4D-B8E9-53FB00C64228}" type="datetimeFigureOut">
              <a:rPr lang="en-US" smtClean="0"/>
              <a:t>3/19/2025</a:t>
            </a:fld>
            <a:endParaRPr lang="en-US"/>
          </a:p>
        </p:txBody>
      </p:sp>
      <p:pic>
        <p:nvPicPr>
          <p:cNvPr id="18" name="Picture 17" descr="A picture containing object, clock, screen, room&#10;&#10;Description automatically generated">
            <a:extLst>
              <a:ext uri="{FF2B5EF4-FFF2-40B4-BE49-F238E27FC236}">
                <a16:creationId xmlns:a16="http://schemas.microsoft.com/office/drawing/2014/main" id="{3A78478A-CCF5-A64D-882E-20C5BAD06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9128" y="5797598"/>
            <a:ext cx="3315392" cy="1044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6914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85371"/>
          </a:xfrm>
        </p:spPr>
        <p:txBody>
          <a:bodyPr/>
          <a:lstStyle/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336550" y="1007758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231297" y="1048793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6864" y="6356350"/>
            <a:ext cx="1723136" cy="365760"/>
          </a:xfrm>
          <a:prstGeom prst="rect">
            <a:avLst/>
          </a:prstGeom>
        </p:spPr>
        <p:txBody>
          <a:bodyPr/>
          <a:lstStyle/>
          <a:p>
            <a:fld id="{AAE9D7F5-2D48-9647-949A-F5F108C3F42F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Date Placeholder 27">
            <a:extLst>
              <a:ext uri="{FF2B5EF4-FFF2-40B4-BE49-F238E27FC236}">
                <a16:creationId xmlns:a16="http://schemas.microsoft.com/office/drawing/2014/main" id="{AF625E83-E07C-2D4D-BD0C-10946C3C97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20050" y="6365810"/>
            <a:ext cx="2551899" cy="365760"/>
          </a:xfrm>
          <a:prstGeom prst="rect">
            <a:avLst/>
          </a:prstGeom>
        </p:spPr>
        <p:txBody>
          <a:bodyPr/>
          <a:lstStyle>
            <a:lvl1pPr algn="ctr">
              <a:defRPr sz="1800"/>
            </a:lvl1pPr>
          </a:lstStyle>
          <a:p>
            <a:fld id="{9C6D7FAD-5A05-5E4D-B8E9-53FB00C64228}" type="datetimeFigureOut">
              <a:rPr lang="en-US" smtClean="0"/>
              <a:t>3/19/2025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982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70857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7601" y="1295400"/>
            <a:ext cx="5389033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6864" y="6356350"/>
            <a:ext cx="1723136" cy="365760"/>
          </a:xfrm>
          <a:prstGeom prst="rect">
            <a:avLst/>
          </a:prstGeom>
        </p:spPr>
        <p:txBody>
          <a:bodyPr/>
          <a:lstStyle/>
          <a:p>
            <a:fld id="{AAE9D7F5-2D48-9647-949A-F5F108C3F42F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Date Placeholder 27">
            <a:extLst>
              <a:ext uri="{FF2B5EF4-FFF2-40B4-BE49-F238E27FC236}">
                <a16:creationId xmlns:a16="http://schemas.microsoft.com/office/drawing/2014/main" id="{E7970657-EC88-024C-8290-A7B6534FF3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20050" y="6365810"/>
            <a:ext cx="2551899" cy="365760"/>
          </a:xfrm>
          <a:prstGeom prst="rect">
            <a:avLst/>
          </a:prstGeom>
        </p:spPr>
        <p:txBody>
          <a:bodyPr/>
          <a:lstStyle>
            <a:lvl1pPr algn="ctr">
              <a:defRPr sz="1800"/>
            </a:lvl1pPr>
          </a:lstStyle>
          <a:p>
            <a:fld id="{9C6D7FAD-5A05-5E4D-B8E9-53FB00C64228}" type="datetimeFigureOut">
              <a:rPr lang="en-US" smtClean="0"/>
              <a:t>3/19/2025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413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85371"/>
          </a:xfrm>
        </p:spPr>
        <p:txBody>
          <a:bodyPr/>
          <a:lstStyle/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6864" y="6356350"/>
            <a:ext cx="1723136" cy="365760"/>
          </a:xfrm>
          <a:prstGeom prst="rect">
            <a:avLst/>
          </a:prstGeom>
        </p:spPr>
        <p:txBody>
          <a:bodyPr/>
          <a:lstStyle/>
          <a:p>
            <a:fld id="{AAE9D7F5-2D48-9647-949A-F5F108C3F42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Date Placeholder 27">
            <a:extLst>
              <a:ext uri="{FF2B5EF4-FFF2-40B4-BE49-F238E27FC236}">
                <a16:creationId xmlns:a16="http://schemas.microsoft.com/office/drawing/2014/main" id="{CAF2259C-C183-3640-A509-F39E34FA1F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20050" y="6365810"/>
            <a:ext cx="2551899" cy="365760"/>
          </a:xfrm>
          <a:prstGeom prst="rect">
            <a:avLst/>
          </a:prstGeom>
        </p:spPr>
        <p:txBody>
          <a:bodyPr/>
          <a:lstStyle>
            <a:lvl1pPr algn="ctr">
              <a:defRPr sz="1800"/>
            </a:lvl1pPr>
          </a:lstStyle>
          <a:p>
            <a:fld id="{9C6D7FAD-5A05-5E4D-B8E9-53FB00C64228}" type="datetimeFigureOut">
              <a:rPr lang="en-US" smtClean="0"/>
              <a:t>3/19/2025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775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6864" y="6356350"/>
            <a:ext cx="1723136" cy="365760"/>
          </a:xfrm>
          <a:prstGeom prst="rect">
            <a:avLst/>
          </a:prstGeom>
        </p:spPr>
        <p:txBody>
          <a:bodyPr/>
          <a:lstStyle/>
          <a:p>
            <a:fld id="{AAE9D7F5-2D48-9647-949A-F5F108C3F42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Date Placeholder 27">
            <a:extLst>
              <a:ext uri="{FF2B5EF4-FFF2-40B4-BE49-F238E27FC236}">
                <a16:creationId xmlns:a16="http://schemas.microsoft.com/office/drawing/2014/main" id="{483D13DE-6015-8A4F-BDFC-71BF62E820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20050" y="6365810"/>
            <a:ext cx="2551899" cy="365760"/>
          </a:xfrm>
          <a:prstGeom prst="rect">
            <a:avLst/>
          </a:prstGeom>
        </p:spPr>
        <p:txBody>
          <a:bodyPr/>
          <a:lstStyle>
            <a:lvl1pPr algn="ctr">
              <a:defRPr sz="1800"/>
            </a:lvl1pPr>
          </a:lstStyle>
          <a:p>
            <a:fld id="{9C6D7FAD-5A05-5E4D-B8E9-53FB00C64228}" type="datetimeFigureOut">
              <a:rPr lang="en-US" smtClean="0"/>
              <a:t>3/19/2025</a:t>
            </a:fld>
            <a:endParaRPr lang="en-US"/>
          </a:p>
        </p:txBody>
      </p:sp>
      <p:pic>
        <p:nvPicPr>
          <p:cNvPr id="16" name="Picture 15" descr="A picture containing object, clock, screen, room&#10;&#10;Description automatically generated">
            <a:extLst>
              <a:ext uri="{FF2B5EF4-FFF2-40B4-BE49-F238E27FC236}">
                <a16:creationId xmlns:a16="http://schemas.microsoft.com/office/drawing/2014/main" id="{29EBD462-D640-5448-9ABD-588D241C2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9128" y="5797598"/>
            <a:ext cx="3315392" cy="1044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560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2800" y="304800"/>
            <a:ext cx="33528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432800" y="1219201"/>
            <a:ext cx="33528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5220033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406400" y="304800"/>
            <a:ext cx="7620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6864" y="6356350"/>
            <a:ext cx="1723136" cy="365760"/>
          </a:xfrm>
          <a:prstGeom prst="rect">
            <a:avLst/>
          </a:prstGeom>
        </p:spPr>
        <p:txBody>
          <a:bodyPr/>
          <a:lstStyle/>
          <a:p>
            <a:fld id="{AAE9D7F5-2D48-9647-949A-F5F108C3F42F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5234432" y="6353175"/>
            <a:ext cx="17231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sz="1600" kern="1200" dirty="0" err="1">
                <a:solidFill>
                  <a:srgbClr val="0808C0"/>
                </a:solidFill>
                <a:latin typeface="Candara" panose="020E0502030303020204" pitchFamily="34" charset="0"/>
                <a:ea typeface="+mn-ea"/>
                <a:cs typeface="+mn-cs"/>
              </a:rPr>
              <a:t>aviral.lab.asu.edu</a:t>
            </a:r>
            <a:endParaRPr kumimoji="0" lang="en-US" sz="1600" kern="1200" dirty="0">
              <a:solidFill>
                <a:srgbClr val="0808C0"/>
              </a:solidFill>
              <a:latin typeface="Candara" panose="020E0502030303020204" pitchFamily="34" charset="0"/>
              <a:ea typeface="+mn-ea"/>
              <a:cs typeface="+mn-cs"/>
            </a:endParaRPr>
          </a:p>
        </p:txBody>
      </p:sp>
      <p:pic>
        <p:nvPicPr>
          <p:cNvPr id="18" name="Picture 17" descr="A picture containing object, clock, screen, room&#10;&#10;Description automatically generated">
            <a:extLst>
              <a:ext uri="{FF2B5EF4-FFF2-40B4-BE49-F238E27FC236}">
                <a16:creationId xmlns:a16="http://schemas.microsoft.com/office/drawing/2014/main" id="{732FA9EB-AFF4-3F4C-84AF-EC57F8F87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9128" y="5797598"/>
            <a:ext cx="3315392" cy="1044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692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609600" y="500856"/>
            <a:ext cx="24384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6864" y="6356350"/>
            <a:ext cx="1723136" cy="365760"/>
          </a:xfrm>
          <a:prstGeom prst="rect">
            <a:avLst/>
          </a:prstGeom>
        </p:spPr>
        <p:txBody>
          <a:bodyPr/>
          <a:lstStyle/>
          <a:p>
            <a:fld id="{AAE9D7F5-2D48-9647-949A-F5F108C3F42F}" type="slidenum">
              <a:rPr lang="en-US" smtClean="0"/>
              <a:t>‹#›</a:t>
            </a:fld>
            <a:endParaRPr lang="en-US"/>
          </a:p>
        </p:txBody>
      </p:sp>
      <p:grpSp>
        <p:nvGrpSpPr>
          <p:cNvPr id="12" name="Group 13"/>
          <p:cNvGrpSpPr>
            <a:grpSpLocks/>
          </p:cNvGrpSpPr>
          <p:nvPr/>
        </p:nvGrpSpPr>
        <p:grpSpPr bwMode="auto">
          <a:xfrm>
            <a:off x="10570634" y="5932488"/>
            <a:ext cx="1722966" cy="1008062"/>
            <a:chOff x="4850" y="3497"/>
            <a:chExt cx="814" cy="635"/>
          </a:xfrm>
        </p:grpSpPr>
        <p:sp>
          <p:nvSpPr>
            <p:cNvPr id="13" name="Text Box 8"/>
            <p:cNvSpPr txBox="1">
              <a:spLocks noChangeAspect="1" noChangeArrowheads="1"/>
            </p:cNvSpPr>
            <p:nvPr/>
          </p:nvSpPr>
          <p:spPr bwMode="auto">
            <a:xfrm>
              <a:off x="4850" y="3634"/>
              <a:ext cx="298" cy="4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r" fontAlgn="auto">
                <a:lnSpc>
                  <a:spcPct val="93000"/>
                </a:lnSpc>
                <a:spcBef>
                  <a:spcPct val="30000"/>
                </a:spcBef>
                <a:spcAft>
                  <a:spcPts val="0"/>
                </a:spcAft>
                <a:buClr>
                  <a:schemeClr val="tx1"/>
                </a:buClr>
                <a:buSzPct val="56000"/>
                <a:buFont typeface="Wingdings" pitchFamily="2" charset="2"/>
                <a:buNone/>
                <a:defRPr/>
              </a:pPr>
              <a:r>
                <a:rPr lang="en-US" sz="48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+mn-cs"/>
                </a:rPr>
                <a:t>C</a:t>
              </a:r>
            </a:p>
          </p:txBody>
        </p:sp>
        <p:sp>
          <p:nvSpPr>
            <p:cNvPr id="14" name="Text Box 9"/>
            <p:cNvSpPr txBox="1">
              <a:spLocks noChangeAspect="1" noChangeArrowheads="1"/>
            </p:cNvSpPr>
            <p:nvPr/>
          </p:nvSpPr>
          <p:spPr bwMode="auto">
            <a:xfrm>
              <a:off x="5089" y="3497"/>
              <a:ext cx="362" cy="4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r" fontAlgn="auto">
                <a:lnSpc>
                  <a:spcPct val="93000"/>
                </a:lnSpc>
                <a:spcBef>
                  <a:spcPct val="30000"/>
                </a:spcBef>
                <a:spcAft>
                  <a:spcPts val="0"/>
                </a:spcAft>
                <a:buClr>
                  <a:schemeClr val="tx1"/>
                </a:buClr>
                <a:buSzPct val="56000"/>
                <a:buFont typeface="Wingdings" pitchFamily="2" charset="2"/>
                <a:buNone/>
                <a:defRPr/>
              </a:pPr>
              <a:r>
                <a:rPr lang="en-US" sz="48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+mn-cs"/>
                </a:rPr>
                <a:t>M</a:t>
              </a:r>
            </a:p>
          </p:txBody>
        </p:sp>
        <p:sp>
          <p:nvSpPr>
            <p:cNvPr id="15" name="Text Box 10"/>
            <p:cNvSpPr txBox="1">
              <a:spLocks noChangeAspect="1" noChangeArrowheads="1"/>
            </p:cNvSpPr>
            <p:nvPr/>
          </p:nvSpPr>
          <p:spPr bwMode="auto">
            <a:xfrm>
              <a:off x="5382" y="3641"/>
              <a:ext cx="282" cy="4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r" fontAlgn="auto">
                <a:lnSpc>
                  <a:spcPct val="93000"/>
                </a:lnSpc>
                <a:spcBef>
                  <a:spcPct val="30000"/>
                </a:spcBef>
                <a:spcAft>
                  <a:spcPts val="0"/>
                </a:spcAft>
                <a:buClr>
                  <a:schemeClr val="tx1"/>
                </a:buClr>
                <a:buSzPct val="56000"/>
                <a:buFont typeface="Wingdings" pitchFamily="2" charset="2"/>
                <a:buNone/>
                <a:defRPr/>
              </a:pPr>
              <a:r>
                <a:rPr lang="en-US" sz="48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+mn-cs"/>
                </a:rPr>
                <a:t>L</a:t>
              </a:r>
            </a:p>
          </p:txBody>
        </p:sp>
      </p:grpSp>
      <p:sp>
        <p:nvSpPr>
          <p:cNvPr id="16" name="Date Placeholder 27"/>
          <p:cNvSpPr>
            <a:spLocks noGrp="1"/>
          </p:cNvSpPr>
          <p:nvPr>
            <p:ph type="dt" sz="half" idx="10"/>
          </p:nvPr>
        </p:nvSpPr>
        <p:spPr>
          <a:xfrm>
            <a:off x="7209536" y="6355080"/>
            <a:ext cx="3048000" cy="365760"/>
          </a:xfrm>
          <a:prstGeom prst="rect">
            <a:avLst/>
          </a:prstGeom>
        </p:spPr>
        <p:txBody>
          <a:bodyPr/>
          <a:lstStyle>
            <a:lvl1pPr algn="ctr">
              <a:defRPr sz="1400"/>
            </a:lvl1pPr>
          </a:lstStyle>
          <a:p>
            <a:fld id="{9C6D7FAD-5A05-5E4D-B8E9-53FB00C64228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2540000" y="6397824"/>
            <a:ext cx="457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sz="1400" kern="1200" dirty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rPr>
              <a:t>Web page:  aviral.lab.asu.edu</a:t>
            </a:r>
          </a:p>
        </p:txBody>
      </p:sp>
    </p:spTree>
    <p:extLst>
      <p:ext uri="{BB962C8B-B14F-4D97-AF65-F5344CB8AC3E}">
        <p14:creationId xmlns:p14="http://schemas.microsoft.com/office/powerpoint/2010/main" val="26775140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6864" y="6356350"/>
            <a:ext cx="1723136" cy="365760"/>
          </a:xfrm>
          <a:prstGeom prst="rect">
            <a:avLst/>
          </a:prstGeom>
        </p:spPr>
        <p:txBody>
          <a:bodyPr/>
          <a:lstStyle/>
          <a:p>
            <a:fld id="{AAE9D7F5-2D48-9647-949A-F5F108C3F42F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13"/>
          <p:cNvGrpSpPr>
            <a:grpSpLocks/>
          </p:cNvGrpSpPr>
          <p:nvPr/>
        </p:nvGrpSpPr>
        <p:grpSpPr bwMode="auto">
          <a:xfrm>
            <a:off x="10570634" y="5932488"/>
            <a:ext cx="1722966" cy="1008062"/>
            <a:chOff x="4850" y="3497"/>
            <a:chExt cx="814" cy="635"/>
          </a:xfrm>
        </p:grpSpPr>
        <p:sp>
          <p:nvSpPr>
            <p:cNvPr id="9" name="Text Box 8"/>
            <p:cNvSpPr txBox="1">
              <a:spLocks noChangeAspect="1" noChangeArrowheads="1"/>
            </p:cNvSpPr>
            <p:nvPr/>
          </p:nvSpPr>
          <p:spPr bwMode="auto">
            <a:xfrm>
              <a:off x="4850" y="3634"/>
              <a:ext cx="298" cy="4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r" fontAlgn="auto">
                <a:lnSpc>
                  <a:spcPct val="93000"/>
                </a:lnSpc>
                <a:spcBef>
                  <a:spcPct val="30000"/>
                </a:spcBef>
                <a:spcAft>
                  <a:spcPts val="0"/>
                </a:spcAft>
                <a:buClr>
                  <a:schemeClr val="tx1"/>
                </a:buClr>
                <a:buSzPct val="56000"/>
                <a:buFont typeface="Wingdings" pitchFamily="2" charset="2"/>
                <a:buNone/>
                <a:defRPr/>
              </a:pPr>
              <a:r>
                <a:rPr lang="en-US" sz="48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+mn-cs"/>
                </a:rPr>
                <a:t>C</a:t>
              </a:r>
            </a:p>
          </p:txBody>
        </p:sp>
        <p:sp>
          <p:nvSpPr>
            <p:cNvPr id="10" name="Text Box 9"/>
            <p:cNvSpPr txBox="1">
              <a:spLocks noChangeAspect="1" noChangeArrowheads="1"/>
            </p:cNvSpPr>
            <p:nvPr/>
          </p:nvSpPr>
          <p:spPr bwMode="auto">
            <a:xfrm>
              <a:off x="5089" y="3497"/>
              <a:ext cx="362" cy="4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r" fontAlgn="auto">
                <a:lnSpc>
                  <a:spcPct val="93000"/>
                </a:lnSpc>
                <a:spcBef>
                  <a:spcPct val="30000"/>
                </a:spcBef>
                <a:spcAft>
                  <a:spcPts val="0"/>
                </a:spcAft>
                <a:buClr>
                  <a:schemeClr val="tx1"/>
                </a:buClr>
                <a:buSzPct val="56000"/>
                <a:buFont typeface="Wingdings" pitchFamily="2" charset="2"/>
                <a:buNone/>
                <a:defRPr/>
              </a:pPr>
              <a:r>
                <a:rPr lang="en-US" sz="48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+mn-cs"/>
                </a:rPr>
                <a:t>M</a:t>
              </a:r>
            </a:p>
          </p:txBody>
        </p:sp>
        <p:sp>
          <p:nvSpPr>
            <p:cNvPr id="11" name="Text Box 10"/>
            <p:cNvSpPr txBox="1">
              <a:spLocks noChangeAspect="1" noChangeArrowheads="1"/>
            </p:cNvSpPr>
            <p:nvPr/>
          </p:nvSpPr>
          <p:spPr bwMode="auto">
            <a:xfrm>
              <a:off x="5382" y="3641"/>
              <a:ext cx="282" cy="4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r" fontAlgn="auto">
                <a:lnSpc>
                  <a:spcPct val="93000"/>
                </a:lnSpc>
                <a:spcBef>
                  <a:spcPct val="30000"/>
                </a:spcBef>
                <a:spcAft>
                  <a:spcPts val="0"/>
                </a:spcAft>
                <a:buClr>
                  <a:schemeClr val="tx1"/>
                </a:buClr>
                <a:buSzPct val="56000"/>
                <a:buFont typeface="Wingdings" pitchFamily="2" charset="2"/>
                <a:buNone/>
                <a:defRPr/>
              </a:pPr>
              <a:r>
                <a:rPr lang="en-US" sz="48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+mn-cs"/>
                </a:rPr>
                <a:t>L</a:t>
              </a:r>
            </a:p>
          </p:txBody>
        </p:sp>
      </p:grpSp>
      <p:sp>
        <p:nvSpPr>
          <p:cNvPr id="12" name="Date Placeholder 27"/>
          <p:cNvSpPr>
            <a:spLocks noGrp="1"/>
          </p:cNvSpPr>
          <p:nvPr>
            <p:ph type="dt" sz="half" idx="10"/>
          </p:nvPr>
        </p:nvSpPr>
        <p:spPr>
          <a:xfrm>
            <a:off x="7209536" y="6355080"/>
            <a:ext cx="3048000" cy="365760"/>
          </a:xfrm>
          <a:prstGeom prst="rect">
            <a:avLst/>
          </a:prstGeom>
        </p:spPr>
        <p:txBody>
          <a:bodyPr/>
          <a:lstStyle>
            <a:lvl1pPr algn="ctr">
              <a:defRPr sz="1400"/>
            </a:lvl1pPr>
          </a:lstStyle>
          <a:p>
            <a:fld id="{9C6D7FAD-5A05-5E4D-B8E9-53FB00C64228}" type="datetimeFigureOut">
              <a:rPr lang="en-US" smtClean="0"/>
              <a:t>3/19/2025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706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5814836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6864" y="6356350"/>
            <a:ext cx="1723136" cy="365760"/>
          </a:xfrm>
          <a:prstGeom prst="rect">
            <a:avLst/>
          </a:prstGeom>
        </p:spPr>
        <p:txBody>
          <a:bodyPr/>
          <a:lstStyle/>
          <a:p>
            <a:fld id="{AAE9D7F5-2D48-9647-949A-F5F108C3F42F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3"/>
          <p:cNvGrpSpPr>
            <a:grpSpLocks/>
          </p:cNvGrpSpPr>
          <p:nvPr/>
        </p:nvGrpSpPr>
        <p:grpSpPr bwMode="auto">
          <a:xfrm>
            <a:off x="10570634" y="5932488"/>
            <a:ext cx="1722966" cy="1008062"/>
            <a:chOff x="4850" y="3497"/>
            <a:chExt cx="814" cy="635"/>
          </a:xfrm>
        </p:grpSpPr>
        <p:sp>
          <p:nvSpPr>
            <p:cNvPr id="12" name="Text Box 8"/>
            <p:cNvSpPr txBox="1">
              <a:spLocks noChangeAspect="1" noChangeArrowheads="1"/>
            </p:cNvSpPr>
            <p:nvPr/>
          </p:nvSpPr>
          <p:spPr bwMode="auto">
            <a:xfrm>
              <a:off x="4850" y="3634"/>
              <a:ext cx="298" cy="4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r" fontAlgn="auto">
                <a:lnSpc>
                  <a:spcPct val="93000"/>
                </a:lnSpc>
                <a:spcBef>
                  <a:spcPct val="30000"/>
                </a:spcBef>
                <a:spcAft>
                  <a:spcPts val="0"/>
                </a:spcAft>
                <a:buClr>
                  <a:schemeClr val="tx1"/>
                </a:buClr>
                <a:buSzPct val="56000"/>
                <a:buFont typeface="Wingdings" pitchFamily="2" charset="2"/>
                <a:buNone/>
                <a:defRPr/>
              </a:pPr>
              <a:r>
                <a:rPr lang="en-US" sz="48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+mn-cs"/>
                </a:rPr>
                <a:t>C</a:t>
              </a:r>
            </a:p>
          </p:txBody>
        </p:sp>
        <p:sp>
          <p:nvSpPr>
            <p:cNvPr id="13" name="Text Box 9"/>
            <p:cNvSpPr txBox="1">
              <a:spLocks noChangeAspect="1" noChangeArrowheads="1"/>
            </p:cNvSpPr>
            <p:nvPr/>
          </p:nvSpPr>
          <p:spPr bwMode="auto">
            <a:xfrm>
              <a:off x="5089" y="3497"/>
              <a:ext cx="362" cy="4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r" fontAlgn="auto">
                <a:lnSpc>
                  <a:spcPct val="93000"/>
                </a:lnSpc>
                <a:spcBef>
                  <a:spcPct val="30000"/>
                </a:spcBef>
                <a:spcAft>
                  <a:spcPts val="0"/>
                </a:spcAft>
                <a:buClr>
                  <a:schemeClr val="tx1"/>
                </a:buClr>
                <a:buSzPct val="56000"/>
                <a:buFont typeface="Wingdings" pitchFamily="2" charset="2"/>
                <a:buNone/>
                <a:defRPr/>
              </a:pPr>
              <a:r>
                <a:rPr lang="en-US" sz="48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+mn-cs"/>
                </a:rPr>
                <a:t>M</a:t>
              </a:r>
            </a:p>
          </p:txBody>
        </p:sp>
        <p:sp>
          <p:nvSpPr>
            <p:cNvPr id="14" name="Text Box 10"/>
            <p:cNvSpPr txBox="1">
              <a:spLocks noChangeAspect="1" noChangeArrowheads="1"/>
            </p:cNvSpPr>
            <p:nvPr/>
          </p:nvSpPr>
          <p:spPr bwMode="auto">
            <a:xfrm>
              <a:off x="5382" y="3641"/>
              <a:ext cx="282" cy="4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r" fontAlgn="auto">
                <a:lnSpc>
                  <a:spcPct val="93000"/>
                </a:lnSpc>
                <a:spcBef>
                  <a:spcPct val="30000"/>
                </a:spcBef>
                <a:spcAft>
                  <a:spcPts val="0"/>
                </a:spcAft>
                <a:buClr>
                  <a:schemeClr val="tx1"/>
                </a:buClr>
                <a:buSzPct val="56000"/>
                <a:buFont typeface="Wingdings" pitchFamily="2" charset="2"/>
                <a:buNone/>
                <a:defRPr/>
              </a:pPr>
              <a:r>
                <a:rPr lang="en-US" sz="48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cs typeface="+mn-cs"/>
                </a:rPr>
                <a:t>L</a:t>
              </a:r>
            </a:p>
          </p:txBody>
        </p:sp>
      </p:grpSp>
      <p:sp>
        <p:nvSpPr>
          <p:cNvPr id="15" name="Date Placeholder 27"/>
          <p:cNvSpPr>
            <a:spLocks noGrp="1"/>
          </p:cNvSpPr>
          <p:nvPr>
            <p:ph type="dt" sz="half" idx="10"/>
          </p:nvPr>
        </p:nvSpPr>
        <p:spPr>
          <a:xfrm>
            <a:off x="7209536" y="6355080"/>
            <a:ext cx="3048000" cy="365760"/>
          </a:xfrm>
          <a:prstGeom prst="rect">
            <a:avLst/>
          </a:prstGeom>
        </p:spPr>
        <p:txBody>
          <a:bodyPr/>
          <a:lstStyle>
            <a:lvl1pPr algn="ctr">
              <a:defRPr sz="1400"/>
            </a:lvl1pPr>
          </a:lstStyle>
          <a:p>
            <a:fld id="{9C6D7FAD-5A05-5E4D-B8E9-53FB00C64228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540000" y="6397824"/>
            <a:ext cx="457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sz="1400" kern="1200" dirty="0">
                <a:solidFill>
                  <a:srgbClr val="0808C0"/>
                </a:solidFill>
                <a:latin typeface="Comic Sans MS" pitchFamily="66" charset="0"/>
                <a:ea typeface="+mn-ea"/>
                <a:cs typeface="+mn-cs"/>
              </a:rPr>
              <a:t>Web page:  aviral.lab.asu.edu</a:t>
            </a:r>
          </a:p>
        </p:txBody>
      </p:sp>
    </p:spTree>
    <p:extLst>
      <p:ext uri="{BB962C8B-B14F-4D97-AF65-F5344CB8AC3E}">
        <p14:creationId xmlns:p14="http://schemas.microsoft.com/office/powerpoint/2010/main" val="1461232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38200"/>
          </a:xfrm>
          <a:prstGeom prst="rect">
            <a:avLst/>
          </a:prstGeom>
        </p:spPr>
        <p:txBody>
          <a:bodyPr vert="horz" anchor="b" anchorCtr="0">
            <a:noAutofit/>
          </a:bodyPr>
          <a:lstStyle/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203201" y="990600"/>
            <a:ext cx="11696700" cy="52578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  <a:endParaRPr kumimoji="0" lang="en-US" dirty="0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609600" y="6353174"/>
            <a:ext cx="8803340" cy="12636"/>
          </a:xfrm>
          <a:prstGeom prst="line">
            <a:avLst/>
          </a:prstGeom>
          <a:noFill/>
          <a:ln w="127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0" y="838200"/>
            <a:ext cx="12192000" cy="0"/>
          </a:xfrm>
          <a:prstGeom prst="line">
            <a:avLst/>
          </a:prstGeom>
          <a:noFill/>
          <a:ln w="63500" cap="flat" cmpd="sng" algn="ctr">
            <a:gradFill flip="none" rotWithShape="1">
              <a:gsLst>
                <a:gs pos="0">
                  <a:srgbClr val="0808C0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6864" y="6356350"/>
            <a:ext cx="1723136" cy="365760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Candara" panose="020E0502030303020204" pitchFamily="34" charset="0"/>
              </a:defRPr>
            </a:lvl1pPr>
          </a:lstStyle>
          <a:p>
            <a:fld id="{AAE9D7F5-2D48-9647-949A-F5F108C3F42F}" type="slidenum">
              <a:rPr lang="en-US" smtClean="0"/>
              <a:t>‹#›</a:t>
            </a:fld>
            <a:endParaRPr lang="en-US"/>
          </a:p>
        </p:txBody>
      </p:sp>
      <p:pic>
        <p:nvPicPr>
          <p:cNvPr id="3" name="Picture 2" descr="A picture containing object, clock, screen, room&#10;&#10;Description automatically generated">
            <a:extLst>
              <a:ext uri="{FF2B5EF4-FFF2-40B4-BE49-F238E27FC236}">
                <a16:creationId xmlns:a16="http://schemas.microsoft.com/office/drawing/2014/main" id="{08BFDCC2-5E3C-F64F-A838-CACDA0738A6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12940" y="5888912"/>
            <a:ext cx="2911579" cy="916939"/>
          </a:xfrm>
          <a:prstGeom prst="rect">
            <a:avLst/>
          </a:prstGeom>
        </p:spPr>
      </p:pic>
      <p:sp>
        <p:nvSpPr>
          <p:cNvPr id="21" name="Date Placeholder 27">
            <a:extLst>
              <a:ext uri="{FF2B5EF4-FFF2-40B4-BE49-F238E27FC236}">
                <a16:creationId xmlns:a16="http://schemas.microsoft.com/office/drawing/2014/main" id="{301C601F-B298-1347-BC11-1F805E4186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820050" y="6365810"/>
            <a:ext cx="2551899" cy="365760"/>
          </a:xfrm>
          <a:prstGeom prst="rect">
            <a:avLst/>
          </a:prstGeom>
        </p:spPr>
        <p:txBody>
          <a:bodyPr/>
          <a:lstStyle>
            <a:lvl1pPr algn="ctr">
              <a:defRPr sz="1800"/>
            </a:lvl1pPr>
          </a:lstStyle>
          <a:p>
            <a:fld id="{9C6D7FAD-5A05-5E4D-B8E9-53FB00C64228}" type="datetimeFigureOut">
              <a:rPr lang="en-US" smtClean="0"/>
              <a:t>3/19/2025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150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b="1" kern="1200">
          <a:solidFill>
            <a:srgbClr val="000066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Candara" pitchFamily="34" charset="0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800" kern="1200">
          <a:solidFill>
            <a:schemeClr val="tx1"/>
          </a:solidFill>
          <a:latin typeface="Candara" pitchFamily="34" charset="0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400" kern="1200">
          <a:solidFill>
            <a:srgbClr val="002060"/>
          </a:solidFill>
          <a:latin typeface="Candara" pitchFamily="34" charset="0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400" kern="1200">
          <a:solidFill>
            <a:srgbClr val="006600"/>
          </a:solidFill>
          <a:latin typeface="Candara" pitchFamily="34" charset="0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2000" kern="1200">
          <a:solidFill>
            <a:schemeClr val="tx1"/>
          </a:solidFill>
          <a:latin typeface="Candara" pitchFamily="34" charset="0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Candara" pitchFamily="34" charset="0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5" Type="http://schemas.openxmlformats.org/officeDocument/2006/relationships/image" Target="../media/image4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Relationship Id="rId14" Type="http://schemas.openxmlformats.org/officeDocument/2006/relationships/image" Target="../media/image4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2.png"/><Relationship Id="rId7" Type="http://schemas.openxmlformats.org/officeDocument/2006/relationships/image" Target="../media/image5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Relationship Id="rId9" Type="http://schemas.openxmlformats.org/officeDocument/2006/relationships/image" Target="../media/image5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7" Type="http://schemas.openxmlformats.org/officeDocument/2006/relationships/image" Target="../media/image70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image" Target="../media/image74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12" Type="http://schemas.openxmlformats.org/officeDocument/2006/relationships/image" Target="../media/image85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11" Type="http://schemas.openxmlformats.org/officeDocument/2006/relationships/image" Target="../media/image84.png"/><Relationship Id="rId5" Type="http://schemas.openxmlformats.org/officeDocument/2006/relationships/image" Target="../media/image78.png"/><Relationship Id="rId10" Type="http://schemas.openxmlformats.org/officeDocument/2006/relationships/image" Target="../media/image83.png"/><Relationship Id="rId4" Type="http://schemas.openxmlformats.org/officeDocument/2006/relationships/image" Target="../media/image77.png"/><Relationship Id="rId9" Type="http://schemas.openxmlformats.org/officeDocument/2006/relationships/image" Target="../media/image8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13" Type="http://schemas.openxmlformats.org/officeDocument/2006/relationships/image" Target="../media/image97.png"/><Relationship Id="rId18" Type="http://schemas.openxmlformats.org/officeDocument/2006/relationships/image" Target="../media/image102.png"/><Relationship Id="rId3" Type="http://schemas.openxmlformats.org/officeDocument/2006/relationships/image" Target="../media/image87.png"/><Relationship Id="rId21" Type="http://schemas.openxmlformats.org/officeDocument/2006/relationships/image" Target="../media/image105.png"/><Relationship Id="rId7" Type="http://schemas.openxmlformats.org/officeDocument/2006/relationships/image" Target="../media/image91.png"/><Relationship Id="rId12" Type="http://schemas.openxmlformats.org/officeDocument/2006/relationships/image" Target="../media/image96.png"/><Relationship Id="rId17" Type="http://schemas.openxmlformats.org/officeDocument/2006/relationships/image" Target="../media/image101.png"/><Relationship Id="rId25" Type="http://schemas.openxmlformats.org/officeDocument/2006/relationships/image" Target="../media/image109.png"/><Relationship Id="rId2" Type="http://schemas.openxmlformats.org/officeDocument/2006/relationships/image" Target="../media/image86.png"/><Relationship Id="rId16" Type="http://schemas.openxmlformats.org/officeDocument/2006/relationships/image" Target="../media/image100.png"/><Relationship Id="rId20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11" Type="http://schemas.openxmlformats.org/officeDocument/2006/relationships/image" Target="../media/image95.png"/><Relationship Id="rId24" Type="http://schemas.openxmlformats.org/officeDocument/2006/relationships/image" Target="../media/image108.png"/><Relationship Id="rId5" Type="http://schemas.openxmlformats.org/officeDocument/2006/relationships/image" Target="../media/image89.png"/><Relationship Id="rId15" Type="http://schemas.openxmlformats.org/officeDocument/2006/relationships/image" Target="../media/image99.png"/><Relationship Id="rId23" Type="http://schemas.openxmlformats.org/officeDocument/2006/relationships/image" Target="../media/image107.png"/><Relationship Id="rId10" Type="http://schemas.openxmlformats.org/officeDocument/2006/relationships/image" Target="../media/image94.png"/><Relationship Id="rId19" Type="http://schemas.openxmlformats.org/officeDocument/2006/relationships/image" Target="../media/image103.png"/><Relationship Id="rId4" Type="http://schemas.openxmlformats.org/officeDocument/2006/relationships/image" Target="../media/image88.png"/><Relationship Id="rId9" Type="http://schemas.openxmlformats.org/officeDocument/2006/relationships/image" Target="../media/image93.png"/><Relationship Id="rId14" Type="http://schemas.openxmlformats.org/officeDocument/2006/relationships/image" Target="../media/image98.png"/><Relationship Id="rId22" Type="http://schemas.openxmlformats.org/officeDocument/2006/relationships/image" Target="../media/image10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110.png"/><Relationship Id="rId7" Type="http://schemas.openxmlformats.org/officeDocument/2006/relationships/image" Target="../media/image114.svg"/><Relationship Id="rId12" Type="http://schemas.openxmlformats.org/officeDocument/2006/relationships/image" Target="../media/image119.png"/><Relationship Id="rId2" Type="http://schemas.openxmlformats.org/officeDocument/2006/relationships/hyperlink" Target="https://journals.aps.org/prl/abstract/10.1103/PhysRevLett.23.880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3.png"/><Relationship Id="rId11" Type="http://schemas.openxmlformats.org/officeDocument/2006/relationships/image" Target="../media/image118.png"/><Relationship Id="rId5" Type="http://schemas.openxmlformats.org/officeDocument/2006/relationships/image" Target="../media/image112.svg"/><Relationship Id="rId10" Type="http://schemas.openxmlformats.org/officeDocument/2006/relationships/image" Target="../media/image117.png"/><Relationship Id="rId4" Type="http://schemas.openxmlformats.org/officeDocument/2006/relationships/image" Target="../media/image111.png"/><Relationship Id="rId9" Type="http://schemas.openxmlformats.org/officeDocument/2006/relationships/image" Target="../media/image11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13" Type="http://schemas.openxmlformats.org/officeDocument/2006/relationships/image" Target="../media/image127.png"/><Relationship Id="rId18" Type="http://schemas.openxmlformats.org/officeDocument/2006/relationships/image" Target="../media/image132.png"/><Relationship Id="rId26" Type="http://schemas.openxmlformats.org/officeDocument/2006/relationships/image" Target="../media/image140.png"/><Relationship Id="rId3" Type="http://schemas.openxmlformats.org/officeDocument/2006/relationships/image" Target="../media/image111.png"/><Relationship Id="rId21" Type="http://schemas.openxmlformats.org/officeDocument/2006/relationships/image" Target="../media/image135.png"/><Relationship Id="rId7" Type="http://schemas.openxmlformats.org/officeDocument/2006/relationships/image" Target="../media/image121.png"/><Relationship Id="rId12" Type="http://schemas.openxmlformats.org/officeDocument/2006/relationships/image" Target="../media/image126.png"/><Relationship Id="rId17" Type="http://schemas.openxmlformats.org/officeDocument/2006/relationships/image" Target="../media/image131.png"/><Relationship Id="rId25" Type="http://schemas.openxmlformats.org/officeDocument/2006/relationships/image" Target="../media/image139.png"/><Relationship Id="rId2" Type="http://schemas.openxmlformats.org/officeDocument/2006/relationships/image" Target="../media/image120.png"/><Relationship Id="rId16" Type="http://schemas.openxmlformats.org/officeDocument/2006/relationships/image" Target="../media/image130.png"/><Relationship Id="rId20" Type="http://schemas.openxmlformats.org/officeDocument/2006/relationships/image" Target="../media/image1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4.svg"/><Relationship Id="rId11" Type="http://schemas.openxmlformats.org/officeDocument/2006/relationships/image" Target="../media/image125.png"/><Relationship Id="rId24" Type="http://schemas.openxmlformats.org/officeDocument/2006/relationships/image" Target="../media/image138.png"/><Relationship Id="rId5" Type="http://schemas.openxmlformats.org/officeDocument/2006/relationships/image" Target="../media/image113.png"/><Relationship Id="rId15" Type="http://schemas.openxmlformats.org/officeDocument/2006/relationships/image" Target="../media/image129.png"/><Relationship Id="rId23" Type="http://schemas.openxmlformats.org/officeDocument/2006/relationships/image" Target="../media/image137.png"/><Relationship Id="rId10" Type="http://schemas.openxmlformats.org/officeDocument/2006/relationships/image" Target="../media/image124.png"/><Relationship Id="rId19" Type="http://schemas.openxmlformats.org/officeDocument/2006/relationships/image" Target="../media/image133.png"/><Relationship Id="rId4" Type="http://schemas.openxmlformats.org/officeDocument/2006/relationships/image" Target="../media/image112.svg"/><Relationship Id="rId9" Type="http://schemas.openxmlformats.org/officeDocument/2006/relationships/image" Target="../media/image123.png"/><Relationship Id="rId14" Type="http://schemas.openxmlformats.org/officeDocument/2006/relationships/image" Target="../media/image128.png"/><Relationship Id="rId22" Type="http://schemas.openxmlformats.org/officeDocument/2006/relationships/image" Target="../media/image13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png"/><Relationship Id="rId13" Type="http://schemas.openxmlformats.org/officeDocument/2006/relationships/image" Target="../media/image152.png"/><Relationship Id="rId3" Type="http://schemas.openxmlformats.org/officeDocument/2006/relationships/image" Target="../media/image142.png"/><Relationship Id="rId7" Type="http://schemas.openxmlformats.org/officeDocument/2006/relationships/image" Target="../media/image146.png"/><Relationship Id="rId12" Type="http://schemas.openxmlformats.org/officeDocument/2006/relationships/image" Target="../media/image151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5.png"/><Relationship Id="rId11" Type="http://schemas.openxmlformats.org/officeDocument/2006/relationships/image" Target="../media/image150.png"/><Relationship Id="rId5" Type="http://schemas.openxmlformats.org/officeDocument/2006/relationships/image" Target="../media/image144.png"/><Relationship Id="rId10" Type="http://schemas.openxmlformats.org/officeDocument/2006/relationships/image" Target="../media/image149.png"/><Relationship Id="rId4" Type="http://schemas.openxmlformats.org/officeDocument/2006/relationships/image" Target="../media/image143.png"/><Relationship Id="rId9" Type="http://schemas.openxmlformats.org/officeDocument/2006/relationships/image" Target="../media/image148.png"/><Relationship Id="rId14" Type="http://schemas.openxmlformats.org/officeDocument/2006/relationships/image" Target="../media/image15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7" Type="http://schemas.openxmlformats.org/officeDocument/2006/relationships/image" Target="../media/image159.png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8.png"/><Relationship Id="rId5" Type="http://schemas.openxmlformats.org/officeDocument/2006/relationships/image" Target="../media/image157.png"/><Relationship Id="rId4" Type="http://schemas.openxmlformats.org/officeDocument/2006/relationships/image" Target="../media/image15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30C70-F63B-C5AA-E9B0-D651474243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Quantum Computing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52C192-287B-DA7C-CFD2-6C3C6ACB12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Aviral Shrivastava</a:t>
            </a:r>
          </a:p>
        </p:txBody>
      </p:sp>
    </p:spTree>
    <p:extLst>
      <p:ext uri="{BB962C8B-B14F-4D97-AF65-F5344CB8AC3E}">
        <p14:creationId xmlns:p14="http://schemas.microsoft.com/office/powerpoint/2010/main" val="1162372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5230E-4B93-9105-3002-238791B59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Qubit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3F1E3A-C48C-6646-4097-C623DE0CEA4E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57506" y="1032691"/>
                <a:ext cx="9178004" cy="5290836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As per quantum mechanics we saw that when you measure the energy of an electron, you do not read any arbitrary values, but only one of the possible discrete values.</a:t>
                </a:r>
              </a:p>
              <a:p>
                <a:r>
                  <a:rPr lang="en-US" dirty="0"/>
                  <a:t>We c</a:t>
                </a:r>
                <a:r>
                  <a:rPr lang="en-US" b="0" dirty="0"/>
                  <a:t>an think of the qubit as capturing the state of an electron</a:t>
                </a:r>
              </a:p>
              <a:p>
                <a:pPr lvl="1"/>
                <a:r>
                  <a:rPr lang="en-US" dirty="0"/>
                  <a:t>State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b="0" dirty="0"/>
                  <a:t> means that the electron is in the ground state</a:t>
                </a:r>
              </a:p>
              <a:p>
                <a:pPr lvl="1"/>
                <a:r>
                  <a:rPr lang="en-US" dirty="0"/>
                  <a:t>State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b="0" dirty="0"/>
                  <a:t> means that the electron is in the excited state</a:t>
                </a:r>
                <a:endParaRPr lang="en-US" dirty="0"/>
              </a:p>
              <a:p>
                <a:r>
                  <a:rPr lang="en-US" dirty="0"/>
                  <a:t>In general, an electron can be in a superposition of two basic states,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</a:t>
                </a:r>
                <a:r>
                  <a:rPr lang="en-US" b="0" dirty="0">
                    <a:latin typeface="Cambria Math" panose="02040503050406030204" pitchFamily="18" charset="0"/>
                  </a:rPr>
                  <a:t>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0" dirty="0"/>
              </a:p>
              <a:p>
                <a:endParaRPr lang="en-US" dirty="0"/>
              </a:p>
              <a:p>
                <a:r>
                  <a:rPr lang="en-US" dirty="0"/>
                  <a:t>Not like classical physics</a:t>
                </a:r>
              </a:p>
              <a:p>
                <a:pPr lvl="1"/>
                <a:r>
                  <a:rPr lang="en-US" dirty="0"/>
                  <a:t>where the electron is in one of the two states</a:t>
                </a:r>
              </a:p>
              <a:p>
                <a:pPr lvl="1"/>
                <a:r>
                  <a:rPr lang="en-US" dirty="0"/>
                  <a:t>Or that some electrons in a mixture of state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/>
                  <a:t>, e.g., some electrons are in state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others in state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b="0" dirty="0">
                    <a:solidFill>
                      <a:srgbClr val="FF0000"/>
                    </a:solidFill>
                  </a:rPr>
                  <a:t>All electrons are in a state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0" dirty="0">
                    <a:solidFill>
                      <a:srgbClr val="FF0000"/>
                    </a:solidFill>
                  </a:rPr>
                  <a:t>that is a superposition of states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b="0" dirty="0">
                    <a:solidFill>
                      <a:srgbClr val="FF0000"/>
                    </a:solidFill>
                  </a:rPr>
                  <a:t>, i.e.,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|1⟩</m:t>
                    </m:r>
                  </m:oMath>
                </a14:m>
                <a:r>
                  <a:rPr lang="en-US" b="0" dirty="0">
                    <a:solidFill>
                      <a:srgbClr val="FF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3F1E3A-C48C-6646-4097-C623DE0CEA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57506" y="1032691"/>
                <a:ext cx="9178004" cy="5290836"/>
              </a:xfrm>
              <a:blipFill>
                <a:blip r:embed="rId3"/>
                <a:stretch>
                  <a:fillRect l="-692" t="-2158" r="-277" b="-2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3A257727-9503-E788-E430-94E3974FAABB}"/>
              </a:ext>
            </a:extLst>
          </p:cNvPr>
          <p:cNvGrpSpPr/>
          <p:nvPr/>
        </p:nvGrpSpPr>
        <p:grpSpPr>
          <a:xfrm>
            <a:off x="9664593" y="1079431"/>
            <a:ext cx="1866481" cy="1964927"/>
            <a:chOff x="9274628" y="2227748"/>
            <a:chExt cx="1866481" cy="1964927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1B1F007-593F-C85B-0263-5965FD756434}"/>
                </a:ext>
              </a:extLst>
            </p:cNvPr>
            <p:cNvSpPr/>
            <p:nvPr/>
          </p:nvSpPr>
          <p:spPr>
            <a:xfrm>
              <a:off x="10038303" y="3155182"/>
              <a:ext cx="341644" cy="35169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B1BFEC96-AD48-FE8D-A9C7-2239CE5CB332}"/>
                </a:ext>
              </a:extLst>
            </p:cNvPr>
            <p:cNvSpPr/>
            <p:nvPr/>
          </p:nvSpPr>
          <p:spPr>
            <a:xfrm>
              <a:off x="9620459" y="2792603"/>
              <a:ext cx="1177332" cy="1086897"/>
            </a:xfrm>
            <a:prstGeom prst="ellipse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D6C886DC-26C9-5DD9-4CE9-F8FC05EB2207}"/>
                </a:ext>
              </a:extLst>
            </p:cNvPr>
            <p:cNvSpPr/>
            <p:nvPr/>
          </p:nvSpPr>
          <p:spPr>
            <a:xfrm>
              <a:off x="9274628" y="2401557"/>
              <a:ext cx="1866481" cy="1791118"/>
            </a:xfrm>
            <a:prstGeom prst="ellipse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22C578AD-4411-EA12-39FE-6BED7FAE0B0A}"/>
                    </a:ext>
                  </a:extLst>
                </p:cNvPr>
                <p:cNvSpPr txBox="1"/>
                <p:nvPr/>
              </p:nvSpPr>
              <p:spPr>
                <a:xfrm>
                  <a:off x="9947868" y="2479428"/>
                  <a:ext cx="43207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22C578AD-4411-EA12-39FE-6BED7FAE0B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47868" y="2479428"/>
                  <a:ext cx="432079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668EB3E-2962-399B-61C6-A03AE06B68A4}"/>
                    </a:ext>
                  </a:extLst>
                </p:cNvPr>
                <p:cNvSpPr txBox="1"/>
                <p:nvPr/>
              </p:nvSpPr>
              <p:spPr>
                <a:xfrm>
                  <a:off x="10709030" y="2227748"/>
                  <a:ext cx="43207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668EB3E-2962-399B-61C6-A03AE06B68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09030" y="2227748"/>
                  <a:ext cx="432079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788972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DADF2-6BCF-E9AE-C609-F220AA75D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Superposition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9EFD12-89F6-79AC-3D11-EC5D8598FD2A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57507" y="1032691"/>
                <a:ext cx="6217535" cy="5368109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b="0" dirty="0"/>
                  <a:t>In general, a qubit can be in state </a:t>
                </a:r>
              </a:p>
              <a:p>
                <a:pPr marL="0" indent="0">
                  <a:buNone/>
                </a:pPr>
                <a:r>
                  <a:rPr lang="en-US" b="0" dirty="0"/>
                  <a:t>	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b="0" dirty="0"/>
                  <a:t>, 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ℂ</m:t>
                    </m:r>
                  </m:oMath>
                </a14:m>
                <a:endParaRPr lang="en-US" b="0" dirty="0"/>
              </a:p>
              <a:p>
                <a:r>
                  <a:rPr lang="en-US" b="0" dirty="0"/>
                  <a:t>If an electron is in state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b="0" dirty="0"/>
                  <a:t>, then when we measure,</a:t>
                </a:r>
              </a:p>
              <a:p>
                <a:pPr lvl="1"/>
                <a:r>
                  <a:rPr lang="en-US" b="0" dirty="0"/>
                  <a:t>The probability that we will find it in state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b="0" dirty="0"/>
                  <a:t>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ψ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b="0" dirty="0"/>
              </a:p>
              <a:p>
                <a:pPr lvl="1"/>
                <a:r>
                  <a:rPr lang="en-US" b="0" dirty="0"/>
                  <a:t>The probability that we will find it in state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b="0" dirty="0"/>
                  <a:t>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ψ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b="0" dirty="0"/>
              </a:p>
              <a:p>
                <a:r>
                  <a:rPr lang="en-US" b="0" dirty="0"/>
                  <a:t>S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b="0" dirty="0"/>
                  <a:t> 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b="0" dirty="0"/>
                  <a:t>, 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b="0" dirty="0"/>
              </a:p>
              <a:p>
                <a:endParaRPr lang="en-US" b="0" dirty="0"/>
              </a:p>
              <a:p>
                <a:r>
                  <a:rPr lang="en-US" b="0" dirty="0"/>
                  <a:t>Actual state is very complex -- captured by 2 complex numbers.</a:t>
                </a:r>
              </a:p>
              <a:p>
                <a:r>
                  <a:rPr lang="en-US" b="0" dirty="0"/>
                  <a:t>But when you measure, you find it in one of two states.</a:t>
                </a:r>
              </a:p>
              <a:p>
                <a:r>
                  <a:rPr lang="en-US" b="0" dirty="0"/>
                  <a:t>State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b="0" dirty="0"/>
                  <a:t>,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b="0" dirty="0"/>
                  <a:t>.</a:t>
                </a:r>
              </a:p>
              <a:p>
                <a:r>
                  <a:rPr lang="en-US" dirty="0"/>
                  <a:t>S</a:t>
                </a:r>
                <a:r>
                  <a:rPr lang="en-US" b="0" dirty="0"/>
                  <a:t>o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9EFD12-89F6-79AC-3D11-EC5D8598FD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57507" y="1032691"/>
                <a:ext cx="6217535" cy="5368109"/>
              </a:xfrm>
              <a:blipFill>
                <a:blip r:embed="rId2"/>
                <a:stretch>
                  <a:fillRect l="-407" t="-2123" b="-14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7C8D3C4-E50F-CFB1-FE0E-0DCA88DF0F41}"/>
              </a:ext>
            </a:extLst>
          </p:cNvPr>
          <p:cNvCxnSpPr/>
          <p:nvPr/>
        </p:nvCxnSpPr>
        <p:spPr>
          <a:xfrm>
            <a:off x="8306873" y="3429000"/>
            <a:ext cx="3090930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9986AEE-4DE3-C696-FA70-A17BD1602943}"/>
              </a:ext>
            </a:extLst>
          </p:cNvPr>
          <p:cNvCxnSpPr>
            <a:cxnSpLocks/>
          </p:cNvCxnSpPr>
          <p:nvPr/>
        </p:nvCxnSpPr>
        <p:spPr>
          <a:xfrm flipV="1">
            <a:off x="8459273" y="816610"/>
            <a:ext cx="47760" cy="276479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2760900-182E-F53E-F885-860B99455DAC}"/>
              </a:ext>
            </a:extLst>
          </p:cNvPr>
          <p:cNvCxnSpPr>
            <a:cxnSpLocks/>
            <a:endCxn id="4" idx="6"/>
          </p:cNvCxnSpPr>
          <p:nvPr/>
        </p:nvCxnSpPr>
        <p:spPr>
          <a:xfrm>
            <a:off x="8457126" y="3429000"/>
            <a:ext cx="1244959" cy="1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007F3BF-F3C2-B4B8-572A-E5AFFB7CA189}"/>
                  </a:ext>
                </a:extLst>
              </p:cNvPr>
              <p:cNvSpPr txBox="1"/>
              <p:nvPr/>
            </p:nvSpPr>
            <p:spPr>
              <a:xfrm>
                <a:off x="9573029" y="3559519"/>
                <a:ext cx="6053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007F3BF-F3C2-B4B8-572A-E5AFFB7CA1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3029" y="3559519"/>
                <a:ext cx="60530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16C1305-0221-ABF1-EE82-12424ED25DA9}"/>
                  </a:ext>
                </a:extLst>
              </p:cNvPr>
              <p:cNvSpPr txBox="1"/>
              <p:nvPr/>
            </p:nvSpPr>
            <p:spPr>
              <a:xfrm>
                <a:off x="9702085" y="2368282"/>
                <a:ext cx="1695718" cy="6884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|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16C1305-0221-ABF1-EE82-12424ED25D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2085" y="2368282"/>
                <a:ext cx="1695718" cy="68845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992AA99-FB4F-AAAF-46C5-AE8F9F490CA1}"/>
                  </a:ext>
                </a:extLst>
              </p:cNvPr>
              <p:cNvSpPr txBox="1"/>
              <p:nvPr/>
            </p:nvSpPr>
            <p:spPr>
              <a:xfrm>
                <a:off x="7881334" y="1774593"/>
                <a:ext cx="6053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992AA99-FB4F-AAAF-46C5-AE8F9F490C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1334" y="1774593"/>
                <a:ext cx="60530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B84B932-EC3C-8758-CBEF-97D83E5579DB}"/>
              </a:ext>
            </a:extLst>
          </p:cNvPr>
          <p:cNvCxnSpPr>
            <a:cxnSpLocks/>
            <a:endCxn id="4" idx="0"/>
          </p:cNvCxnSpPr>
          <p:nvPr/>
        </p:nvCxnSpPr>
        <p:spPr>
          <a:xfrm flipV="1">
            <a:off x="8457126" y="2247143"/>
            <a:ext cx="49907" cy="1181857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8072686-2FDC-9AAA-1BA7-B21E49403822}"/>
              </a:ext>
            </a:extLst>
          </p:cNvPr>
          <p:cNvCxnSpPr>
            <a:cxnSpLocks/>
          </p:cNvCxnSpPr>
          <p:nvPr/>
        </p:nvCxnSpPr>
        <p:spPr>
          <a:xfrm flipV="1">
            <a:off x="8450149" y="2252542"/>
            <a:ext cx="469006" cy="123096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270CC43-4588-9D81-6464-83EE83A7C5E3}"/>
              </a:ext>
            </a:extLst>
          </p:cNvPr>
          <p:cNvCxnSpPr>
            <a:cxnSpLocks/>
            <a:endCxn id="4" idx="7"/>
          </p:cNvCxnSpPr>
          <p:nvPr/>
        </p:nvCxnSpPr>
        <p:spPr>
          <a:xfrm flipV="1">
            <a:off x="8427346" y="2593301"/>
            <a:ext cx="924716" cy="886778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B236044-6142-8E3B-77CB-430629305AD5}"/>
                  </a:ext>
                </a:extLst>
              </p:cNvPr>
              <p:cNvSpPr txBox="1"/>
              <p:nvPr/>
            </p:nvSpPr>
            <p:spPr>
              <a:xfrm>
                <a:off x="8854226" y="1512144"/>
                <a:ext cx="1695718" cy="6860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|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B236044-6142-8E3B-77CB-430629305A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4226" y="1512144"/>
                <a:ext cx="1695718" cy="6860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0934E180-A32B-2F14-645B-FE60484CD0D3}"/>
              </a:ext>
            </a:extLst>
          </p:cNvPr>
          <p:cNvSpPr/>
          <p:nvPr/>
        </p:nvSpPr>
        <p:spPr>
          <a:xfrm>
            <a:off x="7311980" y="2247143"/>
            <a:ext cx="2390105" cy="2363715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52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68480-0C9A-5228-59CE-96236628E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BA79D-0245-37C5-74E0-819996852791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72924" y="880599"/>
                <a:ext cx="7594771" cy="2548707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sz="2400" dirty="0"/>
                  <a:t>If state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 |1⟩</m:t>
                            </m:r>
                          </m:e>
                        </m:func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unc>
                                <m:func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os</m:t>
                                  </m:r>
                                </m:fName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</m:mr>
                          <m:mr>
                            <m:e>
                              <m:func>
                                <m:func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</m:mr>
                        </m:m>
                      </m:e>
                    </m:d>
                  </m:oMath>
                </a14:m>
                <a:endParaRPr lang="en-US" sz="2400" dirty="0"/>
              </a:p>
              <a:p>
                <a:r>
                  <a:rPr lang="en-US" sz="2400" dirty="0"/>
                  <a:t>When we measure, </a:t>
                </a:r>
              </a:p>
              <a:p>
                <a:pPr lvl="1"/>
                <a:r>
                  <a:rPr lang="en-US" sz="2000" dirty="0"/>
                  <a:t>the state collapses to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sz="2000" dirty="0"/>
                  <a:t> with probability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sz="2000" dirty="0"/>
              </a:p>
              <a:p>
                <a:pPr lvl="1"/>
                <a:r>
                  <a:rPr lang="en-US" sz="2000" dirty="0"/>
                  <a:t>the state collapses to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000" dirty="0"/>
                  <a:t> with probability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sz="2000" dirty="0"/>
              </a:p>
              <a:p>
                <a:pPr lvl="1"/>
                <a:r>
                  <a:rPr lang="en-US" sz="2000" dirty="0"/>
                  <a:t>the state collapses to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000" dirty="0"/>
                  <a:t> with probability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n-US" sz="2400" dirty="0"/>
              </a:p>
              <a:p>
                <a:r>
                  <a:rPr lang="en-US" sz="2400" dirty="0"/>
                  <a:t>Measurement is a projection onto the measurement basis.</a:t>
                </a:r>
                <a:endParaRPr lang="en-US" sz="2400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BA79D-0245-37C5-74E0-8199968527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72924" y="880599"/>
                <a:ext cx="7594771" cy="2548707"/>
              </a:xfrm>
              <a:blipFill>
                <a:blip r:embed="rId3"/>
                <a:stretch>
                  <a:fillRect l="-334" b="-9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F1F813D-F812-BE87-3235-51952C9C951F}"/>
              </a:ext>
            </a:extLst>
          </p:cNvPr>
          <p:cNvCxnSpPr/>
          <p:nvPr/>
        </p:nvCxnSpPr>
        <p:spPr>
          <a:xfrm>
            <a:off x="9114791" y="2602904"/>
            <a:ext cx="3090930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CC6DB92-A8F5-0DDB-F109-975E9D0652F0}"/>
              </a:ext>
            </a:extLst>
          </p:cNvPr>
          <p:cNvCxnSpPr>
            <a:cxnSpLocks/>
          </p:cNvCxnSpPr>
          <p:nvPr/>
        </p:nvCxnSpPr>
        <p:spPr>
          <a:xfrm flipV="1">
            <a:off x="9267191" y="-9486"/>
            <a:ext cx="47760" cy="276479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792463D-72FA-95F7-E395-8A9C9B99ABC3}"/>
              </a:ext>
            </a:extLst>
          </p:cNvPr>
          <p:cNvCxnSpPr>
            <a:cxnSpLocks/>
          </p:cNvCxnSpPr>
          <p:nvPr/>
        </p:nvCxnSpPr>
        <p:spPr>
          <a:xfrm>
            <a:off x="9265044" y="2602904"/>
            <a:ext cx="2137414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95BF977-FD4C-CEAF-8253-501DBF653956}"/>
                  </a:ext>
                </a:extLst>
              </p:cNvPr>
              <p:cNvSpPr txBox="1"/>
              <p:nvPr/>
            </p:nvSpPr>
            <p:spPr>
              <a:xfrm>
                <a:off x="11525277" y="2712771"/>
                <a:ext cx="6053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95BF977-FD4C-CEAF-8253-501DBF6539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25277" y="2712771"/>
                <a:ext cx="60530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42DCBE9-E9D5-401F-2F7A-EE2CD3A19266}"/>
                  </a:ext>
                </a:extLst>
              </p:cNvPr>
              <p:cNvSpPr txBox="1"/>
              <p:nvPr/>
            </p:nvSpPr>
            <p:spPr>
              <a:xfrm>
                <a:off x="11282288" y="1564535"/>
                <a:ext cx="622230" cy="3692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42DCBE9-E9D5-401F-2F7A-EE2CD3A192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82288" y="1564535"/>
                <a:ext cx="622230" cy="369284"/>
              </a:xfrm>
              <a:prstGeom prst="rect">
                <a:avLst/>
              </a:prstGeom>
              <a:blipFill>
                <a:blip r:embed="rId5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FEA5E25-6A61-3413-FA68-08D6ECCDCFBC}"/>
                  </a:ext>
                </a:extLst>
              </p:cNvPr>
              <p:cNvSpPr txBox="1"/>
              <p:nvPr/>
            </p:nvSpPr>
            <p:spPr>
              <a:xfrm>
                <a:off x="8732451" y="77773"/>
                <a:ext cx="6053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FEA5E25-6A61-3413-FA68-08D6ECCDCF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2451" y="77773"/>
                <a:ext cx="60530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7C8F707-0772-6A4B-4DA8-C7B78C7B052A}"/>
              </a:ext>
            </a:extLst>
          </p:cNvPr>
          <p:cNvCxnSpPr>
            <a:cxnSpLocks/>
          </p:cNvCxnSpPr>
          <p:nvPr/>
        </p:nvCxnSpPr>
        <p:spPr>
          <a:xfrm flipV="1">
            <a:off x="9265044" y="727113"/>
            <a:ext cx="46894" cy="1875791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BE4DC57-8E3A-A8DB-5F9E-0E8E49C6084D}"/>
              </a:ext>
            </a:extLst>
          </p:cNvPr>
          <p:cNvCxnSpPr>
            <a:cxnSpLocks/>
          </p:cNvCxnSpPr>
          <p:nvPr/>
        </p:nvCxnSpPr>
        <p:spPr>
          <a:xfrm flipV="1">
            <a:off x="9265044" y="1448347"/>
            <a:ext cx="2416493" cy="1154557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35FBB9D-015A-1601-FBF9-527790007039}"/>
                  </a:ext>
                </a:extLst>
              </p:cNvPr>
              <p:cNvSpPr txBox="1"/>
              <p:nvPr/>
            </p:nvSpPr>
            <p:spPr>
              <a:xfrm>
                <a:off x="9641186" y="2284699"/>
                <a:ext cx="622230" cy="3692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35FBB9D-015A-1601-FBF9-5277900070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1186" y="2284699"/>
                <a:ext cx="622230" cy="36928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10AA9CD8-995C-5F4C-4AF6-7B9D1A4C935A}"/>
              </a:ext>
            </a:extLst>
          </p:cNvPr>
          <p:cNvSpPr txBox="1"/>
          <p:nvPr/>
        </p:nvSpPr>
        <p:spPr>
          <a:xfrm>
            <a:off x="950457" y="3487992"/>
            <a:ext cx="6209071" cy="92333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0" dirty="0">
                <a:effectLst/>
                <a:latin typeface="Roboto" panose="02000000000000000000" pitchFamily="2" charset="0"/>
              </a:rPr>
              <a:t>When you measure the state it gets projected onto one of the two basis states -- with probability equal to the cosine squared the angle it makes with the state.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07C0597-393A-0B00-D360-9642402A9486}"/>
                  </a:ext>
                </a:extLst>
              </p:cNvPr>
              <p:cNvSpPr txBox="1"/>
              <p:nvPr/>
            </p:nvSpPr>
            <p:spPr>
              <a:xfrm>
                <a:off x="9314951" y="1794584"/>
                <a:ext cx="784999" cy="5629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07C0597-393A-0B00-D360-9642402A94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4951" y="1794584"/>
                <a:ext cx="784999" cy="562975"/>
              </a:xfrm>
              <a:prstGeom prst="rect">
                <a:avLst/>
              </a:prstGeom>
              <a:blipFill>
                <a:blip r:embed="rId8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99220D95-E765-3698-0F84-788992F0732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7506" y="4660487"/>
                <a:ext cx="7594771" cy="1661343"/>
              </a:xfrm>
              <a:prstGeom prst="rect">
                <a:avLst/>
              </a:prstGeom>
            </p:spPr>
            <p:txBody>
              <a:bodyPr vert="horz">
                <a:normAutofit fontScale="77500" lnSpcReduction="20000"/>
              </a:bodyPr>
              <a:lstStyle>
                <a:lvl1pPr marL="274320" indent="-274320" algn="l" rtl="0" eaLnBrk="1" latinLnBrk="0" hangingPunct="1"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/>
                  <a:buChar char=""/>
                  <a:defRPr kumimoji="0" sz="2800" kern="1200">
                    <a:solidFill>
                      <a:schemeClr val="tx1"/>
                    </a:solidFill>
                    <a:latin typeface="Candara" pitchFamily="34" charset="0"/>
                    <a:ea typeface="+mn-ea"/>
                    <a:cs typeface="+mn-cs"/>
                  </a:defRPr>
                </a:lvl1pPr>
                <a:lvl2pPr marL="548640" indent="-274320" algn="l" rtl="0" eaLnBrk="1" latinLnBrk="0" hangingPunct="1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/>
                  <a:buChar char=""/>
                  <a:defRPr kumimoji="0" sz="2400" kern="1200">
                    <a:solidFill>
                      <a:srgbClr val="002060"/>
                    </a:solidFill>
                    <a:latin typeface="Candara" pitchFamily="34" charset="0"/>
                    <a:ea typeface="+mn-ea"/>
                    <a:cs typeface="+mn-cs"/>
                  </a:defRPr>
                </a:lvl2pPr>
                <a:lvl3pPr marL="822960" indent="-228600" algn="l" rtl="0" eaLnBrk="1" latinLnBrk="0" hangingPunct="1">
                  <a:spcBef>
                    <a:spcPts val="500"/>
                  </a:spcBef>
                  <a:buClr>
                    <a:schemeClr val="bg1">
                      <a:shade val="50000"/>
                    </a:schemeClr>
                  </a:buClr>
                  <a:buSzPct val="76000"/>
                  <a:buFont typeface="Wingdings 3"/>
                  <a:buChar char=""/>
                  <a:defRPr kumimoji="0" sz="2400" kern="1200">
                    <a:solidFill>
                      <a:srgbClr val="006600"/>
                    </a:solidFill>
                    <a:latin typeface="Candara" pitchFamily="34" charset="0"/>
                    <a:ea typeface="+mn-ea"/>
                    <a:cs typeface="+mn-cs"/>
                  </a:defRPr>
                </a:lvl3pPr>
                <a:lvl4pPr marL="1097280" indent="-228600" algn="l" rtl="0" eaLnBrk="1" latinLnBrk="0" hangingPunct="1">
                  <a:spcBef>
                    <a:spcPts val="400"/>
                  </a:spcBef>
                  <a:buClr>
                    <a:schemeClr val="accent2">
                      <a:shade val="75000"/>
                    </a:schemeClr>
                  </a:buClr>
                  <a:buSzPct val="70000"/>
                  <a:buFont typeface="Wingdings"/>
                  <a:buChar char=""/>
                  <a:defRPr kumimoji="0" sz="2000" kern="1200">
                    <a:solidFill>
                      <a:schemeClr val="tx1"/>
                    </a:solidFill>
                    <a:latin typeface="Candara" pitchFamily="34" charset="0"/>
                    <a:ea typeface="+mn-ea"/>
                    <a:cs typeface="+mn-cs"/>
                  </a:defRPr>
                </a:lvl4pPr>
                <a:lvl5pPr marL="1371600" indent="-228600" algn="l" rtl="0" eaLnBrk="1" latinLnBrk="0" hangingPunct="1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/>
                  <a:buChar char=""/>
                  <a:defRPr kumimoji="0" sz="1800" kern="1200">
                    <a:solidFill>
                      <a:schemeClr val="tx1"/>
                    </a:solidFill>
                    <a:latin typeface="Candara" pitchFamily="34" charset="0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dirty="0"/>
                  <a:t>Measure in arbitrary basis {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⊥</m:t>
                        </m:r>
                      </m:sub>
                    </m:sSub>
                  </m:oMath>
                </a14:m>
                <a:r>
                  <a:rPr lang="en-US" sz="2400" dirty="0"/>
                  <a:t>}</a:t>
                </a:r>
              </a:p>
              <a:p>
                <a:r>
                  <a:rPr lang="en-US" sz="2400" dirty="0"/>
                  <a:t>When we measure, </a:t>
                </a:r>
              </a:p>
              <a:p>
                <a:pPr lvl="1"/>
                <a:r>
                  <a:rPr lang="en-US" sz="2000" dirty="0"/>
                  <a:t>the state collapses to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en-US" sz="2000" dirty="0"/>
                  <a:t> with probability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 smtClean="0"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US" sz="200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sz="2000" dirty="0"/>
              </a:p>
              <a:p>
                <a:pPr lvl="1"/>
                <a:r>
                  <a:rPr lang="en-US" sz="2000" dirty="0"/>
                  <a:t>the state collapses to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⊥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 with probability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 smtClean="0"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US" sz="200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sz="2000" dirty="0"/>
              </a:p>
              <a:p>
                <a:r>
                  <a:rPr lang="en-US" sz="2400" dirty="0">
                    <a:solidFill>
                      <a:srgbClr val="FF0000"/>
                    </a:solidFill>
                  </a:rPr>
                  <a:t>In general, the probability of measuring a state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as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⟨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begChr m:val="|"/>
                        <m:endChr m:val="⟩"/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sSup>
                      <m:sSup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p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99220D95-E765-3698-0F84-788992F073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506" y="4660487"/>
                <a:ext cx="7594771" cy="1661343"/>
              </a:xfrm>
              <a:prstGeom prst="rect">
                <a:avLst/>
              </a:prstGeom>
              <a:blipFill>
                <a:blip r:embed="rId9"/>
                <a:stretch>
                  <a:fillRect l="-167" t="-5344" b="-305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62F6B82-14C3-D235-8284-7BC31BF6704C}"/>
              </a:ext>
            </a:extLst>
          </p:cNvPr>
          <p:cNvCxnSpPr/>
          <p:nvPr/>
        </p:nvCxnSpPr>
        <p:spPr>
          <a:xfrm>
            <a:off x="9035104" y="5912172"/>
            <a:ext cx="3090930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17A8AC2-5B98-43A6-A970-6DFC722F1170}"/>
              </a:ext>
            </a:extLst>
          </p:cNvPr>
          <p:cNvCxnSpPr>
            <a:cxnSpLocks/>
          </p:cNvCxnSpPr>
          <p:nvPr/>
        </p:nvCxnSpPr>
        <p:spPr>
          <a:xfrm flipV="1">
            <a:off x="9187504" y="3299782"/>
            <a:ext cx="47760" cy="276479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472E505-DDB2-1B41-3763-8BC17931061B}"/>
              </a:ext>
            </a:extLst>
          </p:cNvPr>
          <p:cNvCxnSpPr>
            <a:cxnSpLocks/>
          </p:cNvCxnSpPr>
          <p:nvPr/>
        </p:nvCxnSpPr>
        <p:spPr>
          <a:xfrm>
            <a:off x="9185357" y="5912172"/>
            <a:ext cx="2339920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DF725F4-F0FC-4F95-334E-E4CFE982349C}"/>
                  </a:ext>
                </a:extLst>
              </p:cNvPr>
              <p:cNvSpPr txBox="1"/>
              <p:nvPr/>
            </p:nvSpPr>
            <p:spPr>
              <a:xfrm>
                <a:off x="11681537" y="5511629"/>
                <a:ext cx="6053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DF725F4-F0FC-4F95-334E-E4CFE98234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1537" y="5511629"/>
                <a:ext cx="605306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BBA12CD-1FAC-7F5F-1D45-D6BC9262B2BF}"/>
                  </a:ext>
                </a:extLst>
              </p:cNvPr>
              <p:cNvSpPr txBox="1"/>
              <p:nvPr/>
            </p:nvSpPr>
            <p:spPr>
              <a:xfrm>
                <a:off x="11190947" y="3655225"/>
                <a:ext cx="622230" cy="3692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BBA12CD-1FAC-7F5F-1D45-D6BC9262B2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90947" y="3655225"/>
                <a:ext cx="622230" cy="369284"/>
              </a:xfrm>
              <a:prstGeom prst="rect">
                <a:avLst/>
              </a:prstGeom>
              <a:blipFill>
                <a:blip r:embed="rId11"/>
                <a:stretch>
                  <a:fillRect b="-13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46AC022-45E2-A700-F242-19D9D20FB098}"/>
                  </a:ext>
                </a:extLst>
              </p:cNvPr>
              <p:cNvSpPr txBox="1"/>
              <p:nvPr/>
            </p:nvSpPr>
            <p:spPr>
              <a:xfrm>
                <a:off x="8706632" y="3271516"/>
                <a:ext cx="6053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46AC022-45E2-A700-F242-19D9D20FB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6632" y="3271516"/>
                <a:ext cx="605306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21CFF43-3B4C-D468-45EA-ED017E9A8140}"/>
              </a:ext>
            </a:extLst>
          </p:cNvPr>
          <p:cNvCxnSpPr>
            <a:cxnSpLocks/>
          </p:cNvCxnSpPr>
          <p:nvPr/>
        </p:nvCxnSpPr>
        <p:spPr>
          <a:xfrm flipV="1">
            <a:off x="9185357" y="3640848"/>
            <a:ext cx="49907" cy="2271324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BB3D81A-7B06-9796-A63E-13BBEA5E10F8}"/>
              </a:ext>
            </a:extLst>
          </p:cNvPr>
          <p:cNvCxnSpPr>
            <a:cxnSpLocks/>
          </p:cNvCxnSpPr>
          <p:nvPr/>
        </p:nvCxnSpPr>
        <p:spPr>
          <a:xfrm flipV="1">
            <a:off x="9155577" y="3756546"/>
            <a:ext cx="2126711" cy="2206705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662FFD1-F3A4-069F-C1EF-92B96A14E494}"/>
                  </a:ext>
                </a:extLst>
              </p:cNvPr>
              <p:cNvSpPr txBox="1"/>
              <p:nvPr/>
            </p:nvSpPr>
            <p:spPr>
              <a:xfrm>
                <a:off x="9534018" y="5299434"/>
                <a:ext cx="622230" cy="3692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662FFD1-F3A4-069F-C1EF-92B96A14E4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4018" y="5299434"/>
                <a:ext cx="622230" cy="36928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A02A774-23AF-1FA4-949B-5F7EB9571B69}"/>
              </a:ext>
            </a:extLst>
          </p:cNvPr>
          <p:cNvCxnSpPr>
            <a:cxnSpLocks/>
          </p:cNvCxnSpPr>
          <p:nvPr/>
        </p:nvCxnSpPr>
        <p:spPr>
          <a:xfrm flipV="1">
            <a:off x="9185357" y="4667100"/>
            <a:ext cx="2849137" cy="129615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9B7A268-EFDE-5E8D-C1E0-DD56C4F8B5B0}"/>
              </a:ext>
            </a:extLst>
          </p:cNvPr>
          <p:cNvCxnSpPr>
            <a:cxnSpLocks/>
          </p:cNvCxnSpPr>
          <p:nvPr/>
        </p:nvCxnSpPr>
        <p:spPr>
          <a:xfrm flipH="1" flipV="1">
            <a:off x="8052619" y="3490335"/>
            <a:ext cx="1116246" cy="247291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AD73C6F-AB46-C1B4-B99C-C0EDB5E2826D}"/>
                  </a:ext>
                </a:extLst>
              </p:cNvPr>
              <p:cNvSpPr txBox="1"/>
              <p:nvPr/>
            </p:nvSpPr>
            <p:spPr>
              <a:xfrm>
                <a:off x="11100108" y="5078455"/>
                <a:ext cx="6053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AD73C6F-AB46-C1B4-B99C-C0EDB5E282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0108" y="5078455"/>
                <a:ext cx="605306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7360105-42B1-C03F-6F7D-1469B5F1C3A4}"/>
                  </a:ext>
                </a:extLst>
              </p:cNvPr>
              <p:cNvSpPr txBox="1"/>
              <p:nvPr/>
            </p:nvSpPr>
            <p:spPr>
              <a:xfrm>
                <a:off x="7609737" y="3797481"/>
                <a:ext cx="7936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⊥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7360105-42B1-C03F-6F7D-1469B5F1C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9737" y="3797481"/>
                <a:ext cx="793633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3679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FB7A1-CC65-9174-2752-891DEF614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Light Polarization Experiment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980E57-BE50-AFA0-4248-B8D6D10D9FCE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57507" y="1032691"/>
                <a:ext cx="6682087" cy="2716492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>
                    <a:latin typeface="Roboto" panose="02000000000000000000" pitchFamily="2" charset="0"/>
                  </a:rPr>
                  <a:t>Lets define the state of photon in terms of the direction of oscillation of the electric field</a:t>
                </a:r>
              </a:p>
              <a:p>
                <a:pPr lvl="1"/>
                <a:r>
                  <a:rPr lang="en-US" dirty="0">
                    <a:latin typeface="Roboto" panose="02000000000000000000" pitchFamily="2" charset="0"/>
                  </a:rPr>
                  <a:t>I</a:t>
                </a:r>
                <a:r>
                  <a:rPr lang="en-US" b="0" dirty="0">
                    <a:effectLst/>
                    <a:latin typeface="Roboto" panose="02000000000000000000" pitchFamily="2" charset="0"/>
                  </a:rPr>
                  <a:t>f the electric field oscillations are horizontal, then, we say the state is </a:t>
                </a:r>
                <a14:m>
                  <m:oMath xmlns:m="http://schemas.openxmlformats.org/officeDocument/2006/math">
                    <m:r>
                      <a:rPr lang="en-US" b="0" i="1" smtClean="0">
                        <a:effectLst/>
                        <a:latin typeface="Cambria Math" panose="02040503050406030204" pitchFamily="18" charset="0"/>
                      </a:rPr>
                      <m:t>|0⟩</m:t>
                    </m:r>
                  </m:oMath>
                </a14:m>
                <a:endParaRPr lang="en-US" b="0" dirty="0">
                  <a:effectLst/>
                  <a:latin typeface="Roboto" panose="02000000000000000000" pitchFamily="2" charset="0"/>
                </a:endParaRPr>
              </a:p>
              <a:p>
                <a:pPr lvl="1"/>
                <a:r>
                  <a:rPr lang="en-US" dirty="0">
                    <a:latin typeface="Roboto" panose="02000000000000000000" pitchFamily="2" charset="0"/>
                  </a:rPr>
                  <a:t>I</a:t>
                </a:r>
                <a:r>
                  <a:rPr lang="en-US" b="0" dirty="0">
                    <a:effectLst/>
                    <a:latin typeface="Roboto" panose="02000000000000000000" pitchFamily="2" charset="0"/>
                  </a:rPr>
                  <a:t>f the electric field oscillations are vertical, then, we say the state is </a:t>
                </a:r>
                <a14:m>
                  <m:oMath xmlns:m="http://schemas.openxmlformats.org/officeDocument/2006/math">
                    <m:r>
                      <a:rPr lang="en-US" b="0" i="1" smtClean="0">
                        <a:effectLst/>
                        <a:latin typeface="Cambria Math" panose="02040503050406030204" pitchFamily="18" charset="0"/>
                      </a:rPr>
                      <m:t>|1⟩</m:t>
                    </m:r>
                  </m:oMath>
                </a14:m>
                <a:endParaRPr lang="en-US" b="0" dirty="0">
                  <a:effectLst/>
                  <a:latin typeface="Roboto" panose="02000000000000000000" pitchFamily="2" charset="0"/>
                </a:endParaRPr>
              </a:p>
              <a:p>
                <a:r>
                  <a:rPr lang="en-US" b="0" dirty="0">
                    <a:effectLst/>
                    <a:latin typeface="Roboto" panose="02000000000000000000" pitchFamily="2" charset="0"/>
                  </a:rPr>
                  <a:t>If the direction of oscillations is diagonal, then the state of the photons is: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980E57-BE50-AFA0-4248-B8D6D10D9F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57507" y="1032691"/>
                <a:ext cx="6682087" cy="2716492"/>
              </a:xfrm>
              <a:blipFill>
                <a:blip r:embed="rId2"/>
                <a:stretch>
                  <a:fillRect l="-759" t="-4651" r="-24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 descr="Antenna Polarization Explained | Vertical, Horizontal, Multi-Polarized">
            <a:extLst>
              <a:ext uri="{FF2B5EF4-FFF2-40B4-BE49-F238E27FC236}">
                <a16:creationId xmlns:a16="http://schemas.microsoft.com/office/drawing/2014/main" id="{E172A9C0-8A21-444D-49BE-8C612283FB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7101" y="816610"/>
            <a:ext cx="5037392" cy="2900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D9700F0-A6F7-0080-5508-A0C43A8A98E8}"/>
              </a:ext>
            </a:extLst>
          </p:cNvPr>
          <p:cNvCxnSpPr>
            <a:cxnSpLocks/>
          </p:cNvCxnSpPr>
          <p:nvPr/>
        </p:nvCxnSpPr>
        <p:spPr>
          <a:xfrm>
            <a:off x="8881584" y="5774229"/>
            <a:ext cx="2120712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7DDCE0E-DD58-7BC6-7778-FF603716D1AF}"/>
              </a:ext>
            </a:extLst>
          </p:cNvPr>
          <p:cNvCxnSpPr>
            <a:cxnSpLocks/>
          </p:cNvCxnSpPr>
          <p:nvPr/>
        </p:nvCxnSpPr>
        <p:spPr>
          <a:xfrm flipV="1">
            <a:off x="8881584" y="3864499"/>
            <a:ext cx="46894" cy="190973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FD30C49-7CD6-9783-28C8-5645A723BE90}"/>
              </a:ext>
            </a:extLst>
          </p:cNvPr>
          <p:cNvCxnSpPr>
            <a:cxnSpLocks/>
          </p:cNvCxnSpPr>
          <p:nvPr/>
        </p:nvCxnSpPr>
        <p:spPr>
          <a:xfrm flipV="1">
            <a:off x="8881584" y="4326421"/>
            <a:ext cx="1752002" cy="1498887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D663A46-2CB9-AEF1-FB80-24F0BA9F56E0}"/>
                  </a:ext>
                </a:extLst>
              </p:cNvPr>
              <p:cNvSpPr txBox="1"/>
              <p:nvPr/>
            </p:nvSpPr>
            <p:spPr>
              <a:xfrm>
                <a:off x="10132957" y="5404897"/>
                <a:ext cx="12501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D663A46-2CB9-AEF1-FB80-24F0BA9F56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2957" y="5404897"/>
                <a:ext cx="125014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CC8E8B8-DC95-7CEB-F7D1-60EAA3421438}"/>
                  </a:ext>
                </a:extLst>
              </p:cNvPr>
              <p:cNvSpPr txBox="1"/>
              <p:nvPr/>
            </p:nvSpPr>
            <p:spPr>
              <a:xfrm>
                <a:off x="9915092" y="3749183"/>
                <a:ext cx="2276908" cy="5003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CC8E8B8-DC95-7CEB-F7D1-60EAA34214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5092" y="3749183"/>
                <a:ext cx="2276908" cy="500393"/>
              </a:xfrm>
              <a:prstGeom prst="rect">
                <a:avLst/>
              </a:prstGeom>
              <a:blipFill>
                <a:blip r:embed="rId5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E9D7C50-CBB1-0E95-68B1-48312D4B9392}"/>
                  </a:ext>
                </a:extLst>
              </p:cNvPr>
              <p:cNvSpPr txBox="1"/>
              <p:nvPr/>
            </p:nvSpPr>
            <p:spPr>
              <a:xfrm>
                <a:off x="7678330" y="4164886"/>
                <a:ext cx="12501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↑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E9D7C50-CBB1-0E95-68B1-48312D4B93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8330" y="4164886"/>
                <a:ext cx="125014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EF6CE6AE-BF5C-B847-974D-E09B8ECEB479}"/>
              </a:ext>
            </a:extLst>
          </p:cNvPr>
          <p:cNvSpPr txBox="1"/>
          <p:nvPr/>
        </p:nvSpPr>
        <p:spPr>
          <a:xfrm>
            <a:off x="653748" y="5745605"/>
            <a:ext cx="16834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horizontally polarized filter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E48CF84-9F35-6393-FBBE-5DE70FE2B45A}"/>
              </a:ext>
            </a:extLst>
          </p:cNvPr>
          <p:cNvGrpSpPr/>
          <p:nvPr/>
        </p:nvGrpSpPr>
        <p:grpSpPr>
          <a:xfrm>
            <a:off x="591625" y="3864499"/>
            <a:ext cx="1933577" cy="1878799"/>
            <a:chOff x="9827418" y="2357439"/>
            <a:chExt cx="1933577" cy="1878799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1908942-BD6A-BABB-12C9-0D1B05C44C7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787057" y="2671760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855DF54-9169-1278-38D2-CC3EFE3776C2}"/>
                </a:ext>
              </a:extLst>
            </p:cNvPr>
            <p:cNvCxnSpPr/>
            <p:nvPr/>
          </p:nvCxnSpPr>
          <p:spPr>
            <a:xfrm rot="5400000">
              <a:off x="10791825" y="2824160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E5CE380-F52C-028A-5716-6E48F4BF8E29}"/>
                </a:ext>
              </a:extLst>
            </p:cNvPr>
            <p:cNvCxnSpPr/>
            <p:nvPr/>
          </p:nvCxnSpPr>
          <p:spPr>
            <a:xfrm rot="5400000">
              <a:off x="10791825" y="2981328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D648C0E-BD5B-DB04-6519-9BADC19EE5DF}"/>
                </a:ext>
              </a:extLst>
            </p:cNvPr>
            <p:cNvCxnSpPr/>
            <p:nvPr/>
          </p:nvCxnSpPr>
          <p:spPr>
            <a:xfrm rot="5400000">
              <a:off x="10796593" y="3133728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99B9D40-2725-5924-0BE9-E50EDA7903B5}"/>
                </a:ext>
              </a:extLst>
            </p:cNvPr>
            <p:cNvCxnSpPr/>
            <p:nvPr/>
          </p:nvCxnSpPr>
          <p:spPr>
            <a:xfrm rot="5400000">
              <a:off x="10777537" y="2066913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FB5F84A-87FE-126C-86CC-54F025D23643}"/>
                </a:ext>
              </a:extLst>
            </p:cNvPr>
            <p:cNvCxnSpPr/>
            <p:nvPr/>
          </p:nvCxnSpPr>
          <p:spPr>
            <a:xfrm rot="5400000">
              <a:off x="10782305" y="2219313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A64E885-16C4-CA59-3D2B-490D0E500C88}"/>
                </a:ext>
              </a:extLst>
            </p:cNvPr>
            <p:cNvCxnSpPr/>
            <p:nvPr/>
          </p:nvCxnSpPr>
          <p:spPr>
            <a:xfrm rot="5400000">
              <a:off x="10782305" y="2376481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973DEF4-7314-64A8-9ADB-FEBC54BFA17A}"/>
                </a:ext>
              </a:extLst>
            </p:cNvPr>
            <p:cNvCxnSpPr/>
            <p:nvPr/>
          </p:nvCxnSpPr>
          <p:spPr>
            <a:xfrm rot="5400000">
              <a:off x="10787073" y="2528881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F8733A7-9FE7-386D-6D32-F1E9A65E005B}"/>
                </a:ext>
              </a:extLst>
            </p:cNvPr>
            <p:cNvSpPr/>
            <p:nvPr/>
          </p:nvSpPr>
          <p:spPr>
            <a:xfrm rot="5400000">
              <a:off x="9861949" y="2337192"/>
              <a:ext cx="1878799" cy="191929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785D89E-01F7-487D-FD3E-A6705E46FC0B}"/>
                </a:ext>
              </a:extLst>
            </p:cNvPr>
            <p:cNvCxnSpPr/>
            <p:nvPr/>
          </p:nvCxnSpPr>
          <p:spPr>
            <a:xfrm rot="5400000">
              <a:off x="10791825" y="1752590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A659D80-B5E2-73F1-155E-DCF9D59E55A0}"/>
                </a:ext>
              </a:extLst>
            </p:cNvPr>
            <p:cNvCxnSpPr/>
            <p:nvPr/>
          </p:nvCxnSpPr>
          <p:spPr>
            <a:xfrm rot="5400000">
              <a:off x="10796593" y="1904990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F8DDAA6-AAD6-2E51-0B40-3A51C27C89FA}"/>
                </a:ext>
              </a:extLst>
            </p:cNvPr>
            <p:cNvCxnSpPr/>
            <p:nvPr/>
          </p:nvCxnSpPr>
          <p:spPr>
            <a:xfrm rot="5400000">
              <a:off x="10796593" y="1547555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4CF91965-E096-F029-387E-9104726CC9F4}"/>
              </a:ext>
            </a:extLst>
          </p:cNvPr>
          <p:cNvSpPr txBox="1"/>
          <p:nvPr/>
        </p:nvSpPr>
        <p:spPr>
          <a:xfrm>
            <a:off x="3310417" y="5809717"/>
            <a:ext cx="16448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vertically polarized filter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78BC092-DCE2-FA5E-3059-3706E9644277}"/>
                  </a:ext>
                </a:extLst>
              </p:cNvPr>
              <p:cNvSpPr txBox="1"/>
              <p:nvPr/>
            </p:nvSpPr>
            <p:spPr>
              <a:xfrm>
                <a:off x="5486507" y="5825819"/>
                <a:ext cx="174015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45°</m:t>
                    </m:r>
                  </m:oMath>
                </a14:m>
                <a:r>
                  <a:rPr lang="en-US" dirty="0"/>
                  <a:t>polarizing filter</a:t>
                </a: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78BC092-DCE2-FA5E-3059-3706E96442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507" y="5825819"/>
                <a:ext cx="1740159" cy="646331"/>
              </a:xfrm>
              <a:prstGeom prst="rect">
                <a:avLst/>
              </a:prstGeom>
              <a:blipFill>
                <a:blip r:embed="rId7"/>
                <a:stretch>
                  <a:fillRect l="-2920" t="-3846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5C71238D-7AFA-3F9D-186B-BDF612CB98E9}"/>
              </a:ext>
            </a:extLst>
          </p:cNvPr>
          <p:cNvGrpSpPr/>
          <p:nvPr/>
        </p:nvGrpSpPr>
        <p:grpSpPr>
          <a:xfrm>
            <a:off x="3121749" y="3859633"/>
            <a:ext cx="1859808" cy="1933578"/>
            <a:chOff x="9901246" y="187887"/>
            <a:chExt cx="1859808" cy="1933578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8A54AEA-EB85-F79E-1B27-515AC7956E76}"/>
                </a:ext>
              </a:extLst>
            </p:cNvPr>
            <p:cNvCxnSpPr>
              <a:cxnSpLocks/>
            </p:cNvCxnSpPr>
            <p:nvPr/>
          </p:nvCxnSpPr>
          <p:spPr>
            <a:xfrm>
              <a:off x="11146694" y="211708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ACA18E1-5BC5-4CA9-8209-E3250F62DB2C}"/>
                </a:ext>
              </a:extLst>
            </p:cNvPr>
            <p:cNvCxnSpPr/>
            <p:nvPr/>
          </p:nvCxnSpPr>
          <p:spPr>
            <a:xfrm>
              <a:off x="11299094" y="206940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17615BB-8F6A-68A4-BC68-A28E55E80B86}"/>
                </a:ext>
              </a:extLst>
            </p:cNvPr>
            <p:cNvCxnSpPr/>
            <p:nvPr/>
          </p:nvCxnSpPr>
          <p:spPr>
            <a:xfrm>
              <a:off x="11456262" y="206940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78A4D7A-26B2-2399-C038-42375859D593}"/>
                </a:ext>
              </a:extLst>
            </p:cNvPr>
            <p:cNvCxnSpPr/>
            <p:nvPr/>
          </p:nvCxnSpPr>
          <p:spPr>
            <a:xfrm>
              <a:off x="11608662" y="202172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495A478-D315-DAE0-A6B4-9000D119061E}"/>
                </a:ext>
              </a:extLst>
            </p:cNvPr>
            <p:cNvCxnSpPr/>
            <p:nvPr/>
          </p:nvCxnSpPr>
          <p:spPr>
            <a:xfrm>
              <a:off x="10541847" y="221228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650FC0D8-D583-E111-7471-3D2210E80F36}"/>
                </a:ext>
              </a:extLst>
            </p:cNvPr>
            <p:cNvCxnSpPr/>
            <p:nvPr/>
          </p:nvCxnSpPr>
          <p:spPr>
            <a:xfrm>
              <a:off x="10694247" y="216460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64AFC57-355E-0F66-8581-0BAD5DD42294}"/>
                </a:ext>
              </a:extLst>
            </p:cNvPr>
            <p:cNvCxnSpPr/>
            <p:nvPr/>
          </p:nvCxnSpPr>
          <p:spPr>
            <a:xfrm>
              <a:off x="10851415" y="216460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6F55C8D-1E26-FF1D-C844-7E950CEB8542}"/>
                </a:ext>
              </a:extLst>
            </p:cNvPr>
            <p:cNvCxnSpPr/>
            <p:nvPr/>
          </p:nvCxnSpPr>
          <p:spPr>
            <a:xfrm>
              <a:off x="11003815" y="211692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831E626-CEDF-69D7-FE65-D119876A6F8F}"/>
                </a:ext>
              </a:extLst>
            </p:cNvPr>
            <p:cNvSpPr/>
            <p:nvPr/>
          </p:nvSpPr>
          <p:spPr>
            <a:xfrm>
              <a:off x="9901246" y="187887"/>
              <a:ext cx="1859808" cy="191929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AC8690B-4B18-D32A-28EE-5B682A9CE499}"/>
                </a:ext>
              </a:extLst>
            </p:cNvPr>
            <p:cNvCxnSpPr/>
            <p:nvPr/>
          </p:nvCxnSpPr>
          <p:spPr>
            <a:xfrm>
              <a:off x="10227524" y="206940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8668F28-C571-168D-67AA-A3F64FB990CA}"/>
                </a:ext>
              </a:extLst>
            </p:cNvPr>
            <p:cNvCxnSpPr/>
            <p:nvPr/>
          </p:nvCxnSpPr>
          <p:spPr>
            <a:xfrm>
              <a:off x="10379924" y="202172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218EE6B4-D75E-FC89-B2CC-6DD2B9C6E025}"/>
                </a:ext>
              </a:extLst>
            </p:cNvPr>
            <p:cNvCxnSpPr/>
            <p:nvPr/>
          </p:nvCxnSpPr>
          <p:spPr>
            <a:xfrm>
              <a:off x="10070142" y="187887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BEF70FA-6638-8E57-0EC9-AE86A2AB81BB}"/>
              </a:ext>
            </a:extLst>
          </p:cNvPr>
          <p:cNvGrpSpPr/>
          <p:nvPr/>
        </p:nvGrpSpPr>
        <p:grpSpPr>
          <a:xfrm>
            <a:off x="5365257" y="3829103"/>
            <a:ext cx="1856039" cy="1987348"/>
            <a:chOff x="9857702" y="2959970"/>
            <a:chExt cx="1856039" cy="1987348"/>
          </a:xfrm>
        </p:grpSpPr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EE358600-4F1E-3821-EBC8-41AD3B19DB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1246" y="2987752"/>
              <a:ext cx="1785976" cy="1919293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F786E0E-4991-FB17-CE39-77F0BF289478}"/>
                </a:ext>
              </a:extLst>
            </p:cNvPr>
            <p:cNvSpPr/>
            <p:nvPr/>
          </p:nvSpPr>
          <p:spPr>
            <a:xfrm>
              <a:off x="9901246" y="2987752"/>
              <a:ext cx="1788593" cy="191929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E54AC739-2D7F-E251-0C96-D6BE966767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33515" y="3316873"/>
              <a:ext cx="1555016" cy="1630445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682B9032-2BB7-2CBB-5007-C1AB54979D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38315" y="3650484"/>
              <a:ext cx="1228114" cy="1256561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27B24247-E8CB-C410-FFEE-02A46FB5CD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20462" y="3935214"/>
              <a:ext cx="967414" cy="971831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1FB1C8C7-0F3D-88FA-5739-B13857F6DB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961819" y="4186238"/>
              <a:ext cx="739644" cy="760758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6B3AB6DB-FD8B-9143-06C1-497741BCE3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57586" y="4428103"/>
              <a:ext cx="456155" cy="512481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6CFDCDDB-9317-98E7-4561-E3C43EECF4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510002" y="4707013"/>
              <a:ext cx="165086" cy="185939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49B9B02A-8C07-4E4B-0D4C-E12FBA5DE0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82942" y="3002809"/>
              <a:ext cx="1228114" cy="1256561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CBDEC021-7B5C-C638-9E7D-09D79CB7B2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70660" y="2959970"/>
              <a:ext cx="967414" cy="971831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15E02D3-422C-31EC-273B-6BB796710F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57702" y="2968885"/>
              <a:ext cx="739644" cy="760758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E741E8A7-E8C5-E701-3E3A-E166229E22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68043" y="2982310"/>
              <a:ext cx="456155" cy="512481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C0F05F17-1C83-67C8-5A7E-1CDA7775AF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5029" y="3002028"/>
              <a:ext cx="165086" cy="185939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140E0123-C810-1A76-3556-61B9873E5E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72071" y="2970387"/>
              <a:ext cx="1555016" cy="1630445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32908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28399-3803-16AA-EA41-B3B48487D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Light Polarization Experiment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E094E3-1AB2-5846-D14D-C1F59D237408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57508" y="1002891"/>
                <a:ext cx="6716372" cy="4822418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dirty="0"/>
                  <a:t>Experiment (a)</a:t>
                </a:r>
              </a:p>
              <a:p>
                <a:pPr lvl="1"/>
                <a:r>
                  <a:rPr lang="en-US" dirty="0"/>
                  <a:t>Incoming photons can be in arbitrary state, but when they come out of the horizontal polarizer, their state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|0⟩</m:t>
                    </m:r>
                  </m:oMath>
                </a14:m>
                <a:r>
                  <a:rPr lang="en-US" dirty="0"/>
                  <a:t>. Rest are absorbed as heat.</a:t>
                </a:r>
              </a:p>
              <a:p>
                <a:pPr lvl="1"/>
                <a:r>
                  <a:rPr lang="en-US" dirty="0"/>
                  <a:t>After the second horizontal polarizer, their state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|0⟩</m:t>
                    </m:r>
                  </m:oMath>
                </a14:m>
                <a:r>
                  <a:rPr lang="en-US" dirty="0"/>
                  <a:t> with probability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Experiment (b)</a:t>
                </a:r>
              </a:p>
              <a:p>
                <a:pPr lvl="1"/>
                <a:r>
                  <a:rPr lang="en-US" dirty="0"/>
                  <a:t>After the first horizontal polarizer, the state of photons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|0⟩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After the second vertical polarizer, the state of photons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|1⟩</m:t>
                    </m:r>
                  </m:oMath>
                </a14:m>
                <a:r>
                  <a:rPr lang="en-US" dirty="0"/>
                  <a:t> with probability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Experiment (c)</a:t>
                </a:r>
              </a:p>
              <a:p>
                <a:pPr lvl="1"/>
                <a:r>
                  <a:rPr lang="en-US" dirty="0"/>
                  <a:t>After the first horizontal polarizer, the state of photons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|0⟩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After the second diagonal polarizer, the state of photons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with probability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  <m:d>
                                  <m:dPr>
                                    <m:begChr m:val="⟨"/>
                                    <m:endChr m:val="|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  <m:d>
                                  <m:dPr>
                                    <m:begChr m:val="⟨"/>
                                    <m:endChr m:val="|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.|0⟩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After the third vertical polarizer, the state of photons =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with probability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⟨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.(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d>
                          <m:dPr>
                            <m:begChr m:val="|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d>
                          <m:dPr>
                            <m:begChr m:val="|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)|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E094E3-1AB2-5846-D14D-C1F59D2374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57508" y="1002891"/>
                <a:ext cx="6716372" cy="4822418"/>
              </a:xfrm>
              <a:blipFill>
                <a:blip r:embed="rId2"/>
                <a:stretch>
                  <a:fillRect l="-189" t="-2105" r="-11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AD2A9E2C-4B65-5D00-FB60-56A0128896BE}"/>
              </a:ext>
            </a:extLst>
          </p:cNvPr>
          <p:cNvGrpSpPr/>
          <p:nvPr/>
        </p:nvGrpSpPr>
        <p:grpSpPr>
          <a:xfrm>
            <a:off x="8339108" y="1019866"/>
            <a:ext cx="691485" cy="596111"/>
            <a:chOff x="9827418" y="2357439"/>
            <a:chExt cx="1933577" cy="1878799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307024A-BABD-265C-1371-814E57051F1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787057" y="2671760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7852A7F-41F9-704B-A139-68FAE0A67D76}"/>
                </a:ext>
              </a:extLst>
            </p:cNvPr>
            <p:cNvCxnSpPr/>
            <p:nvPr/>
          </p:nvCxnSpPr>
          <p:spPr>
            <a:xfrm rot="5400000">
              <a:off x="10791825" y="2824160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128E47C-2092-47F4-B640-686BDDC9BC81}"/>
                </a:ext>
              </a:extLst>
            </p:cNvPr>
            <p:cNvCxnSpPr/>
            <p:nvPr/>
          </p:nvCxnSpPr>
          <p:spPr>
            <a:xfrm rot="5400000">
              <a:off x="10791825" y="2981328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F5683DB-C852-9E7B-5B7A-B8704D2C3E22}"/>
                </a:ext>
              </a:extLst>
            </p:cNvPr>
            <p:cNvCxnSpPr/>
            <p:nvPr/>
          </p:nvCxnSpPr>
          <p:spPr>
            <a:xfrm rot="5400000">
              <a:off x="10796593" y="3133728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B836060-D455-1E7D-597B-C0AB76400E77}"/>
                </a:ext>
              </a:extLst>
            </p:cNvPr>
            <p:cNvCxnSpPr/>
            <p:nvPr/>
          </p:nvCxnSpPr>
          <p:spPr>
            <a:xfrm rot="5400000">
              <a:off x="10777537" y="2066913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5A3B3B0-5AF2-6AA0-09C3-A45073FBB59E}"/>
                </a:ext>
              </a:extLst>
            </p:cNvPr>
            <p:cNvCxnSpPr/>
            <p:nvPr/>
          </p:nvCxnSpPr>
          <p:spPr>
            <a:xfrm rot="5400000">
              <a:off x="10782305" y="2219313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9124A8E-FC02-6240-3802-E8D47363AC5A}"/>
                </a:ext>
              </a:extLst>
            </p:cNvPr>
            <p:cNvCxnSpPr/>
            <p:nvPr/>
          </p:nvCxnSpPr>
          <p:spPr>
            <a:xfrm rot="5400000">
              <a:off x="10782305" y="2376481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A763F9F-624E-25B6-7AA8-2C513B44DC8A}"/>
                </a:ext>
              </a:extLst>
            </p:cNvPr>
            <p:cNvCxnSpPr/>
            <p:nvPr/>
          </p:nvCxnSpPr>
          <p:spPr>
            <a:xfrm rot="5400000">
              <a:off x="10787073" y="2528881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BA63B21-0BD8-970A-EC9D-D99EDE39098E}"/>
                </a:ext>
              </a:extLst>
            </p:cNvPr>
            <p:cNvSpPr/>
            <p:nvPr/>
          </p:nvSpPr>
          <p:spPr>
            <a:xfrm rot="5400000">
              <a:off x="9861949" y="2337192"/>
              <a:ext cx="1878799" cy="191929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336CB8C-14D9-1D35-060C-1D0D5C38C66D}"/>
                </a:ext>
              </a:extLst>
            </p:cNvPr>
            <p:cNvCxnSpPr/>
            <p:nvPr/>
          </p:nvCxnSpPr>
          <p:spPr>
            <a:xfrm rot="5400000">
              <a:off x="10791825" y="1752590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23AF5C1-8E21-3270-E2AC-9F4D533B6585}"/>
                </a:ext>
              </a:extLst>
            </p:cNvPr>
            <p:cNvCxnSpPr/>
            <p:nvPr/>
          </p:nvCxnSpPr>
          <p:spPr>
            <a:xfrm rot="5400000">
              <a:off x="10796593" y="1904990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6CAB7EF-751F-442D-BCBF-C00721DA1B0D}"/>
                </a:ext>
              </a:extLst>
            </p:cNvPr>
            <p:cNvCxnSpPr/>
            <p:nvPr/>
          </p:nvCxnSpPr>
          <p:spPr>
            <a:xfrm rot="5400000">
              <a:off x="10796593" y="1547555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E91A4FA-A4F5-7086-ED24-8A50ED114BB5}"/>
              </a:ext>
            </a:extLst>
          </p:cNvPr>
          <p:cNvCxnSpPr>
            <a:cxnSpLocks/>
            <a:endCxn id="13" idx="2"/>
          </p:cNvCxnSpPr>
          <p:nvPr/>
        </p:nvCxnSpPr>
        <p:spPr>
          <a:xfrm>
            <a:off x="7423011" y="1317922"/>
            <a:ext cx="921205" cy="0"/>
          </a:xfrm>
          <a:prstGeom prst="line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72BBFB8-62A4-CF3B-E6C1-2F525C1DDAA9}"/>
              </a:ext>
            </a:extLst>
          </p:cNvPr>
          <p:cNvGrpSpPr/>
          <p:nvPr/>
        </p:nvGrpSpPr>
        <p:grpSpPr>
          <a:xfrm>
            <a:off x="9894595" y="1017640"/>
            <a:ext cx="691485" cy="596111"/>
            <a:chOff x="9827418" y="2357439"/>
            <a:chExt cx="1933577" cy="1878799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0B761EB-ACC7-64EA-91F0-D873320E209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787057" y="2671760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C037DDA-F9EE-4C8C-1965-998A48151651}"/>
                </a:ext>
              </a:extLst>
            </p:cNvPr>
            <p:cNvCxnSpPr/>
            <p:nvPr/>
          </p:nvCxnSpPr>
          <p:spPr>
            <a:xfrm rot="5400000">
              <a:off x="10791825" y="2824160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F9812FC-2A6B-0677-72D3-6649690B1D95}"/>
                </a:ext>
              </a:extLst>
            </p:cNvPr>
            <p:cNvCxnSpPr/>
            <p:nvPr/>
          </p:nvCxnSpPr>
          <p:spPr>
            <a:xfrm rot="5400000">
              <a:off x="10791825" y="2981328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754B72F-53BE-A920-1888-65B864B2AC69}"/>
                </a:ext>
              </a:extLst>
            </p:cNvPr>
            <p:cNvCxnSpPr/>
            <p:nvPr/>
          </p:nvCxnSpPr>
          <p:spPr>
            <a:xfrm rot="5400000">
              <a:off x="10796593" y="3133728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BFB2DCC-43EA-E0D7-E2D1-9668FC2152F6}"/>
                </a:ext>
              </a:extLst>
            </p:cNvPr>
            <p:cNvCxnSpPr/>
            <p:nvPr/>
          </p:nvCxnSpPr>
          <p:spPr>
            <a:xfrm rot="5400000">
              <a:off x="10777537" y="2066913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3D4130F-1E56-923F-AA3C-8A0CAFCFEFC9}"/>
                </a:ext>
              </a:extLst>
            </p:cNvPr>
            <p:cNvCxnSpPr/>
            <p:nvPr/>
          </p:nvCxnSpPr>
          <p:spPr>
            <a:xfrm rot="5400000">
              <a:off x="10782305" y="2219313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DE02F9A-AA7F-045C-E504-52165250FA12}"/>
                </a:ext>
              </a:extLst>
            </p:cNvPr>
            <p:cNvCxnSpPr/>
            <p:nvPr/>
          </p:nvCxnSpPr>
          <p:spPr>
            <a:xfrm rot="5400000">
              <a:off x="10782305" y="2376481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F07FCC1-4094-39F9-3A75-D3B97BECD73E}"/>
                </a:ext>
              </a:extLst>
            </p:cNvPr>
            <p:cNvCxnSpPr/>
            <p:nvPr/>
          </p:nvCxnSpPr>
          <p:spPr>
            <a:xfrm rot="5400000">
              <a:off x="10787073" y="2528881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6956B71-4DCB-86D9-9531-D0D7F0470E40}"/>
                </a:ext>
              </a:extLst>
            </p:cNvPr>
            <p:cNvSpPr/>
            <p:nvPr/>
          </p:nvSpPr>
          <p:spPr>
            <a:xfrm rot="5400000">
              <a:off x="9861949" y="2337192"/>
              <a:ext cx="1878799" cy="191929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E3701A4-276F-2954-2D30-DCCA6C4915A6}"/>
                </a:ext>
              </a:extLst>
            </p:cNvPr>
            <p:cNvCxnSpPr/>
            <p:nvPr/>
          </p:nvCxnSpPr>
          <p:spPr>
            <a:xfrm rot="5400000">
              <a:off x="10791825" y="1752590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5ED2520-7484-DCED-C1D5-AB8452BEAFAC}"/>
                </a:ext>
              </a:extLst>
            </p:cNvPr>
            <p:cNvCxnSpPr/>
            <p:nvPr/>
          </p:nvCxnSpPr>
          <p:spPr>
            <a:xfrm rot="5400000">
              <a:off x="10796593" y="1904990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161840E-4DCC-3AC8-C29B-4C8C058AD1D6}"/>
                </a:ext>
              </a:extLst>
            </p:cNvPr>
            <p:cNvCxnSpPr/>
            <p:nvPr/>
          </p:nvCxnSpPr>
          <p:spPr>
            <a:xfrm rot="5400000">
              <a:off x="10796593" y="1547555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C83DC49-9B1A-3F02-B12C-C231B9FF469A}"/>
              </a:ext>
            </a:extLst>
          </p:cNvPr>
          <p:cNvCxnSpPr>
            <a:cxnSpLocks/>
            <a:stCxn id="13" idx="0"/>
            <a:endCxn id="30" idx="2"/>
          </p:cNvCxnSpPr>
          <p:nvPr/>
        </p:nvCxnSpPr>
        <p:spPr>
          <a:xfrm flipV="1">
            <a:off x="9030593" y="1315696"/>
            <a:ext cx="869110" cy="2226"/>
          </a:xfrm>
          <a:prstGeom prst="line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FE1B8A9-1433-1597-F89F-49949714EE51}"/>
              </a:ext>
            </a:extLst>
          </p:cNvPr>
          <p:cNvCxnSpPr>
            <a:cxnSpLocks/>
            <a:stCxn id="30" idx="0"/>
          </p:cNvCxnSpPr>
          <p:nvPr/>
        </p:nvCxnSpPr>
        <p:spPr>
          <a:xfrm flipV="1">
            <a:off x="10586080" y="1315695"/>
            <a:ext cx="1202454" cy="1"/>
          </a:xfrm>
          <a:prstGeom prst="line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6" name="Group 55">
            <a:extLst>
              <a:ext uri="{FF2B5EF4-FFF2-40B4-BE49-F238E27FC236}">
                <a16:creationId xmlns:a16="http://schemas.microsoft.com/office/drawing/2014/main" id="{CDF50B80-F162-9259-20FB-934F8E3039D7}"/>
              </a:ext>
            </a:extLst>
          </p:cNvPr>
          <p:cNvGrpSpPr/>
          <p:nvPr/>
        </p:nvGrpSpPr>
        <p:grpSpPr>
          <a:xfrm>
            <a:off x="8345923" y="2841652"/>
            <a:ext cx="691485" cy="596111"/>
            <a:chOff x="9827418" y="2357439"/>
            <a:chExt cx="1933577" cy="1878799"/>
          </a:xfrm>
        </p:grpSpPr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E7E6913E-7C03-0378-FBCE-26EBE577B22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787057" y="2671760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9E4790AC-4293-16C2-7602-948997EF1C6F}"/>
                </a:ext>
              </a:extLst>
            </p:cNvPr>
            <p:cNvCxnSpPr/>
            <p:nvPr/>
          </p:nvCxnSpPr>
          <p:spPr>
            <a:xfrm rot="5400000">
              <a:off x="10791825" y="2824160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9B55EDF2-BEA7-8D88-4F23-2944EEFCFD3A}"/>
                </a:ext>
              </a:extLst>
            </p:cNvPr>
            <p:cNvCxnSpPr/>
            <p:nvPr/>
          </p:nvCxnSpPr>
          <p:spPr>
            <a:xfrm rot="5400000">
              <a:off x="10791825" y="2981328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6209C7C6-EE49-0671-0525-DE3D07559AAF}"/>
                </a:ext>
              </a:extLst>
            </p:cNvPr>
            <p:cNvCxnSpPr/>
            <p:nvPr/>
          </p:nvCxnSpPr>
          <p:spPr>
            <a:xfrm rot="5400000">
              <a:off x="10796593" y="3133728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488FDDC0-A6E0-9108-899F-A72EC6E5B186}"/>
                </a:ext>
              </a:extLst>
            </p:cNvPr>
            <p:cNvCxnSpPr/>
            <p:nvPr/>
          </p:nvCxnSpPr>
          <p:spPr>
            <a:xfrm rot="5400000">
              <a:off x="10777537" y="2066913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0E03E151-DCBD-964B-DB77-E62F1FA17AAA}"/>
                </a:ext>
              </a:extLst>
            </p:cNvPr>
            <p:cNvCxnSpPr/>
            <p:nvPr/>
          </p:nvCxnSpPr>
          <p:spPr>
            <a:xfrm rot="5400000">
              <a:off x="10782305" y="2219313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EB87CE26-EC7C-9D8B-6ACA-B84D3318E3C8}"/>
                </a:ext>
              </a:extLst>
            </p:cNvPr>
            <p:cNvCxnSpPr/>
            <p:nvPr/>
          </p:nvCxnSpPr>
          <p:spPr>
            <a:xfrm rot="5400000">
              <a:off x="10782305" y="2376481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B1BBD5E1-A4A5-A695-0B41-DD0CB7D08150}"/>
                </a:ext>
              </a:extLst>
            </p:cNvPr>
            <p:cNvCxnSpPr/>
            <p:nvPr/>
          </p:nvCxnSpPr>
          <p:spPr>
            <a:xfrm rot="5400000">
              <a:off x="10787073" y="2528881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4E8B4EDA-9FD2-84EC-9D48-24B56ADF1DF1}"/>
                </a:ext>
              </a:extLst>
            </p:cNvPr>
            <p:cNvSpPr/>
            <p:nvPr/>
          </p:nvSpPr>
          <p:spPr>
            <a:xfrm rot="5400000">
              <a:off x="9861949" y="2337192"/>
              <a:ext cx="1878799" cy="191929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510CEE90-6A71-3DEB-E787-497A2B3F9FD8}"/>
                </a:ext>
              </a:extLst>
            </p:cNvPr>
            <p:cNvCxnSpPr/>
            <p:nvPr/>
          </p:nvCxnSpPr>
          <p:spPr>
            <a:xfrm rot="5400000">
              <a:off x="10791825" y="1752590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A5FA2DA-C893-9EDE-E481-07FB7C40E569}"/>
                </a:ext>
              </a:extLst>
            </p:cNvPr>
            <p:cNvCxnSpPr/>
            <p:nvPr/>
          </p:nvCxnSpPr>
          <p:spPr>
            <a:xfrm rot="5400000">
              <a:off x="10796593" y="1904990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C4C263C3-20DE-7292-8FA3-EE12A5FBD662}"/>
                </a:ext>
              </a:extLst>
            </p:cNvPr>
            <p:cNvCxnSpPr/>
            <p:nvPr/>
          </p:nvCxnSpPr>
          <p:spPr>
            <a:xfrm rot="5400000">
              <a:off x="10796593" y="1547555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4A56E939-8D1A-B743-DBA5-C625DCF98F2B}"/>
              </a:ext>
            </a:extLst>
          </p:cNvPr>
          <p:cNvCxnSpPr>
            <a:cxnSpLocks/>
            <a:endCxn id="65" idx="2"/>
          </p:cNvCxnSpPr>
          <p:nvPr/>
        </p:nvCxnSpPr>
        <p:spPr>
          <a:xfrm flipV="1">
            <a:off x="7455112" y="3139708"/>
            <a:ext cx="895919" cy="9172"/>
          </a:xfrm>
          <a:prstGeom prst="line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210CD0B2-81E6-A98C-65D2-B78B61453B14}"/>
              </a:ext>
            </a:extLst>
          </p:cNvPr>
          <p:cNvCxnSpPr>
            <a:cxnSpLocks/>
            <a:stCxn id="65" idx="0"/>
            <a:endCxn id="94" idx="1"/>
          </p:cNvCxnSpPr>
          <p:nvPr/>
        </p:nvCxnSpPr>
        <p:spPr>
          <a:xfrm>
            <a:off x="9037408" y="3139708"/>
            <a:ext cx="882473" cy="9172"/>
          </a:xfrm>
          <a:prstGeom prst="line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778B7EE4-8684-1AB4-8819-79C8548305B0}"/>
              </a:ext>
            </a:extLst>
          </p:cNvPr>
          <p:cNvCxnSpPr>
            <a:cxnSpLocks/>
            <a:stCxn id="94" idx="3"/>
          </p:cNvCxnSpPr>
          <p:nvPr/>
        </p:nvCxnSpPr>
        <p:spPr>
          <a:xfrm flipV="1">
            <a:off x="10613073" y="3140893"/>
            <a:ext cx="1195639" cy="7987"/>
          </a:xfrm>
          <a:prstGeom prst="line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5" name="Group 84">
            <a:extLst>
              <a:ext uri="{FF2B5EF4-FFF2-40B4-BE49-F238E27FC236}">
                <a16:creationId xmlns:a16="http://schemas.microsoft.com/office/drawing/2014/main" id="{2E2CC2C3-810D-19CA-F2E2-186D1AC426A8}"/>
              </a:ext>
            </a:extLst>
          </p:cNvPr>
          <p:cNvGrpSpPr/>
          <p:nvPr/>
        </p:nvGrpSpPr>
        <p:grpSpPr>
          <a:xfrm>
            <a:off x="9919881" y="2854144"/>
            <a:ext cx="693192" cy="593859"/>
            <a:chOff x="9901246" y="187887"/>
            <a:chExt cx="1859808" cy="1933578"/>
          </a:xfrm>
        </p:grpSpPr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F0FD0FEC-05D2-18B3-2363-9C46FF11926C}"/>
                </a:ext>
              </a:extLst>
            </p:cNvPr>
            <p:cNvCxnSpPr>
              <a:cxnSpLocks/>
            </p:cNvCxnSpPr>
            <p:nvPr/>
          </p:nvCxnSpPr>
          <p:spPr>
            <a:xfrm>
              <a:off x="11146694" y="211708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5AE0BB4D-AB9B-A949-053E-380FE55F11A6}"/>
                </a:ext>
              </a:extLst>
            </p:cNvPr>
            <p:cNvCxnSpPr/>
            <p:nvPr/>
          </p:nvCxnSpPr>
          <p:spPr>
            <a:xfrm>
              <a:off x="11299094" y="206940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AAE24383-697B-FECB-1670-03B42819DA6F}"/>
                </a:ext>
              </a:extLst>
            </p:cNvPr>
            <p:cNvCxnSpPr/>
            <p:nvPr/>
          </p:nvCxnSpPr>
          <p:spPr>
            <a:xfrm>
              <a:off x="11456262" y="206940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8F9CA914-A172-B18D-9AD6-B7D167CBA9DD}"/>
                </a:ext>
              </a:extLst>
            </p:cNvPr>
            <p:cNvCxnSpPr/>
            <p:nvPr/>
          </p:nvCxnSpPr>
          <p:spPr>
            <a:xfrm>
              <a:off x="11608662" y="202172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A74D3476-264F-DD26-C6E4-B60440B1C8E5}"/>
                </a:ext>
              </a:extLst>
            </p:cNvPr>
            <p:cNvCxnSpPr/>
            <p:nvPr/>
          </p:nvCxnSpPr>
          <p:spPr>
            <a:xfrm>
              <a:off x="10541847" y="221228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7DB830D1-1A16-23FF-B765-70D5924E2E28}"/>
                </a:ext>
              </a:extLst>
            </p:cNvPr>
            <p:cNvCxnSpPr/>
            <p:nvPr/>
          </p:nvCxnSpPr>
          <p:spPr>
            <a:xfrm>
              <a:off x="10694247" y="216460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D18E7C3B-EF87-EB2B-9A00-150DE6087334}"/>
                </a:ext>
              </a:extLst>
            </p:cNvPr>
            <p:cNvCxnSpPr/>
            <p:nvPr/>
          </p:nvCxnSpPr>
          <p:spPr>
            <a:xfrm>
              <a:off x="10851415" y="216460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FA9C255D-7846-BE32-ECD6-ACAA243C446F}"/>
                </a:ext>
              </a:extLst>
            </p:cNvPr>
            <p:cNvCxnSpPr/>
            <p:nvPr/>
          </p:nvCxnSpPr>
          <p:spPr>
            <a:xfrm>
              <a:off x="11003815" y="211692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0C04846B-8EE6-2C5B-4B16-A76384B6EAE2}"/>
                </a:ext>
              </a:extLst>
            </p:cNvPr>
            <p:cNvSpPr/>
            <p:nvPr/>
          </p:nvSpPr>
          <p:spPr>
            <a:xfrm>
              <a:off x="9901246" y="187887"/>
              <a:ext cx="1859808" cy="191929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4B57080A-1238-416B-D520-1E472B30EDDC}"/>
                </a:ext>
              </a:extLst>
            </p:cNvPr>
            <p:cNvCxnSpPr/>
            <p:nvPr/>
          </p:nvCxnSpPr>
          <p:spPr>
            <a:xfrm>
              <a:off x="10227524" y="206940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5191E5B9-CED5-B672-A616-B8A71B798DFC}"/>
                </a:ext>
              </a:extLst>
            </p:cNvPr>
            <p:cNvCxnSpPr/>
            <p:nvPr/>
          </p:nvCxnSpPr>
          <p:spPr>
            <a:xfrm>
              <a:off x="10379924" y="202172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7CD52383-1E26-6935-F59B-FAF543CDAC7B}"/>
                </a:ext>
              </a:extLst>
            </p:cNvPr>
            <p:cNvCxnSpPr/>
            <p:nvPr/>
          </p:nvCxnSpPr>
          <p:spPr>
            <a:xfrm>
              <a:off x="10070142" y="187887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E2B301D7-11AA-D3E5-5F64-1A849E930168}"/>
              </a:ext>
            </a:extLst>
          </p:cNvPr>
          <p:cNvGrpSpPr/>
          <p:nvPr/>
        </p:nvGrpSpPr>
        <p:grpSpPr>
          <a:xfrm>
            <a:off x="7647623" y="4860047"/>
            <a:ext cx="691485" cy="596111"/>
            <a:chOff x="9827418" y="2357439"/>
            <a:chExt cx="1933577" cy="1878799"/>
          </a:xfrm>
        </p:grpSpPr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1FFDE8E0-0820-6847-CF4E-BB931628188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787057" y="2671760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5D1DB2FC-0F8E-2E66-98D6-E962AA652D81}"/>
                </a:ext>
              </a:extLst>
            </p:cNvPr>
            <p:cNvCxnSpPr/>
            <p:nvPr/>
          </p:nvCxnSpPr>
          <p:spPr>
            <a:xfrm rot="5400000">
              <a:off x="10791825" y="2824160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FA3F94C0-8378-31E4-0476-1BA6A5BA94EB}"/>
                </a:ext>
              </a:extLst>
            </p:cNvPr>
            <p:cNvCxnSpPr/>
            <p:nvPr/>
          </p:nvCxnSpPr>
          <p:spPr>
            <a:xfrm rot="5400000">
              <a:off x="10791825" y="2981328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121D6BF1-2A7D-C179-65A6-5E9DD2839C17}"/>
                </a:ext>
              </a:extLst>
            </p:cNvPr>
            <p:cNvCxnSpPr/>
            <p:nvPr/>
          </p:nvCxnSpPr>
          <p:spPr>
            <a:xfrm rot="5400000">
              <a:off x="10796593" y="3133728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F1B83E96-7CCB-E48A-167E-3A78285AF8EC}"/>
                </a:ext>
              </a:extLst>
            </p:cNvPr>
            <p:cNvCxnSpPr/>
            <p:nvPr/>
          </p:nvCxnSpPr>
          <p:spPr>
            <a:xfrm rot="5400000">
              <a:off x="10777537" y="2066913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CD271745-6989-D970-F99A-239D738C37C9}"/>
                </a:ext>
              </a:extLst>
            </p:cNvPr>
            <p:cNvCxnSpPr/>
            <p:nvPr/>
          </p:nvCxnSpPr>
          <p:spPr>
            <a:xfrm rot="5400000">
              <a:off x="10782305" y="2219313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CFFBD546-23E2-15BB-1504-D67BA0432DEB}"/>
                </a:ext>
              </a:extLst>
            </p:cNvPr>
            <p:cNvCxnSpPr/>
            <p:nvPr/>
          </p:nvCxnSpPr>
          <p:spPr>
            <a:xfrm rot="5400000">
              <a:off x="10782305" y="2376481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9001C2CF-2043-B940-C2EA-C6D901B3DAE2}"/>
                </a:ext>
              </a:extLst>
            </p:cNvPr>
            <p:cNvCxnSpPr/>
            <p:nvPr/>
          </p:nvCxnSpPr>
          <p:spPr>
            <a:xfrm rot="5400000">
              <a:off x="10787073" y="2528881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435903D7-B82F-C3BF-3DEC-4994622F267F}"/>
                </a:ext>
              </a:extLst>
            </p:cNvPr>
            <p:cNvSpPr/>
            <p:nvPr/>
          </p:nvSpPr>
          <p:spPr>
            <a:xfrm rot="5400000">
              <a:off x="9861949" y="2337192"/>
              <a:ext cx="1878799" cy="191929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D3760CD9-6A93-77BF-3480-41A92983B7B5}"/>
                </a:ext>
              </a:extLst>
            </p:cNvPr>
            <p:cNvCxnSpPr/>
            <p:nvPr/>
          </p:nvCxnSpPr>
          <p:spPr>
            <a:xfrm rot="5400000">
              <a:off x="10791825" y="1752590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4D9BB65C-77AA-B677-F09E-23992766D6B6}"/>
                </a:ext>
              </a:extLst>
            </p:cNvPr>
            <p:cNvCxnSpPr/>
            <p:nvPr/>
          </p:nvCxnSpPr>
          <p:spPr>
            <a:xfrm rot="5400000">
              <a:off x="10796593" y="1904990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91618949-8B9E-A829-0AAB-828A0DF1B135}"/>
                </a:ext>
              </a:extLst>
            </p:cNvPr>
            <p:cNvCxnSpPr/>
            <p:nvPr/>
          </p:nvCxnSpPr>
          <p:spPr>
            <a:xfrm rot="5400000">
              <a:off x="10796593" y="1547555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2F6B5E08-E680-A8F3-3063-538D7B34DA69}"/>
              </a:ext>
            </a:extLst>
          </p:cNvPr>
          <p:cNvCxnSpPr>
            <a:cxnSpLocks/>
            <a:endCxn id="111" idx="2"/>
          </p:cNvCxnSpPr>
          <p:nvPr/>
        </p:nvCxnSpPr>
        <p:spPr>
          <a:xfrm flipV="1">
            <a:off x="6768735" y="5158103"/>
            <a:ext cx="883996" cy="6821"/>
          </a:xfrm>
          <a:prstGeom prst="line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E7453E75-B0B9-ED04-42DB-EA6FFC18A561}"/>
              </a:ext>
            </a:extLst>
          </p:cNvPr>
          <p:cNvCxnSpPr>
            <a:cxnSpLocks/>
            <a:stCxn id="111" idx="0"/>
            <a:endCxn id="134" idx="1"/>
          </p:cNvCxnSpPr>
          <p:nvPr/>
        </p:nvCxnSpPr>
        <p:spPr>
          <a:xfrm>
            <a:off x="8339108" y="5158103"/>
            <a:ext cx="870099" cy="9099"/>
          </a:xfrm>
          <a:prstGeom prst="line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2AA7E8AB-3C12-BE24-EAF0-BD5FE147FBBF}"/>
              </a:ext>
            </a:extLst>
          </p:cNvPr>
          <p:cNvCxnSpPr>
            <a:cxnSpLocks/>
            <a:stCxn id="127" idx="3"/>
          </p:cNvCxnSpPr>
          <p:nvPr/>
        </p:nvCxnSpPr>
        <p:spPr>
          <a:xfrm flipV="1">
            <a:off x="11438038" y="5163375"/>
            <a:ext cx="566374" cy="3099"/>
          </a:xfrm>
          <a:prstGeom prst="line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4219D600-F93E-B80C-B741-85E50BFC7A27}"/>
              </a:ext>
            </a:extLst>
          </p:cNvPr>
          <p:cNvGrpSpPr/>
          <p:nvPr/>
        </p:nvGrpSpPr>
        <p:grpSpPr>
          <a:xfrm>
            <a:off x="10744846" y="4871738"/>
            <a:ext cx="693192" cy="593859"/>
            <a:chOff x="9901246" y="187887"/>
            <a:chExt cx="1859808" cy="1933578"/>
          </a:xfrm>
        </p:grpSpPr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C238A622-56C2-C245-2CF4-CB609C04F597}"/>
                </a:ext>
              </a:extLst>
            </p:cNvPr>
            <p:cNvCxnSpPr>
              <a:cxnSpLocks/>
            </p:cNvCxnSpPr>
            <p:nvPr/>
          </p:nvCxnSpPr>
          <p:spPr>
            <a:xfrm>
              <a:off x="11146694" y="211708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15B78C88-48FB-EE0F-6318-D24A0E6AC22A}"/>
                </a:ext>
              </a:extLst>
            </p:cNvPr>
            <p:cNvCxnSpPr/>
            <p:nvPr/>
          </p:nvCxnSpPr>
          <p:spPr>
            <a:xfrm>
              <a:off x="11299094" y="206940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A976D4F7-BEEF-4CAE-DA21-198B6739EEF2}"/>
                </a:ext>
              </a:extLst>
            </p:cNvPr>
            <p:cNvCxnSpPr/>
            <p:nvPr/>
          </p:nvCxnSpPr>
          <p:spPr>
            <a:xfrm>
              <a:off x="11456262" y="206940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B7AF0F6A-C82B-BA6B-9F7F-B70EE037526E}"/>
                </a:ext>
              </a:extLst>
            </p:cNvPr>
            <p:cNvCxnSpPr/>
            <p:nvPr/>
          </p:nvCxnSpPr>
          <p:spPr>
            <a:xfrm>
              <a:off x="11608662" y="202172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2DEC1C6F-4BE5-915C-597F-10A0FCD1B794}"/>
                </a:ext>
              </a:extLst>
            </p:cNvPr>
            <p:cNvCxnSpPr/>
            <p:nvPr/>
          </p:nvCxnSpPr>
          <p:spPr>
            <a:xfrm>
              <a:off x="10541847" y="221228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5EDB88E3-C375-90A6-7143-BD4B5EBE2841}"/>
                </a:ext>
              </a:extLst>
            </p:cNvPr>
            <p:cNvCxnSpPr/>
            <p:nvPr/>
          </p:nvCxnSpPr>
          <p:spPr>
            <a:xfrm>
              <a:off x="10694247" y="216460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D05B1BB6-27E3-B6C3-ECBF-B0594FF4FEA8}"/>
                </a:ext>
              </a:extLst>
            </p:cNvPr>
            <p:cNvCxnSpPr/>
            <p:nvPr/>
          </p:nvCxnSpPr>
          <p:spPr>
            <a:xfrm>
              <a:off x="10851415" y="216460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0BA7A4AF-1B49-CCDA-07AA-8E40847804E2}"/>
                </a:ext>
              </a:extLst>
            </p:cNvPr>
            <p:cNvCxnSpPr/>
            <p:nvPr/>
          </p:nvCxnSpPr>
          <p:spPr>
            <a:xfrm>
              <a:off x="11003815" y="211692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317AEA79-A13C-3BFF-FA2D-3F926218CCEC}"/>
                </a:ext>
              </a:extLst>
            </p:cNvPr>
            <p:cNvSpPr/>
            <p:nvPr/>
          </p:nvSpPr>
          <p:spPr>
            <a:xfrm>
              <a:off x="9901246" y="187887"/>
              <a:ext cx="1859808" cy="191929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5B976911-CF3C-15BC-E5CE-84939810AFF2}"/>
                </a:ext>
              </a:extLst>
            </p:cNvPr>
            <p:cNvCxnSpPr/>
            <p:nvPr/>
          </p:nvCxnSpPr>
          <p:spPr>
            <a:xfrm>
              <a:off x="10227524" y="206940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B58333AC-F39C-EA6F-BD52-2C60511B0343}"/>
                </a:ext>
              </a:extLst>
            </p:cNvPr>
            <p:cNvCxnSpPr/>
            <p:nvPr/>
          </p:nvCxnSpPr>
          <p:spPr>
            <a:xfrm>
              <a:off x="10379924" y="202172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D7734B5C-4D86-C752-181A-A92FEA26962D}"/>
                </a:ext>
              </a:extLst>
            </p:cNvPr>
            <p:cNvCxnSpPr/>
            <p:nvPr/>
          </p:nvCxnSpPr>
          <p:spPr>
            <a:xfrm>
              <a:off x="10070142" y="187887"/>
              <a:ext cx="0" cy="1900237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8831BC75-13EB-9111-F6C1-D826887B5363}"/>
              </a:ext>
            </a:extLst>
          </p:cNvPr>
          <p:cNvGrpSpPr/>
          <p:nvPr/>
        </p:nvGrpSpPr>
        <p:grpSpPr>
          <a:xfrm>
            <a:off x="9192656" y="4863292"/>
            <a:ext cx="705457" cy="611664"/>
            <a:chOff x="9857702" y="2959970"/>
            <a:chExt cx="1856039" cy="1987348"/>
          </a:xfrm>
        </p:grpSpPr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273327ED-6497-ACBD-CF1C-15830FBC90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1246" y="2987752"/>
              <a:ext cx="1785976" cy="1919293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1AA6C373-3D34-5DC4-8525-225A284A1BDF}"/>
                </a:ext>
              </a:extLst>
            </p:cNvPr>
            <p:cNvSpPr/>
            <p:nvPr/>
          </p:nvSpPr>
          <p:spPr>
            <a:xfrm>
              <a:off x="9901246" y="2987752"/>
              <a:ext cx="1788593" cy="191929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14F324E2-E403-582E-2075-4485543083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33515" y="3316873"/>
              <a:ext cx="1555016" cy="1630445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4DC7AD1C-0B4C-B3CC-2CB4-4AED4A4CEA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38315" y="3650484"/>
              <a:ext cx="1228114" cy="1256561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7DD9032A-C35D-C3DF-4516-4D6E537270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20462" y="3935214"/>
              <a:ext cx="967414" cy="971831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7A58FDAA-5074-E86A-F935-67FDAF99ED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961819" y="4186238"/>
              <a:ext cx="739644" cy="760758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A32D77FA-7C7C-9E30-7D9A-0523C47ABC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57586" y="4428103"/>
              <a:ext cx="456155" cy="512481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0FD77AFE-4364-01F5-7DF3-7C2235BAC0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510002" y="4707013"/>
              <a:ext cx="165086" cy="185939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02E3A765-9ED4-3569-ED45-0F149687A6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82942" y="3002809"/>
              <a:ext cx="1228114" cy="1256561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10EDEBE0-1207-58C7-4222-52D444F500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70660" y="2959970"/>
              <a:ext cx="967414" cy="971831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7C379F8A-B0D6-7ACD-DE3A-E44EEB9B33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57702" y="2968885"/>
              <a:ext cx="739644" cy="760758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10EC7B6C-3545-663F-D851-6286FF9DFD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68043" y="2982310"/>
              <a:ext cx="456155" cy="512481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F0BFBB9C-F40D-53CA-E899-72D09F12FC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5029" y="3002028"/>
              <a:ext cx="165086" cy="185939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EC5652F3-F406-A008-02BC-6271CE2624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72071" y="2970387"/>
              <a:ext cx="1555016" cy="1630445"/>
            </a:xfrm>
            <a:prstGeom prst="line">
              <a:avLst/>
            </a:prstGeom>
            <a:ln>
              <a:solidFill>
                <a:srgbClr val="00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180D8590-BE51-6708-0A4F-45821F651F1A}"/>
              </a:ext>
            </a:extLst>
          </p:cNvPr>
          <p:cNvCxnSpPr>
            <a:cxnSpLocks/>
            <a:stCxn id="134" idx="3"/>
            <a:endCxn id="127" idx="1"/>
          </p:cNvCxnSpPr>
          <p:nvPr/>
        </p:nvCxnSpPr>
        <p:spPr>
          <a:xfrm flipV="1">
            <a:off x="9889029" y="5166474"/>
            <a:ext cx="855817" cy="728"/>
          </a:xfrm>
          <a:prstGeom prst="line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20638920-A55A-F9DE-50F2-FF2070E76413}"/>
              </a:ext>
            </a:extLst>
          </p:cNvPr>
          <p:cNvSpPr txBox="1"/>
          <p:nvPr/>
        </p:nvSpPr>
        <p:spPr>
          <a:xfrm>
            <a:off x="7455111" y="648928"/>
            <a:ext cx="8691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(a)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F23CAE00-655F-F482-8458-E9C350EFBE7D}"/>
              </a:ext>
            </a:extLst>
          </p:cNvPr>
          <p:cNvSpPr txBox="1"/>
          <p:nvPr/>
        </p:nvSpPr>
        <p:spPr>
          <a:xfrm>
            <a:off x="7423011" y="2444312"/>
            <a:ext cx="8691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(b)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B486E6ED-1EED-A128-94DA-DC1E7D3838A5}"/>
              </a:ext>
            </a:extLst>
          </p:cNvPr>
          <p:cNvSpPr txBox="1"/>
          <p:nvPr/>
        </p:nvSpPr>
        <p:spPr>
          <a:xfrm>
            <a:off x="6798399" y="4266097"/>
            <a:ext cx="8691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(c)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6ECE1236-133F-5057-9AAD-AB3F06DCCAE7}"/>
                  </a:ext>
                </a:extLst>
              </p:cNvPr>
              <p:cNvSpPr txBox="1"/>
              <p:nvPr/>
            </p:nvSpPr>
            <p:spPr>
              <a:xfrm>
                <a:off x="9105656" y="1424161"/>
                <a:ext cx="71898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|0⟩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6ECE1236-133F-5057-9AAD-AB3F06DCCA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5656" y="1424161"/>
                <a:ext cx="718984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5564C985-B688-C522-EA44-BE01DFDA8216}"/>
                  </a:ext>
                </a:extLst>
              </p:cNvPr>
              <p:cNvSpPr txBox="1"/>
              <p:nvPr/>
            </p:nvSpPr>
            <p:spPr>
              <a:xfrm>
                <a:off x="10613073" y="1359876"/>
                <a:ext cx="71898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|0⟩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5564C985-B688-C522-EA44-BE01DFDA82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3073" y="1359876"/>
                <a:ext cx="718984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9F65108B-2B06-D585-86DE-83BF15AFF899}"/>
                  </a:ext>
                </a:extLst>
              </p:cNvPr>
              <p:cNvSpPr txBox="1"/>
              <p:nvPr/>
            </p:nvSpPr>
            <p:spPr>
              <a:xfrm>
                <a:off x="9077052" y="850286"/>
                <a:ext cx="71898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9F65108B-2B06-D585-86DE-83BF15AFF8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7052" y="850286"/>
                <a:ext cx="71898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91287017-06BF-29F2-1CC1-B29F88B683D2}"/>
                  </a:ext>
                </a:extLst>
              </p:cNvPr>
              <p:cNvSpPr txBox="1"/>
              <p:nvPr/>
            </p:nvSpPr>
            <p:spPr>
              <a:xfrm>
                <a:off x="10629454" y="902183"/>
                <a:ext cx="71898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91287017-06BF-29F2-1CC1-B29F88B683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9454" y="902183"/>
                <a:ext cx="71898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CC67AD8A-2E36-1286-AE6C-1E8019182F51}"/>
                  </a:ext>
                </a:extLst>
              </p:cNvPr>
              <p:cNvSpPr txBox="1"/>
              <p:nvPr/>
            </p:nvSpPr>
            <p:spPr>
              <a:xfrm>
                <a:off x="9113544" y="3244334"/>
                <a:ext cx="71898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|0⟩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CC67AD8A-2E36-1286-AE6C-1E8019182F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3544" y="3244334"/>
                <a:ext cx="718984" cy="369332"/>
              </a:xfrm>
              <a:prstGeom prst="rect">
                <a:avLst/>
              </a:prstGeom>
              <a:blipFill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8AE955F1-78F1-FEB6-2DB5-87B2A9787936}"/>
                  </a:ext>
                </a:extLst>
              </p:cNvPr>
              <p:cNvSpPr txBox="1"/>
              <p:nvPr/>
            </p:nvSpPr>
            <p:spPr>
              <a:xfrm>
                <a:off x="9084940" y="2670459"/>
                <a:ext cx="71898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8AE955F1-78F1-FEB6-2DB5-87B2A97879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4940" y="2670459"/>
                <a:ext cx="718984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605A10DD-4630-5460-962C-55F02F028D72}"/>
                  </a:ext>
                </a:extLst>
              </p:cNvPr>
              <p:cNvSpPr txBox="1"/>
              <p:nvPr/>
            </p:nvSpPr>
            <p:spPr>
              <a:xfrm>
                <a:off x="10750142" y="3203792"/>
                <a:ext cx="71898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|1⟩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605A10DD-4630-5460-962C-55F02F028D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142" y="3203792"/>
                <a:ext cx="718984" cy="369332"/>
              </a:xfrm>
              <a:prstGeom prst="rect">
                <a:avLst/>
              </a:prstGeom>
              <a:blipFill>
                <a:blip r:embed="rId9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9334E345-E9D1-A79F-115A-25A8D50F1A3A}"/>
                  </a:ext>
                </a:extLst>
              </p:cNvPr>
              <p:cNvSpPr txBox="1"/>
              <p:nvPr/>
            </p:nvSpPr>
            <p:spPr>
              <a:xfrm>
                <a:off x="10751775" y="2746099"/>
                <a:ext cx="71898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9334E345-E9D1-A79F-115A-25A8D50F1A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1775" y="2746099"/>
                <a:ext cx="718984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6A48BDB3-583B-CC94-C7C3-C8FFB57C9F95}"/>
                  </a:ext>
                </a:extLst>
              </p:cNvPr>
              <p:cNvSpPr txBox="1"/>
              <p:nvPr/>
            </p:nvSpPr>
            <p:spPr>
              <a:xfrm>
                <a:off x="8384704" y="5287312"/>
                <a:ext cx="71898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|0⟩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6A48BDB3-583B-CC94-C7C3-C8FFB57C9F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4704" y="5287312"/>
                <a:ext cx="718984" cy="369332"/>
              </a:xfrm>
              <a:prstGeom prst="rect">
                <a:avLst/>
              </a:prstGeom>
              <a:blipFill>
                <a:blip r:embed="rId11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DE007705-BB7A-0B66-BB76-C3C6E3671219}"/>
                  </a:ext>
                </a:extLst>
              </p:cNvPr>
              <p:cNvSpPr txBox="1"/>
              <p:nvPr/>
            </p:nvSpPr>
            <p:spPr>
              <a:xfrm>
                <a:off x="8356100" y="4713437"/>
                <a:ext cx="71898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DE007705-BB7A-0B66-BB76-C3C6E36712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6100" y="4713437"/>
                <a:ext cx="71898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C4610877-39DD-69B1-E7ED-57FAE6C269CC}"/>
                  </a:ext>
                </a:extLst>
              </p:cNvPr>
              <p:cNvSpPr txBox="1"/>
              <p:nvPr/>
            </p:nvSpPr>
            <p:spPr>
              <a:xfrm rot="19793956">
                <a:off x="9129428" y="5410045"/>
                <a:ext cx="1665669" cy="6646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|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|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C4610877-39DD-69B1-E7ED-57FAE6C269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793956">
                <a:off x="9129428" y="5410045"/>
                <a:ext cx="1665669" cy="66460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E6BFB97B-57FE-41E8-08C8-26AD0819598E}"/>
                  </a:ext>
                </a:extLst>
              </p:cNvPr>
              <p:cNvSpPr txBox="1"/>
              <p:nvPr/>
            </p:nvSpPr>
            <p:spPr>
              <a:xfrm>
                <a:off x="9942204" y="4713437"/>
                <a:ext cx="71898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E6BFB97B-57FE-41E8-08C8-26AD081959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2204" y="4713437"/>
                <a:ext cx="718984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285B0FD5-725C-A642-AA83-CE8869828EF5}"/>
                  </a:ext>
                </a:extLst>
              </p:cNvPr>
              <p:cNvSpPr txBox="1"/>
              <p:nvPr/>
            </p:nvSpPr>
            <p:spPr>
              <a:xfrm>
                <a:off x="11429042" y="5184201"/>
                <a:ext cx="71898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|1⟩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285B0FD5-725C-A642-AA83-CE8869828E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29042" y="5184201"/>
                <a:ext cx="718984" cy="369332"/>
              </a:xfrm>
              <a:prstGeom prst="rect">
                <a:avLst/>
              </a:prstGeom>
              <a:blipFill>
                <a:blip r:embed="rId1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98948630-BE6D-79E5-53D9-E2A48B631356}"/>
                  </a:ext>
                </a:extLst>
              </p:cNvPr>
              <p:cNvSpPr txBox="1"/>
              <p:nvPr/>
            </p:nvSpPr>
            <p:spPr>
              <a:xfrm>
                <a:off x="11430675" y="4726508"/>
                <a:ext cx="71898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98948630-BE6D-79E5-53D9-E2A48B6313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675" y="4726508"/>
                <a:ext cx="718984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5161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35DE5-EAD0-A834-288F-8124C13F2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Uncertainty Principle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742BB4-0616-793C-19BB-560670522798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57507" y="1032691"/>
                <a:ext cx="7598647" cy="5146883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We can measure a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dirty="0"/>
                  <a:t> in the basis {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dirty="0"/>
                  <a:t>}</a:t>
                </a:r>
              </a:p>
              <a:p>
                <a:pPr lvl="1"/>
                <a:r>
                  <a:rPr lang="en-US" dirty="0"/>
                  <a:t>The final state of the bit will be either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Lets call this the bit-value.</a:t>
                </a:r>
              </a:p>
              <a:p>
                <a:r>
                  <a:rPr lang="en-US" dirty="0"/>
                  <a:t>We can also measure the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dirty="0"/>
                  <a:t> in the basis {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dirty="0"/>
                  <a:t>}</a:t>
                </a:r>
              </a:p>
              <a:p>
                <a:pPr lvl="1"/>
                <a:r>
                  <a:rPr lang="en-US" dirty="0"/>
                  <a:t>The final state of the bit will be either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d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Lets call this the sign-value.</a:t>
                </a:r>
              </a:p>
              <a:p>
                <a:r>
                  <a:rPr lang="en-US" dirty="0"/>
                  <a:t>Can we measure both the bit-value and the sign-value of a state?</a:t>
                </a:r>
              </a:p>
              <a:p>
                <a:endParaRPr lang="en-US" dirty="0"/>
              </a:p>
              <a:p>
                <a:r>
                  <a:rPr lang="en-US" dirty="0"/>
                  <a:t>If we want to know the bit-value perfectly, then the state must be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If we want to know the sign-value perfectly, then the state must be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d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742BB4-0616-793C-19BB-5606705227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57507" y="1032691"/>
                <a:ext cx="7598647" cy="5146883"/>
              </a:xfrm>
              <a:blipFill>
                <a:blip r:embed="rId2"/>
                <a:stretch>
                  <a:fillRect l="-835" t="-2217" r="-23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F5BA63D-8D4B-7C93-5503-FF00AFA3037F}"/>
              </a:ext>
            </a:extLst>
          </p:cNvPr>
          <p:cNvCxnSpPr/>
          <p:nvPr/>
        </p:nvCxnSpPr>
        <p:spPr>
          <a:xfrm>
            <a:off x="9101070" y="2590267"/>
            <a:ext cx="3090930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24A95E7-B854-302A-5264-458A9ABDAC30}"/>
              </a:ext>
            </a:extLst>
          </p:cNvPr>
          <p:cNvCxnSpPr>
            <a:cxnSpLocks/>
          </p:cNvCxnSpPr>
          <p:nvPr/>
        </p:nvCxnSpPr>
        <p:spPr>
          <a:xfrm flipV="1">
            <a:off x="9253470" y="-22123"/>
            <a:ext cx="47760" cy="276479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482D47C-9866-FA45-27D8-C122594827B1}"/>
              </a:ext>
            </a:extLst>
          </p:cNvPr>
          <p:cNvCxnSpPr>
            <a:cxnSpLocks/>
            <a:endCxn id="14" idx="6"/>
          </p:cNvCxnSpPr>
          <p:nvPr/>
        </p:nvCxnSpPr>
        <p:spPr>
          <a:xfrm>
            <a:off x="9251323" y="2590267"/>
            <a:ext cx="1244959" cy="1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0A24355-6BE7-BC09-C916-E040499B3AB7}"/>
                  </a:ext>
                </a:extLst>
              </p:cNvPr>
              <p:cNvSpPr txBox="1"/>
              <p:nvPr/>
            </p:nvSpPr>
            <p:spPr>
              <a:xfrm>
                <a:off x="10367226" y="2720786"/>
                <a:ext cx="6053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0A24355-6BE7-BC09-C916-E040499B3A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7226" y="2720786"/>
                <a:ext cx="60530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FEA432A-4E31-67EB-10FA-7147017581F6}"/>
                  </a:ext>
                </a:extLst>
              </p:cNvPr>
              <p:cNvSpPr txBox="1"/>
              <p:nvPr/>
            </p:nvSpPr>
            <p:spPr>
              <a:xfrm>
                <a:off x="9707954" y="807892"/>
                <a:ext cx="2326539" cy="6646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|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FEA432A-4E31-67EB-10FA-7147017581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7954" y="807892"/>
                <a:ext cx="2326539" cy="66460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A05B125-47A7-2C6A-1D58-1EDCEF16F526}"/>
                  </a:ext>
                </a:extLst>
              </p:cNvPr>
              <p:cNvSpPr txBox="1"/>
              <p:nvPr/>
            </p:nvSpPr>
            <p:spPr>
              <a:xfrm>
                <a:off x="8675531" y="935860"/>
                <a:ext cx="6053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A05B125-47A7-2C6A-1D58-1EDCEF16F5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5531" y="935860"/>
                <a:ext cx="60530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590F166-BEB5-46DC-3AB1-5FF796DAC1A7}"/>
              </a:ext>
            </a:extLst>
          </p:cNvPr>
          <p:cNvCxnSpPr>
            <a:cxnSpLocks/>
            <a:endCxn id="14" idx="0"/>
          </p:cNvCxnSpPr>
          <p:nvPr/>
        </p:nvCxnSpPr>
        <p:spPr>
          <a:xfrm flipV="1">
            <a:off x="9251323" y="1408410"/>
            <a:ext cx="49907" cy="1181857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ED28D11-0CA0-A594-D248-D7A2242A29E7}"/>
              </a:ext>
            </a:extLst>
          </p:cNvPr>
          <p:cNvCxnSpPr>
            <a:cxnSpLocks/>
            <a:endCxn id="14" idx="5"/>
          </p:cNvCxnSpPr>
          <p:nvPr/>
        </p:nvCxnSpPr>
        <p:spPr>
          <a:xfrm>
            <a:off x="9251323" y="2590267"/>
            <a:ext cx="894936" cy="8357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B7BD7AC-BAD3-7BA8-1EE8-5E14693002EA}"/>
              </a:ext>
            </a:extLst>
          </p:cNvPr>
          <p:cNvCxnSpPr>
            <a:cxnSpLocks/>
            <a:endCxn id="14" idx="7"/>
          </p:cNvCxnSpPr>
          <p:nvPr/>
        </p:nvCxnSpPr>
        <p:spPr>
          <a:xfrm flipV="1">
            <a:off x="9221543" y="1754568"/>
            <a:ext cx="924716" cy="88677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3C935E1-0828-E8E6-108F-9CEF6DB1866D}"/>
                  </a:ext>
                </a:extLst>
              </p:cNvPr>
              <p:cNvSpPr txBox="1"/>
              <p:nvPr/>
            </p:nvSpPr>
            <p:spPr>
              <a:xfrm>
                <a:off x="9515332" y="3708037"/>
                <a:ext cx="2519161" cy="6646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|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|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3C935E1-0828-E8E6-108F-9CEF6DB186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5332" y="3708037"/>
                <a:ext cx="2519161" cy="66460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val 13">
            <a:extLst>
              <a:ext uri="{FF2B5EF4-FFF2-40B4-BE49-F238E27FC236}">
                <a16:creationId xmlns:a16="http://schemas.microsoft.com/office/drawing/2014/main" id="{15C0B5C2-3926-B514-460C-0274A38B75CD}"/>
              </a:ext>
            </a:extLst>
          </p:cNvPr>
          <p:cNvSpPr/>
          <p:nvPr/>
        </p:nvSpPr>
        <p:spPr>
          <a:xfrm>
            <a:off x="8106177" y="1408410"/>
            <a:ext cx="2390105" cy="2363715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608263C-696A-5868-1920-C8F56B4207DF}"/>
                  </a:ext>
                </a:extLst>
              </p:cNvPr>
              <p:cNvSpPr txBox="1"/>
              <p:nvPr/>
            </p:nvSpPr>
            <p:spPr>
              <a:xfrm>
                <a:off x="9724289" y="2045696"/>
                <a:ext cx="622230" cy="5629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608263C-696A-5868-1920-C8F56B4207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4289" y="2045696"/>
                <a:ext cx="622230" cy="562975"/>
              </a:xfrm>
              <a:prstGeom prst="rect">
                <a:avLst/>
              </a:prstGeom>
              <a:blipFill>
                <a:blip r:embed="rId7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85401DB-D31B-127C-35A6-BA0E54AE625C}"/>
              </a:ext>
            </a:extLst>
          </p:cNvPr>
          <p:cNvCxnSpPr>
            <a:cxnSpLocks/>
          </p:cNvCxnSpPr>
          <p:nvPr/>
        </p:nvCxnSpPr>
        <p:spPr>
          <a:xfrm flipV="1">
            <a:off x="9276276" y="2225241"/>
            <a:ext cx="1140320" cy="383430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33001CA-8166-353A-D9A6-A8B92C54B68F}"/>
                  </a:ext>
                </a:extLst>
              </p:cNvPr>
              <p:cNvSpPr txBox="1"/>
              <p:nvPr/>
            </p:nvSpPr>
            <p:spPr>
              <a:xfrm>
                <a:off x="10466925" y="1957851"/>
                <a:ext cx="6053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33001CA-8166-353A-D9A6-A8B92C54B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6925" y="1957851"/>
                <a:ext cx="605306" cy="369332"/>
              </a:xfrm>
              <a:prstGeom prst="rect">
                <a:avLst/>
              </a:prstGeom>
              <a:blipFill>
                <a:blip r:embed="rId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56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430A7-D1C6-9560-95B7-BEA6C104E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K-level system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73FB84-D50D-488D-B842-A6EEA1EB3C0A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57507" y="1032691"/>
                <a:ext cx="6841836" cy="5279619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dirty="0"/>
                  <a:t>The system can have several states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|0⟩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dirty="0"/>
                  <a:t>, …,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−1⟩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Superposition principle says 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dirty="0"/>
                  <a:t> …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ℂ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−1⟩</m:t>
                        </m:r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/>
                  <a:t>Measurement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𝑃𝑟𝑜𝑏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, and new state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en-US" dirty="0"/>
              </a:p>
              <a:p>
                <a:r>
                  <a:rPr lang="en-US" dirty="0"/>
                  <a:t>Example: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 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en-US" dirty="0"/>
                  <a:t>. What is the probability we will see state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/>
                  <a:t>, or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In general, for an n-state system, the state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</m:oMath>
                </a14:m>
                <a:r>
                  <a:rPr lang="en-US" dirty="0"/>
                  <a:t> is a unit vector in Hilbert space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ℂ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r>
                  <a:rPr lang="en-US" dirty="0">
                    <a:ea typeface="Cambria Math" panose="02040503050406030204" pitchFamily="18" charset="0"/>
                  </a:rPr>
                  <a:t>When we measure the state, Prob(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|0⟩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b="0" dirty="0">
                    <a:ea typeface="Cambria Math" panose="02040503050406030204" pitchFamily="18" charset="0"/>
                  </a:rPr>
                  <a:t>, and after the measurement, these particles are in state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|0⟩</m:t>
                    </m:r>
                  </m:oMath>
                </a14:m>
                <a:r>
                  <a:rPr lang="en-US" b="0" dirty="0">
                    <a:ea typeface="Cambria Math" panose="02040503050406030204" pitchFamily="18" charset="0"/>
                  </a:rPr>
                  <a:t>.</a:t>
                </a:r>
              </a:p>
              <a:p>
                <a:r>
                  <a:rPr lang="en-US" dirty="0"/>
                  <a:t>But what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– the angle between 2 vectors</a:t>
                </a:r>
              </a:p>
              <a:p>
                <a:pPr lvl="1"/>
                <a:r>
                  <a:rPr lang="en-US" dirty="0"/>
                  <a:t>It is the inner product between the two vectors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73FB84-D50D-488D-B842-A6EEA1EB3C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57507" y="1032691"/>
                <a:ext cx="6841836" cy="5279619"/>
              </a:xfrm>
              <a:blipFill>
                <a:blip r:embed="rId2"/>
                <a:stretch>
                  <a:fillRect l="-185" t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BD528D9-DA68-0A75-02C6-58DBDA195FB8}"/>
              </a:ext>
            </a:extLst>
          </p:cNvPr>
          <p:cNvCxnSpPr/>
          <p:nvPr/>
        </p:nvCxnSpPr>
        <p:spPr>
          <a:xfrm>
            <a:off x="9101070" y="2590267"/>
            <a:ext cx="3090930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EB18EFE-3378-3753-61CF-AB1BE4B269F2}"/>
              </a:ext>
            </a:extLst>
          </p:cNvPr>
          <p:cNvCxnSpPr>
            <a:cxnSpLocks/>
          </p:cNvCxnSpPr>
          <p:nvPr/>
        </p:nvCxnSpPr>
        <p:spPr>
          <a:xfrm flipV="1">
            <a:off x="9253470" y="-22123"/>
            <a:ext cx="47760" cy="276479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C9A5A33-607F-6E6D-5746-1CEB61A605FF}"/>
              </a:ext>
            </a:extLst>
          </p:cNvPr>
          <p:cNvCxnSpPr>
            <a:cxnSpLocks/>
          </p:cNvCxnSpPr>
          <p:nvPr/>
        </p:nvCxnSpPr>
        <p:spPr>
          <a:xfrm flipV="1">
            <a:off x="9253470" y="1430594"/>
            <a:ext cx="2147033" cy="1171365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0957AB6-0475-F62E-D92A-17154F1594BF}"/>
              </a:ext>
            </a:extLst>
          </p:cNvPr>
          <p:cNvCxnSpPr>
            <a:cxnSpLocks/>
          </p:cNvCxnSpPr>
          <p:nvPr/>
        </p:nvCxnSpPr>
        <p:spPr>
          <a:xfrm flipV="1">
            <a:off x="9101070" y="1032691"/>
            <a:ext cx="1812736" cy="1709976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D6B680F-E3A2-F50A-AA12-123833DA64A1}"/>
                  </a:ext>
                </a:extLst>
              </p:cNvPr>
              <p:cNvSpPr txBox="1"/>
              <p:nvPr/>
            </p:nvSpPr>
            <p:spPr>
              <a:xfrm>
                <a:off x="11451232" y="2742667"/>
                <a:ext cx="6053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D6B680F-E3A2-F50A-AA12-123833DA64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51232" y="2742667"/>
                <a:ext cx="60530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E52967D-D6B6-B874-1143-4467B5594691}"/>
                  </a:ext>
                </a:extLst>
              </p:cNvPr>
              <p:cNvSpPr txBox="1"/>
              <p:nvPr/>
            </p:nvSpPr>
            <p:spPr>
              <a:xfrm>
                <a:off x="8672044" y="83523"/>
                <a:ext cx="6053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E52967D-D6B6-B874-1143-4467B55946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2044" y="83523"/>
                <a:ext cx="60530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8BB9179-2DFD-7E51-0734-8C33533556C9}"/>
                  </a:ext>
                </a:extLst>
              </p:cNvPr>
              <p:cNvSpPr txBox="1"/>
              <p:nvPr/>
            </p:nvSpPr>
            <p:spPr>
              <a:xfrm>
                <a:off x="10249196" y="801856"/>
                <a:ext cx="6053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8BB9179-2DFD-7E51-0734-8C33533556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9196" y="801856"/>
                <a:ext cx="60530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322B4B8-710F-A093-B0B5-6870CD382A57}"/>
                  </a:ext>
                </a:extLst>
              </p:cNvPr>
              <p:cNvSpPr txBox="1"/>
              <p:nvPr/>
            </p:nvSpPr>
            <p:spPr>
              <a:xfrm>
                <a:off x="10947597" y="1694866"/>
                <a:ext cx="6053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322B4B8-710F-A093-B0B5-6870CD382A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47597" y="1694866"/>
                <a:ext cx="605306" cy="369332"/>
              </a:xfrm>
              <a:prstGeom prst="rect">
                <a:avLst/>
              </a:prstGeom>
              <a:blipFill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F8D1147-CD67-FC5E-B14E-02E40264561E}"/>
                  </a:ext>
                </a:extLst>
              </p:cNvPr>
              <p:cNvSpPr txBox="1"/>
              <p:nvPr/>
            </p:nvSpPr>
            <p:spPr>
              <a:xfrm>
                <a:off x="6019791" y="986522"/>
                <a:ext cx="3090930" cy="11025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begChr m:val="|"/>
                          <m:endChr m:val="⟩"/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|"/>
                          <m:endChr m:val="⟩"/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|2⟩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F8D1147-CD67-FC5E-B14E-02E4026456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791" y="986522"/>
                <a:ext cx="3090930" cy="110254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26E9C76-6F96-1253-A477-4EC97D966992}"/>
                  </a:ext>
                </a:extLst>
              </p:cNvPr>
              <p:cNvSpPr txBox="1"/>
              <p:nvPr/>
            </p:nvSpPr>
            <p:spPr>
              <a:xfrm>
                <a:off x="9571541" y="2220984"/>
                <a:ext cx="622230" cy="3692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26E9C76-6F96-1253-A477-4EC97D9669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1541" y="2220984"/>
                <a:ext cx="622230" cy="36928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4B93731-73F6-5AD1-2CE6-070DC5F4AE15}"/>
                  </a:ext>
                </a:extLst>
              </p:cNvPr>
              <p:cNvSpPr txBox="1"/>
              <p:nvPr/>
            </p:nvSpPr>
            <p:spPr>
              <a:xfrm>
                <a:off x="7354664" y="3329986"/>
                <a:ext cx="4679829" cy="25445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0" dirty="0">
                    <a:solidFill>
                      <a:srgbClr val="0070C0"/>
                    </a:solidFill>
                  </a:rPr>
                  <a:t>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dirty="0">
                  <a:solidFill>
                    <a:srgbClr val="0070C0"/>
                  </a:solidFill>
                </a:endParaRPr>
              </a:p>
              <a:p>
                <a:r>
                  <a:rPr lang="en-US" dirty="0">
                    <a:solidFill>
                      <a:srgbClr val="0070C0"/>
                    </a:solidFill>
                  </a:rPr>
                  <a:t>Inner product =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sSub>
                      <m:sSub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>
                  <a:solidFill>
                    <a:srgbClr val="0070C0"/>
                  </a:solidFill>
                </a:endParaRPr>
              </a:p>
              <a:p>
                <a:r>
                  <a:rPr lang="en-US" dirty="0">
                    <a:solidFill>
                      <a:srgbClr val="0070C0"/>
                    </a:solidFill>
                  </a:rPr>
                  <a:t>=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[</m:t>
                    </m:r>
                    <m:m>
                      <m:mPr>
                        <m:mcs>
                          <m:mc>
                            <m:mcPr>
                              <m:count m:val="3"/>
                              <m:mcJc m:val="center"/>
                            </m:mcPr>
                          </m:mc>
                        </m:mcs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sSubSup>
                            <m:sSubSupPr>
                              <m:ctrlP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e>
                        <m:e>
                          <m:sSubSup>
                            <m:sSubSupPr>
                              <m:ctrlP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e>
                        <m:e>
                          <m:sSubSup>
                            <m:sSubSupPr>
                              <m:ctrlP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e>
                      </m:mr>
                    </m:m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=|</m:t>
                          </m:r>
                          <m:sSubSup>
                            <m:sSubSupPr>
                              <m:ctrlP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en-US" dirty="0">
                              <a:solidFill>
                                <a:srgbClr val="0070C0"/>
                              </a:solidFill>
                            </a:rPr>
                            <m:t> </m:t>
                          </m:r>
                          <m:sSubSup>
                            <m:sSubSupPr>
                              <m:ctrlP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func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  <a:p>
                <a:r>
                  <a:rPr lang="en-US" dirty="0">
                    <a:solidFill>
                      <a:srgbClr val="0070C0"/>
                    </a:solidFill>
                  </a:rPr>
                  <a:t>Where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4B93731-73F6-5AD1-2CE6-070DC5F4AE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4664" y="3329986"/>
                <a:ext cx="4679829" cy="2544543"/>
              </a:xfrm>
              <a:prstGeom prst="rect">
                <a:avLst/>
              </a:prstGeom>
              <a:blipFill>
                <a:blip r:embed="rId9"/>
                <a:stretch>
                  <a:fillRect l="-811" b="-29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2131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2F18E0A-2018-BAC9-08D7-54A9877C59B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Measure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𝝍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dirty="0"/>
                  <a:t> in the sign basis, {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d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, |−⟩</m:t>
                    </m:r>
                  </m:oMath>
                </a14:m>
                <a:r>
                  <a:rPr lang="en-US" dirty="0"/>
                  <a:t>}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2F18E0A-2018-BAC9-08D7-54A9877C59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185" t="-10769" b="-4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EBAF7C-4B29-12CD-00D9-4E7724451065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57507" y="1032691"/>
                <a:ext cx="7598647" cy="5246923"/>
              </a:xfrm>
            </p:spPr>
            <p:txBody>
              <a:bodyPr>
                <a:normAutofit fontScale="62500" lnSpcReduction="20000"/>
              </a:bodyPr>
              <a:lstStyle/>
              <a:p>
                <a:r>
                  <a:rPr lang="en-US" dirty="0"/>
                  <a:t>Inner Product in </a:t>
                </a:r>
                <a:r>
                  <a:rPr lang="en-US" dirty="0" err="1"/>
                  <a:t>ket</a:t>
                </a:r>
                <a:r>
                  <a:rPr lang="en-US" dirty="0"/>
                  <a:t> notation</a:t>
                </a:r>
              </a:p>
              <a:p>
                <a:pPr lvl="1"/>
                <a:r>
                  <a:rPr lang="en-US" sz="2000" dirty="0"/>
                  <a:t>Prob(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|+⟩</m:t>
                    </m:r>
                  </m:oMath>
                </a14:m>
                <a:r>
                  <a:rPr lang="en-US" sz="2000" dirty="0"/>
                  <a:t>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=|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⟨0|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⟨1|)(</m:t>
                        </m:r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d>
                          <m:dPr>
                            <m:begChr m:val="|"/>
                            <m:endChr m:val="⟩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 </m:t>
                        </m:r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|1⟩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d>
                          <m:dPr>
                            <m:begChr m:val=""/>
                            <m:endChr m:val="|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000" dirty="0"/>
              </a:p>
              <a:p>
                <a:pPr lvl="1"/>
                <a:r>
                  <a:rPr lang="en-US" sz="2000" dirty="0"/>
                  <a:t>=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|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d>
                          <m:dPr>
                            <m:begChr m:val=""/>
                            <m:endChr m:val="|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1+3+2</m:t>
                        </m:r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2+</m:t>
                        </m:r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US" sz="2000" dirty="0"/>
              </a:p>
              <a:p>
                <a:pPr lvl="1"/>
                <a:r>
                  <a:rPr lang="en-US" sz="2000" dirty="0"/>
                  <a:t>Prob(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|−⟩</m:t>
                    </m:r>
                  </m:oMath>
                </a14:m>
                <a:r>
                  <a:rPr lang="en-US" sz="2000" dirty="0"/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US" sz="2000" dirty="0"/>
              </a:p>
              <a:p>
                <a:endParaRPr lang="en-US" sz="2400" dirty="0"/>
              </a:p>
              <a:p>
                <a:r>
                  <a:rPr lang="en-US" sz="2400" dirty="0"/>
                  <a:t>State vector multiplication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𝑃𝑟𝑜𝑏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(|+⟩)=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f>
                                        <m:f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ad>
                                            <m:radPr>
                                              <m:degHide m:val="on"/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radPr>
                                            <m:deg/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e>
                                          </m:rad>
                                        </m:den>
                                      </m:f>
                                    </m:e>
                                    <m:e>
                                      <m:f>
                                        <m:f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ad>
                                            <m:radPr>
                                              <m:degHide m:val="on"/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radPr>
                                            <m:deg/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e>
                                          </m:rad>
                                        </m:den>
                                      </m:f>
                                    </m:e>
                                  </m:mr>
                                </m:m>
                              </m:e>
                            </m:d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f>
                                        <m:f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mr>
                                  <m:mr>
                                    <m:e>
                                      <m:f>
                                        <m:f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ad>
                                            <m:radPr>
                                              <m:degHide m:val="on"/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radPr>
                                            <m:deg/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e>
                                          </m:rad>
                                        </m:num>
                                        <m:den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mr>
                                </m:m>
                              </m:e>
                            </m:d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r>
                  <a:rPr lang="en-US" sz="2400" dirty="0"/>
                  <a:t>Change of basis</a:t>
                </a:r>
              </a:p>
              <a:p>
                <a:pPr lvl="1"/>
                <a:r>
                  <a:rPr lang="en-US" sz="2000" dirty="0"/>
                  <a:t>Rewrite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|1⟩</m:t>
                    </m:r>
                  </m:oMath>
                </a14:m>
                <a:r>
                  <a:rPr lang="en-US" sz="2000" dirty="0"/>
                  <a:t> in terms of {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|+⟩</m:t>
                    </m:r>
                  </m:oMath>
                </a14:m>
                <a:r>
                  <a:rPr lang="en-US" sz="2000" dirty="0"/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2000" dirty="0"/>
                  <a:t>}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en-US" sz="2000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</m:d>
                  </m:oMath>
                </a14:m>
                <a:endParaRPr lang="en-US" sz="2000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|−⟩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)+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(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1+</m:t>
                        </m:r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</m:d>
                  </m:oMath>
                </a14:m>
                <a:endParaRPr lang="en-US" sz="20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𝑃𝑟𝑜𝑏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(|+⟩)=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1+3+2</m:t>
                        </m:r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2+</m:t>
                        </m:r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EBAF7C-4B29-12CD-00D9-4E77244510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57507" y="1032691"/>
                <a:ext cx="7598647" cy="5246923"/>
              </a:xfrm>
              <a:blipFill>
                <a:blip r:embed="rId3"/>
                <a:stretch>
                  <a:fillRect l="-167" t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F0CA250-64D0-DA2B-0683-9FEA31437B8D}"/>
              </a:ext>
            </a:extLst>
          </p:cNvPr>
          <p:cNvCxnSpPr/>
          <p:nvPr/>
        </p:nvCxnSpPr>
        <p:spPr>
          <a:xfrm>
            <a:off x="9101070" y="2590267"/>
            <a:ext cx="3090930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CC86D95-125F-292B-64A1-FC625A620FCD}"/>
              </a:ext>
            </a:extLst>
          </p:cNvPr>
          <p:cNvCxnSpPr>
            <a:cxnSpLocks/>
          </p:cNvCxnSpPr>
          <p:nvPr/>
        </p:nvCxnSpPr>
        <p:spPr>
          <a:xfrm flipV="1">
            <a:off x="9253470" y="-22123"/>
            <a:ext cx="47760" cy="276479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DEAC701-6EE9-7DFA-B5B0-1B1D42603B72}"/>
              </a:ext>
            </a:extLst>
          </p:cNvPr>
          <p:cNvCxnSpPr>
            <a:cxnSpLocks/>
            <a:endCxn id="14" idx="6"/>
          </p:cNvCxnSpPr>
          <p:nvPr/>
        </p:nvCxnSpPr>
        <p:spPr>
          <a:xfrm>
            <a:off x="9251323" y="2590267"/>
            <a:ext cx="1244959" cy="1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1F63FB7-BCA6-915C-10BD-356EE537D79B}"/>
                  </a:ext>
                </a:extLst>
              </p:cNvPr>
              <p:cNvSpPr txBox="1"/>
              <p:nvPr/>
            </p:nvSpPr>
            <p:spPr>
              <a:xfrm>
                <a:off x="10367226" y="2720786"/>
                <a:ext cx="6053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1F63FB7-BCA6-915C-10BD-356EE537D7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7226" y="2720786"/>
                <a:ext cx="60530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1D52571-FDA7-2CE0-1864-7F95602D9DF2}"/>
                  </a:ext>
                </a:extLst>
              </p:cNvPr>
              <p:cNvSpPr txBox="1"/>
              <p:nvPr/>
            </p:nvSpPr>
            <p:spPr>
              <a:xfrm>
                <a:off x="10282934" y="1490636"/>
                <a:ext cx="1875362" cy="5373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|"/>
                          <m:endChr m:val="⟩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|"/>
                          <m:endChr m:val="⟩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1D52571-FDA7-2CE0-1864-7F95602D9D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2934" y="1490636"/>
                <a:ext cx="1875362" cy="53732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ADB30F1-438D-6FBF-2696-351EFD230816}"/>
                  </a:ext>
                </a:extLst>
              </p:cNvPr>
              <p:cNvSpPr txBox="1"/>
              <p:nvPr/>
            </p:nvSpPr>
            <p:spPr>
              <a:xfrm>
                <a:off x="8675531" y="935860"/>
                <a:ext cx="6053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ADB30F1-438D-6FBF-2696-351EFD2308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5531" y="935860"/>
                <a:ext cx="60530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FACA7BB-AFA1-8563-E07D-4EEAB5AF3DFC}"/>
              </a:ext>
            </a:extLst>
          </p:cNvPr>
          <p:cNvCxnSpPr>
            <a:cxnSpLocks/>
            <a:endCxn id="14" idx="0"/>
          </p:cNvCxnSpPr>
          <p:nvPr/>
        </p:nvCxnSpPr>
        <p:spPr>
          <a:xfrm flipV="1">
            <a:off x="9251323" y="1408410"/>
            <a:ext cx="49907" cy="1181857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5626588-7D79-3F39-3387-E72BEDAEA405}"/>
              </a:ext>
            </a:extLst>
          </p:cNvPr>
          <p:cNvCxnSpPr>
            <a:cxnSpLocks/>
            <a:endCxn id="14" idx="5"/>
          </p:cNvCxnSpPr>
          <p:nvPr/>
        </p:nvCxnSpPr>
        <p:spPr>
          <a:xfrm>
            <a:off x="9251323" y="2590267"/>
            <a:ext cx="894936" cy="8357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B28CC7F-974C-279F-C5D2-6C05A7F18667}"/>
              </a:ext>
            </a:extLst>
          </p:cNvPr>
          <p:cNvCxnSpPr>
            <a:cxnSpLocks/>
            <a:endCxn id="14" idx="7"/>
          </p:cNvCxnSpPr>
          <p:nvPr/>
        </p:nvCxnSpPr>
        <p:spPr>
          <a:xfrm flipV="1">
            <a:off x="9221543" y="1754568"/>
            <a:ext cx="924716" cy="88677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C8AF42A-9863-0DF9-74A4-E1AB76265E78}"/>
                  </a:ext>
                </a:extLst>
              </p:cNvPr>
              <p:cNvSpPr txBox="1"/>
              <p:nvPr/>
            </p:nvSpPr>
            <p:spPr>
              <a:xfrm>
                <a:off x="10176039" y="3220636"/>
                <a:ext cx="1888234" cy="5373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|"/>
                          <m:endChr m:val="⟩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|"/>
                          <m:endChr m:val="⟩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C8AF42A-9863-0DF9-74A4-E1AB76265E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6039" y="3220636"/>
                <a:ext cx="1888234" cy="53732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val 13">
            <a:extLst>
              <a:ext uri="{FF2B5EF4-FFF2-40B4-BE49-F238E27FC236}">
                <a16:creationId xmlns:a16="http://schemas.microsoft.com/office/drawing/2014/main" id="{03093474-404B-68D0-15CB-51DB82C6067D}"/>
              </a:ext>
            </a:extLst>
          </p:cNvPr>
          <p:cNvSpPr/>
          <p:nvPr/>
        </p:nvSpPr>
        <p:spPr>
          <a:xfrm>
            <a:off x="8106177" y="1408410"/>
            <a:ext cx="2390105" cy="2363715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3B104EF-A9FD-5258-F37E-4369A9DAAA73}"/>
                  </a:ext>
                </a:extLst>
              </p:cNvPr>
              <p:cNvSpPr txBox="1"/>
              <p:nvPr/>
            </p:nvSpPr>
            <p:spPr>
              <a:xfrm>
                <a:off x="9724289" y="2045696"/>
                <a:ext cx="622230" cy="5629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3B104EF-A9FD-5258-F37E-4369A9DAAA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4289" y="2045696"/>
                <a:ext cx="622230" cy="562975"/>
              </a:xfrm>
              <a:prstGeom prst="rect">
                <a:avLst/>
              </a:prstGeom>
              <a:blipFill>
                <a:blip r:embed="rId8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7D6F6CC-F6AB-3604-97DA-07DC65A0A8D2}"/>
              </a:ext>
            </a:extLst>
          </p:cNvPr>
          <p:cNvCxnSpPr>
            <a:cxnSpLocks/>
          </p:cNvCxnSpPr>
          <p:nvPr/>
        </p:nvCxnSpPr>
        <p:spPr>
          <a:xfrm flipV="1">
            <a:off x="9276276" y="1472498"/>
            <a:ext cx="448013" cy="1136173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19DC4D1-DE19-6899-A8C3-A1EF4FDC0D4C}"/>
                  </a:ext>
                </a:extLst>
              </p:cNvPr>
              <p:cNvSpPr txBox="1"/>
              <p:nvPr/>
            </p:nvSpPr>
            <p:spPr>
              <a:xfrm>
                <a:off x="9564514" y="855633"/>
                <a:ext cx="2261221" cy="6732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|1⟩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19DC4D1-DE19-6899-A8C3-A1EF4FDC0D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4514" y="855633"/>
                <a:ext cx="2261221" cy="673261"/>
              </a:xfrm>
              <a:prstGeom prst="rect">
                <a:avLst/>
              </a:prstGeom>
              <a:blipFill>
                <a:blip r:embed="rId9"/>
                <a:stretch>
                  <a:fillRect b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1509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6CE6A-BA57-7E64-BEF4-D974C2D03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Qubit Systems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F83763-EBF0-ABD6-F58F-5E3F884899AC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57507" y="1079653"/>
                <a:ext cx="7252390" cy="5253414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sz="2400" dirty="0"/>
                  <a:t>The state of a 2-electron system is a superposition of all possible 4 states, i.e., 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9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9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sz="19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e>
                    </m:d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sz="19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1900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19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sz="19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1900" i="1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sz="19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d>
                  </m:oMath>
                </a14:m>
                <a:endParaRPr lang="en-US" sz="1900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9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19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19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9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⟩</m:t>
                        </m:r>
                      </m:e>
                    </m:nary>
                  </m:oMath>
                </a14:m>
                <a:r>
                  <a:rPr lang="en-US" sz="1900" dirty="0"/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ℂ</m:t>
                    </m:r>
                  </m:oMath>
                </a14:m>
                <a:r>
                  <a:rPr lang="en-US" sz="1900" dirty="0"/>
                  <a:t>,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19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sz="19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9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9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 sz="19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nary>
                  </m:oMath>
                </a14:m>
                <a:endParaRPr lang="en-US" sz="1900" dirty="0"/>
              </a:p>
              <a:p>
                <a:r>
                  <a:rPr lang="en-US" sz="2400" dirty="0"/>
                  <a:t>When we measure, we will find the state to be one of the 4 - 00, 01, 10 and 11.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𝑃𝑟𝑜𝑏</m:t>
                    </m:r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(|00⟩)= </m:t>
                    </m:r>
                    <m:sSup>
                      <m:sSupPr>
                        <m:ctrlPr>
                          <a:rPr lang="en-US" sz="19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19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9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900" dirty="0"/>
                  <a:t>, and new state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9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9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900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p>
                            <m:r>
                              <a:rPr lang="en-US" sz="19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1900" i="1">
                        <a:latin typeface="Cambria Math" panose="02040503050406030204" pitchFamily="18" charset="0"/>
                      </a:rPr>
                      <m:t>|00⟩</m:t>
                    </m:r>
                  </m:oMath>
                </a14:m>
                <a:endParaRPr lang="en-US" sz="2600" dirty="0"/>
              </a:p>
              <a:p>
                <a:r>
                  <a:rPr lang="en-US" sz="2400" dirty="0"/>
                  <a:t>Partial Measurement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1900" i="1" dirty="0" smtClean="0">
                        <a:latin typeface="Cambria Math" panose="02040503050406030204" pitchFamily="18" charset="0"/>
                      </a:rPr>
                      <m:t>𝑃𝑟𝑜𝑏</m:t>
                    </m:r>
                    <m:d>
                      <m:dPr>
                        <m:ctrlPr>
                          <a:rPr lang="en-US" sz="19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900" i="1" dirty="0">
                            <a:latin typeface="Cambria Math" panose="02040503050406030204" pitchFamily="18" charset="0"/>
                          </a:rPr>
                          <m:t>𝑓𝑖𝑟𝑠𝑡</m:t>
                        </m:r>
                        <m:r>
                          <a:rPr lang="en-US" sz="19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900" i="1" dirty="0">
                            <a:latin typeface="Cambria Math" panose="02040503050406030204" pitchFamily="18" charset="0"/>
                          </a:rPr>
                          <m:t>𝑏𝑖𝑡</m:t>
                        </m:r>
                        <m:r>
                          <a:rPr lang="en-US" sz="19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900" i="1" dirty="0">
                            <a:latin typeface="Cambria Math" panose="02040503050406030204" pitchFamily="18" charset="0"/>
                          </a:rPr>
                          <m:t> 0</m:t>
                        </m:r>
                      </m:e>
                    </m:d>
                    <m:r>
                      <a:rPr lang="en-US" sz="19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|</m:t>
                    </m:r>
                    <m:sSup>
                      <m:sSupPr>
                        <m:ctrlPr>
                          <a:rPr lang="en-US" sz="19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sz="19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900">
                                <a:latin typeface="Cambria Math" panose="02040503050406030204" pitchFamily="18" charset="0"/>
                              </a:rPr>
                              <m:t>​</m:t>
                            </m:r>
                            <m:sSub>
                              <m:sSubPr>
                                <m:ctrlPr>
                                  <a:rPr lang="en-US" sz="19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9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sz="1900" b="0" i="1" smtClean="0">
                                    <a:latin typeface="Cambria Math" panose="02040503050406030204" pitchFamily="18" charset="0"/>
                                  </a:rPr>
                                  <m:t>00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900" i="1">
                        <a:latin typeface="Cambria Math" panose="02040503050406030204" pitchFamily="18" charset="0"/>
                      </a:rPr>
                      <m:t>|</m:t>
                    </m:r>
                    <m:sSup>
                      <m:sSupPr>
                        <m:ctrlPr>
                          <a:rPr lang="en-US" sz="19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sz="19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900">
                                <a:latin typeface="Cambria Math" panose="02040503050406030204" pitchFamily="18" charset="0"/>
                              </a:rPr>
                              <m:t>​</m:t>
                            </m:r>
                            <m:sSub>
                              <m:sSubPr>
                                <m:ctrlPr>
                                  <a:rPr lang="en-US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9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sz="19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1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1900" dirty="0"/>
              </a:p>
              <a:p>
                <a:pPr lvl="1"/>
                <a:r>
                  <a:rPr lang="en-US" sz="1900" dirty="0"/>
                  <a:t>In the state, cross-off all the state terms that are not consistent with the observation</a:t>
                </a:r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9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9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900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p>
                            <m:r>
                              <a:rPr lang="en-US" sz="19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19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00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sz="19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00</m:t>
                        </m:r>
                      </m:e>
                    </m:d>
                    <m:r>
                      <a:rPr lang="en-US" sz="19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01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sz="19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01</m:t>
                        </m:r>
                      </m:e>
                    </m:d>
                    <m:r>
                      <a:rPr lang="en-US" sz="1900" i="1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sz="1900" dirty="0"/>
                      <m:t> </m:t>
                    </m:r>
                    <m:sSub>
                      <m:sSubPr>
                        <m:ctrlPr>
                          <a:rPr lang="en-US" sz="1900" i="1" strike="sngStrik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strike="sngStrike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900" i="1" strike="sngStrike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sz="1900" i="1" strike="sngStrike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900" i="1" strike="sngStrike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  <m:r>
                      <a:rPr lang="en-US" sz="1900" i="1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sz="1900" i="1" strike="sngStrik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strike="sngStrike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900" i="1" strike="sngStrike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sz="1900" i="1" strike="sngStrike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900" i="1" strike="sngStrike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d>
                  </m:oMath>
                </a14:m>
                <a:endParaRPr lang="en-US" sz="1900" strike="sngStrike" dirty="0"/>
              </a:p>
              <a:p>
                <a:pPr lvl="1"/>
                <a:r>
                  <a:rPr lang="en-US" sz="1900" dirty="0"/>
                  <a:t>And then normalize the state</a:t>
                </a:r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9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9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900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p>
                            <m:r>
                              <a:rPr lang="en-US" sz="19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19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9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900" i="1">
                                <a:latin typeface="Cambria Math" panose="02040503050406030204" pitchFamily="18" charset="0"/>
                              </a:rPr>
                              <m:t>00</m:t>
                            </m:r>
                          </m:sub>
                        </m:sSub>
                        <m:d>
                          <m:dPr>
                            <m:begChr m:val="|"/>
                            <m:endChr m:val="⟩"/>
                            <m:ctrlPr>
                              <a:rPr lang="en-US" sz="19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900" i="1">
                                <a:latin typeface="Cambria Math" panose="02040503050406030204" pitchFamily="18" charset="0"/>
                              </a:rPr>
                              <m:t>00</m:t>
                            </m:r>
                          </m:e>
                        </m:d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900" i="1">
                                <a:latin typeface="Cambria Math" panose="02040503050406030204" pitchFamily="18" charset="0"/>
                              </a:rPr>
                              <m:t>01</m:t>
                            </m:r>
                          </m:sub>
                        </m:sSub>
                        <m:d>
                          <m:dPr>
                            <m:begChr m:val="|"/>
                            <m:endChr m:val="⟩"/>
                            <m:ctrlPr>
                              <a:rPr lang="en-US" sz="19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900" i="1">
                                <a:latin typeface="Cambria Math" panose="02040503050406030204" pitchFamily="18" charset="0"/>
                              </a:rPr>
                              <m:t>01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US" sz="190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9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p>
                              <m:sSupPr>
                                <m:ctrlPr>
                                  <a:rPr lang="en-US" sz="19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"/>
                                    <m:endChr m:val="|"/>
                                    <m:ctrlPr>
                                      <a:rPr lang="en-US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900">
                                        <a:latin typeface="Cambria Math" panose="02040503050406030204" pitchFamily="18" charset="0"/>
                                      </a:rPr>
                                      <m:t>​</m:t>
                                    </m:r>
                                    <m:sSub>
                                      <m:sSubPr>
                                        <m:ctrlPr>
                                          <a:rPr lang="en-US" sz="19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900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sz="1900" i="1">
                                            <a:latin typeface="Cambria Math" panose="02040503050406030204" pitchFamily="18" charset="0"/>
                                          </a:rPr>
                                          <m:t>00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sz="19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1900" i="1">
                                <a:latin typeface="Cambria Math" panose="02040503050406030204" pitchFamily="18" charset="0"/>
                              </a:rPr>
                              <m:t>+|</m:t>
                            </m:r>
                            <m:sSup>
                              <m:sSupPr>
                                <m:ctrlPr>
                                  <a:rPr lang="en-US" sz="19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"/>
                                    <m:endChr m:val="|"/>
                                    <m:ctrlPr>
                                      <a:rPr lang="en-US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900">
                                        <a:latin typeface="Cambria Math" panose="02040503050406030204" pitchFamily="18" charset="0"/>
                                      </a:rPr>
                                      <m:t>​</m:t>
                                    </m:r>
                                    <m:sSub>
                                      <m:sSubPr>
                                        <m:ctrlPr>
                                          <a:rPr lang="en-US" sz="19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900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sz="1900" i="1">
                                            <a:latin typeface="Cambria Math" panose="02040503050406030204" pitchFamily="18" charset="0"/>
                                          </a:rPr>
                                          <m:t>01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sz="19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endParaRPr lang="en-US" sz="19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F83763-EBF0-ABD6-F58F-5E3F884899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57507" y="1079653"/>
                <a:ext cx="7252390" cy="5253414"/>
              </a:xfrm>
              <a:blipFill>
                <a:blip r:embed="rId2"/>
                <a:stretch>
                  <a:fillRect l="-699" t="-1205" r="-1399" b="-60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8E3BA3D0-ED94-0647-64C9-70D15EE6E80E}"/>
              </a:ext>
            </a:extLst>
          </p:cNvPr>
          <p:cNvGrpSpPr/>
          <p:nvPr/>
        </p:nvGrpSpPr>
        <p:grpSpPr>
          <a:xfrm>
            <a:off x="10025841" y="300492"/>
            <a:ext cx="1866481" cy="1964927"/>
            <a:chOff x="9274628" y="2227748"/>
            <a:chExt cx="1866481" cy="1964927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00D67E5-2BC8-7197-F144-BB5F4F2255B5}"/>
                </a:ext>
              </a:extLst>
            </p:cNvPr>
            <p:cNvSpPr/>
            <p:nvPr/>
          </p:nvSpPr>
          <p:spPr>
            <a:xfrm>
              <a:off x="10038303" y="3155182"/>
              <a:ext cx="341644" cy="35169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041AF3D-9E92-E3C4-5B3A-67DC5D639027}"/>
                </a:ext>
              </a:extLst>
            </p:cNvPr>
            <p:cNvSpPr/>
            <p:nvPr/>
          </p:nvSpPr>
          <p:spPr>
            <a:xfrm>
              <a:off x="9620459" y="2792603"/>
              <a:ext cx="1177332" cy="1086897"/>
            </a:xfrm>
            <a:prstGeom prst="ellipse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1DED663-DC54-35E6-1D5A-73C4DF21A55A}"/>
                </a:ext>
              </a:extLst>
            </p:cNvPr>
            <p:cNvSpPr/>
            <p:nvPr/>
          </p:nvSpPr>
          <p:spPr>
            <a:xfrm>
              <a:off x="9274628" y="2401557"/>
              <a:ext cx="1866481" cy="1791118"/>
            </a:xfrm>
            <a:prstGeom prst="ellipse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8C19BBB4-445C-E9D6-A19F-9AAD6F950F00}"/>
                    </a:ext>
                  </a:extLst>
                </p:cNvPr>
                <p:cNvSpPr txBox="1"/>
                <p:nvPr/>
              </p:nvSpPr>
              <p:spPr>
                <a:xfrm>
                  <a:off x="9947868" y="2479428"/>
                  <a:ext cx="43207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22C578AD-4411-EA12-39FE-6BED7FAE0B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47868" y="2479428"/>
                  <a:ext cx="432079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9D7F1DA6-B1F2-A33D-6445-6346F3BC07AE}"/>
                    </a:ext>
                  </a:extLst>
                </p:cNvPr>
                <p:cNvSpPr txBox="1"/>
                <p:nvPr/>
              </p:nvSpPr>
              <p:spPr>
                <a:xfrm>
                  <a:off x="10709030" y="2227748"/>
                  <a:ext cx="43207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668EB3E-2962-399B-61C6-A03AE06B68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09030" y="2227748"/>
                  <a:ext cx="432079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03AD929-4119-7CDD-D582-1B682BA4C65B}"/>
              </a:ext>
            </a:extLst>
          </p:cNvPr>
          <p:cNvGrpSpPr/>
          <p:nvPr/>
        </p:nvGrpSpPr>
        <p:grpSpPr>
          <a:xfrm>
            <a:off x="7827741" y="300547"/>
            <a:ext cx="1866481" cy="1964927"/>
            <a:chOff x="9274628" y="2227748"/>
            <a:chExt cx="1866481" cy="1964927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F05E6EE-E1BD-ACD0-8A7E-058669638F4A}"/>
                </a:ext>
              </a:extLst>
            </p:cNvPr>
            <p:cNvSpPr/>
            <p:nvPr/>
          </p:nvSpPr>
          <p:spPr>
            <a:xfrm>
              <a:off x="10038303" y="3155182"/>
              <a:ext cx="341644" cy="35169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D3F5BAB-A36D-6A6B-DA0B-4BBBF4AB3787}"/>
                </a:ext>
              </a:extLst>
            </p:cNvPr>
            <p:cNvSpPr/>
            <p:nvPr/>
          </p:nvSpPr>
          <p:spPr>
            <a:xfrm>
              <a:off x="9620459" y="2792603"/>
              <a:ext cx="1177332" cy="1086897"/>
            </a:xfrm>
            <a:prstGeom prst="ellipse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01A9014-145D-2E2C-CBA0-0E39A21D9FEF}"/>
                </a:ext>
              </a:extLst>
            </p:cNvPr>
            <p:cNvSpPr/>
            <p:nvPr/>
          </p:nvSpPr>
          <p:spPr>
            <a:xfrm>
              <a:off x="9274628" y="2401557"/>
              <a:ext cx="1866481" cy="1791118"/>
            </a:xfrm>
            <a:prstGeom prst="ellipse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470A889E-BF73-BF62-63F7-85BEA2C83B93}"/>
                    </a:ext>
                  </a:extLst>
                </p:cNvPr>
                <p:cNvSpPr txBox="1"/>
                <p:nvPr/>
              </p:nvSpPr>
              <p:spPr>
                <a:xfrm>
                  <a:off x="9947868" y="2479428"/>
                  <a:ext cx="43207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22C578AD-4411-EA12-39FE-6BED7FAE0B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47868" y="2479428"/>
                  <a:ext cx="432079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8BCA46A6-1832-D072-4AAE-52D44C2E4BA2}"/>
                    </a:ext>
                  </a:extLst>
                </p:cNvPr>
                <p:cNvSpPr txBox="1"/>
                <p:nvPr/>
              </p:nvSpPr>
              <p:spPr>
                <a:xfrm>
                  <a:off x="10709030" y="2227748"/>
                  <a:ext cx="43207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668EB3E-2962-399B-61C6-A03AE06B68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09030" y="2227748"/>
                  <a:ext cx="432079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DC48C84-2B45-A958-60F5-101D6B6D15B4}"/>
                  </a:ext>
                </a:extLst>
              </p:cNvPr>
              <p:cNvSpPr txBox="1"/>
              <p:nvPr/>
            </p:nvSpPr>
            <p:spPr>
              <a:xfrm>
                <a:off x="7827742" y="2343290"/>
                <a:ext cx="4206752" cy="365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0070C0"/>
                    </a:solidFill>
                  </a:rPr>
                  <a:t>Example: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+ </m:t>
                          </m:r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00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01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|11⟩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𝑃𝑟𝑜𝑏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(|00⟩)=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𝑃𝑟𝑜𝑏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(|01⟩)=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𝑃𝑟𝑜𝑏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(|10⟩)=0, 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𝑃𝑟𝑜𝑏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(|11⟩)=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b="0" dirty="0">
                  <a:solidFill>
                    <a:srgbClr val="0070C0"/>
                  </a:solidFill>
                </a:endParaRPr>
              </a:p>
              <a:p>
                <a:endParaRPr lang="en-US" i="1" dirty="0">
                  <a:solidFill>
                    <a:srgbClr val="0070C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𝑃𝑟𝑜𝑏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𝑓𝑖𝑟𝑠𝑡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𝑏𝑖𝑡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b="0" dirty="0">
                  <a:solidFill>
                    <a:srgbClr val="0070C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sz="18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8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p>
                              <m:r>
                                <a:rPr lang="en-US" sz="18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sz="1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+ </m:t>
                              </m:r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num>
                                <m:den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d>
                            <m:dPr>
                              <m:begChr m:val="|"/>
                              <m:endChr m:val="⟩"/>
                              <m:ctrlP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00</m:t>
                              </m:r>
                            </m:e>
                          </m:d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d>
                            <m:dPr>
                              <m:begChr m:val="|"/>
                              <m:endChr m:val="⟩"/>
                              <m:ctrlP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01</m:t>
                              </m:r>
                            </m:e>
                          </m:d>
                        </m:num>
                        <m:den>
                          <m:f>
                            <m:fPr>
                              <m:ctrlPr>
                                <a:rPr lang="en-US" sz="18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sz="18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en-US" b="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DC48C84-2B45-A958-60F5-101D6B6D15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7742" y="2343290"/>
                <a:ext cx="4206752" cy="3658246"/>
              </a:xfrm>
              <a:prstGeom prst="rect">
                <a:avLst/>
              </a:prstGeom>
              <a:blipFill>
                <a:blip r:embed="rId6"/>
                <a:stretch>
                  <a:fillRect l="-1205" t="-692" b="-3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66267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7485D-ED06-C7F6-4A35-5D8087A28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Entanglement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BC61E3-FC70-3E70-53DF-90B3EBB0AB8B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57507" y="1032691"/>
                <a:ext cx="5835669" cy="5379126"/>
              </a:xfrm>
            </p:spPr>
            <p:txBody>
              <a:bodyPr>
                <a:normAutofit fontScale="62500" lnSpcReduction="20000"/>
              </a:bodyPr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State of 1</a:t>
                </a:r>
                <a:r>
                  <a:rPr lang="en-US" sz="2400" baseline="30000" dirty="0">
                    <a:solidFill>
                      <a:schemeClr val="tx1"/>
                    </a:solidFill>
                  </a:rPr>
                  <a:t>st</a:t>
                </a:r>
                <a:r>
                  <a:rPr lang="en-US" sz="2400" dirty="0">
                    <a:solidFill>
                      <a:schemeClr val="tx1"/>
                    </a:solidFill>
                  </a:rPr>
                  <a:t> qubit: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|1⟩</m:t>
                    </m:r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State of 2</a:t>
                </a:r>
                <a:r>
                  <a:rPr lang="en-US" sz="2400" baseline="30000" dirty="0">
                    <a:solidFill>
                      <a:schemeClr val="tx1"/>
                    </a:solidFill>
                  </a:rPr>
                  <a:t>nd</a:t>
                </a:r>
                <a:r>
                  <a:rPr lang="en-US" sz="2400" dirty="0">
                    <a:solidFill>
                      <a:schemeClr val="tx1"/>
                    </a:solidFill>
                  </a:rPr>
                  <a:t> qubit: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|1⟩</m:t>
                    </m:r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State of the whole system: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(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|1⟩)⨂(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|1⟩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00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01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1⟩</m:t>
                    </m:r>
                  </m:oMath>
                </a14:m>
                <a:endParaRPr lang="en-US" sz="2000" dirty="0">
                  <a:solidFill>
                    <a:srgbClr val="0070C0"/>
                  </a:solidFill>
                </a:endParaRPr>
              </a:p>
              <a:p>
                <a:r>
                  <a:rPr lang="en-US" sz="2400" dirty="0"/>
                  <a:t>Example: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000" dirty="0"/>
                  <a:t>,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|1⟩</m:t>
                    </m:r>
                  </m:oMath>
                </a14:m>
                <a:endParaRPr lang="en-US" sz="2000" dirty="0"/>
              </a:p>
              <a:p>
                <a:pPr lvl="1"/>
                <a:r>
                  <a:rPr lang="en-US" sz="2000" dirty="0"/>
                  <a:t>Then joint state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d>
                  </m:oMath>
                </a14:m>
                <a:endParaRPr lang="en-US" sz="2000" dirty="0"/>
              </a:p>
              <a:p>
                <a:r>
                  <a:rPr lang="en-US" sz="2400" dirty="0"/>
                  <a:t>Given the composite state, find the individual states of the qubits?</a:t>
                </a:r>
              </a:p>
              <a:p>
                <a:pPr lvl="1"/>
                <a:r>
                  <a:rPr lang="en-US" sz="2000" dirty="0"/>
                  <a:t>Assume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sz="20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00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00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>
                        <a:latin typeface="Cambria Math" panose="02040503050406030204" pitchFamily="18" charset="0"/>
                      </a:rPr>
                      <m:t>|1⟩</m:t>
                    </m:r>
                  </m:oMath>
                </a14:m>
                <a:r>
                  <a:rPr lang="en-US" sz="2000" dirty="0"/>
                  <a:t>,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sz="20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0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00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sz="2000" dirty="0"/>
              </a:p>
              <a:p>
                <a:pPr lvl="1"/>
                <a:r>
                  <a:rPr lang="en-US" sz="2000" dirty="0"/>
                  <a:t>Then combined state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00</m:t>
                        </m:r>
                      </m:e>
                    </m:d>
                    <m:r>
                      <a:rPr lang="en-US" sz="200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01</m:t>
                        </m:r>
                      </m:e>
                    </m:d>
                    <m:r>
                      <a:rPr lang="en-US" sz="200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  <m:r>
                      <a:rPr lang="en-US" sz="200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>
                        <a:latin typeface="Cambria Math" panose="02040503050406030204" pitchFamily="18" charset="0"/>
                      </a:rPr>
                      <m:t>|11⟩</m:t>
                    </m:r>
                  </m:oMath>
                </a14:m>
                <a:endParaRPr lang="en-US" sz="2000" dirty="0"/>
              </a:p>
              <a:p>
                <a:pPr lvl="1"/>
                <a:r>
                  <a:rPr lang="en-US" sz="20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00</m:t>
                        </m:r>
                      </m:e>
                    </m:d>
                    <m:r>
                      <a:rPr lang="en-US" sz="200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sz="2000"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01</m:t>
                        </m:r>
                      </m:e>
                    </m:d>
                    <m:r>
                      <a:rPr lang="en-US" sz="200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  <m:r>
                      <a:rPr lang="en-US" sz="2000"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sz="2000"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d>
                  </m:oMath>
                </a14:m>
                <a:endParaRPr lang="en-US" sz="2000" dirty="0"/>
              </a:p>
              <a:p>
                <a:pPr lvl="1"/>
                <a:r>
                  <a:rPr lang="en-US" sz="2000" dirty="0"/>
                  <a:t>=&gt;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sz="2000"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sz="2000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sz="2000"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lang="en-US" sz="2000" dirty="0"/>
              </a:p>
              <a:p>
                <a:pPr lvl="1"/>
                <a:r>
                  <a:rPr lang="en-US" sz="2000" dirty="0"/>
                  <a:t>=&gt;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en-US" sz="2000" dirty="0"/>
                  <a:t>,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lang="en-US" sz="2000" dirty="0"/>
              </a:p>
              <a:p>
                <a:pPr lvl="1"/>
                <a:r>
                  <a:rPr lang="en-US" sz="2000" dirty="0"/>
                  <a:t>=&gt;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lang="en-US" sz="2000" dirty="0"/>
              </a:p>
              <a:p>
                <a:pPr lvl="1"/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, then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000" dirty="0"/>
                  <a:t>,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000" dirty="0"/>
              </a:p>
              <a:p>
                <a:pPr lvl="1"/>
                <a:r>
                  <a:rPr lang="en-US" sz="2000" dirty="0"/>
                  <a:t>=&gt;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000" dirty="0"/>
                  <a:t>, or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 =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lang="en-US" sz="2000" dirty="0"/>
              </a:p>
              <a:p>
                <a:pPr lvl="1"/>
                <a:r>
                  <a:rPr lang="en-US" sz="2000" dirty="0"/>
                  <a:t>=&gt;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sz="200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p>
                    </m:sSup>
                    <m:d>
                      <m:dPr>
                        <m:begChr m:val="|"/>
                        <m:endChr m:val="⟩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p>
                    </m:sSup>
                    <m:d>
                      <m:dPr>
                        <m:begChr m:val="|"/>
                        <m:endChr m:val="⟩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𝜃</m:t>
                        </m:r>
                      </m:sup>
                    </m:sSup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BC61E3-FC70-3E70-53DF-90B3EBB0AB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57507" y="1032691"/>
                <a:ext cx="5835669" cy="5379126"/>
              </a:xfrm>
              <a:blipFill>
                <a:blip r:embed="rId2"/>
                <a:stretch>
                  <a:fillRect t="-9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7DE3F812-F04A-8B99-15E1-F52C92DCFAB8}"/>
              </a:ext>
            </a:extLst>
          </p:cNvPr>
          <p:cNvGrpSpPr/>
          <p:nvPr/>
        </p:nvGrpSpPr>
        <p:grpSpPr>
          <a:xfrm>
            <a:off x="10025841" y="300492"/>
            <a:ext cx="1866481" cy="1964927"/>
            <a:chOff x="9274628" y="2227748"/>
            <a:chExt cx="1866481" cy="1964927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24BD703-6840-5918-241E-5B1A49C74515}"/>
                </a:ext>
              </a:extLst>
            </p:cNvPr>
            <p:cNvSpPr/>
            <p:nvPr/>
          </p:nvSpPr>
          <p:spPr>
            <a:xfrm>
              <a:off x="10038303" y="3155182"/>
              <a:ext cx="341644" cy="35169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AEA5ADC-7831-19CB-9ADE-A39C39724D60}"/>
                </a:ext>
              </a:extLst>
            </p:cNvPr>
            <p:cNvSpPr/>
            <p:nvPr/>
          </p:nvSpPr>
          <p:spPr>
            <a:xfrm>
              <a:off x="9620459" y="2792603"/>
              <a:ext cx="1177332" cy="1086897"/>
            </a:xfrm>
            <a:prstGeom prst="ellipse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1AA02D3-611B-5883-AB4B-4CC513AEDD30}"/>
                </a:ext>
              </a:extLst>
            </p:cNvPr>
            <p:cNvSpPr/>
            <p:nvPr/>
          </p:nvSpPr>
          <p:spPr>
            <a:xfrm>
              <a:off x="9274628" y="2401557"/>
              <a:ext cx="1866481" cy="1791118"/>
            </a:xfrm>
            <a:prstGeom prst="ellipse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5787820B-9D19-1EFA-308A-D8276CCC5B34}"/>
                    </a:ext>
                  </a:extLst>
                </p:cNvPr>
                <p:cNvSpPr txBox="1"/>
                <p:nvPr/>
              </p:nvSpPr>
              <p:spPr>
                <a:xfrm>
                  <a:off x="9947868" y="2479428"/>
                  <a:ext cx="43207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22C578AD-4411-EA12-39FE-6BED7FAE0B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47868" y="2479428"/>
                  <a:ext cx="432079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313E7B52-6147-5307-AE4F-A279B138206C}"/>
                    </a:ext>
                  </a:extLst>
                </p:cNvPr>
                <p:cNvSpPr txBox="1"/>
                <p:nvPr/>
              </p:nvSpPr>
              <p:spPr>
                <a:xfrm>
                  <a:off x="10709030" y="2227748"/>
                  <a:ext cx="43207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668EB3E-2962-399B-61C6-A03AE06B68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09030" y="2227748"/>
                  <a:ext cx="432079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2A7AC28-26F0-8517-2FE2-1BC4DADFE8E4}"/>
              </a:ext>
            </a:extLst>
          </p:cNvPr>
          <p:cNvGrpSpPr/>
          <p:nvPr/>
        </p:nvGrpSpPr>
        <p:grpSpPr>
          <a:xfrm>
            <a:off x="7827741" y="300547"/>
            <a:ext cx="1866481" cy="1964927"/>
            <a:chOff x="9274628" y="2227748"/>
            <a:chExt cx="1866481" cy="1964927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425D1E9-D604-6118-A3F4-9125C21B7359}"/>
                </a:ext>
              </a:extLst>
            </p:cNvPr>
            <p:cNvSpPr/>
            <p:nvPr/>
          </p:nvSpPr>
          <p:spPr>
            <a:xfrm>
              <a:off x="10038303" y="3155182"/>
              <a:ext cx="341644" cy="35169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86AD01D-07B0-79D2-859E-7A0B4AFAF96C}"/>
                </a:ext>
              </a:extLst>
            </p:cNvPr>
            <p:cNvSpPr/>
            <p:nvPr/>
          </p:nvSpPr>
          <p:spPr>
            <a:xfrm>
              <a:off x="9620459" y="2792603"/>
              <a:ext cx="1177332" cy="1086897"/>
            </a:xfrm>
            <a:prstGeom prst="ellipse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B355AE6-DF91-F91E-576B-BAC422599C90}"/>
                </a:ext>
              </a:extLst>
            </p:cNvPr>
            <p:cNvSpPr/>
            <p:nvPr/>
          </p:nvSpPr>
          <p:spPr>
            <a:xfrm>
              <a:off x="9274628" y="2401557"/>
              <a:ext cx="1866481" cy="1791118"/>
            </a:xfrm>
            <a:prstGeom prst="ellipse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702DAD22-BB3F-6B3D-93D5-17689A31F0FF}"/>
                    </a:ext>
                  </a:extLst>
                </p:cNvPr>
                <p:cNvSpPr txBox="1"/>
                <p:nvPr/>
              </p:nvSpPr>
              <p:spPr>
                <a:xfrm>
                  <a:off x="9947868" y="2479428"/>
                  <a:ext cx="43207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22C578AD-4411-EA12-39FE-6BED7FAE0B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47868" y="2479428"/>
                  <a:ext cx="432079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2DD2068D-34D2-64B7-CAB2-72FC74306799}"/>
                    </a:ext>
                  </a:extLst>
                </p:cNvPr>
                <p:cNvSpPr txBox="1"/>
                <p:nvPr/>
              </p:nvSpPr>
              <p:spPr>
                <a:xfrm>
                  <a:off x="10709030" y="2227748"/>
                  <a:ext cx="43207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668EB3E-2962-399B-61C6-A03AE06B68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09030" y="2227748"/>
                  <a:ext cx="432079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A87B758-BE7E-F7CC-5BB1-37E89F43D995}"/>
                  </a:ext>
                </a:extLst>
              </p:cNvPr>
              <p:cNvSpPr txBox="1"/>
              <p:nvPr/>
            </p:nvSpPr>
            <p:spPr>
              <a:xfrm>
                <a:off x="8082215" y="2411457"/>
                <a:ext cx="1524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|1⟩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A87B758-BE7E-F7CC-5BB1-37E89F43D9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2215" y="2411457"/>
                <a:ext cx="1524000" cy="369332"/>
              </a:xfrm>
              <a:prstGeom prst="rect">
                <a:avLst/>
              </a:prstGeom>
              <a:blipFill>
                <a:blip r:embed="rId6"/>
                <a:stretch>
                  <a:fillRect b="-17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2C8FB91-3FF4-56A7-A47D-4FF2D6B0841E}"/>
                  </a:ext>
                </a:extLst>
              </p:cNvPr>
              <p:cNvSpPr txBox="1"/>
              <p:nvPr/>
            </p:nvSpPr>
            <p:spPr>
              <a:xfrm>
                <a:off x="10278533" y="2411457"/>
                <a:ext cx="1524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|1⟩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2C8FB91-3FF4-56A7-A47D-4FF2D6B084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8533" y="2411457"/>
                <a:ext cx="1524000" cy="369332"/>
              </a:xfrm>
              <a:prstGeom prst="rect">
                <a:avLst/>
              </a:prstGeom>
              <a:blipFill>
                <a:blip r:embed="rId7"/>
                <a:stretch>
                  <a:fillRect b="-17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2">
                <a:extLst>
                  <a:ext uri="{FF2B5EF4-FFF2-40B4-BE49-F238E27FC236}">
                    <a16:creationId xmlns:a16="http://schemas.microsoft.com/office/drawing/2014/main" id="{31AD0D13-00BC-C24C-1A53-813B4D48246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56331" y="3722254"/>
                <a:ext cx="5835669" cy="2379643"/>
              </a:xfrm>
              <a:prstGeom prst="rect">
                <a:avLst/>
              </a:prstGeom>
            </p:spPr>
            <p:txBody>
              <a:bodyPr vert="horz">
                <a:normAutofit lnSpcReduction="10000"/>
              </a:bodyPr>
              <a:lstStyle>
                <a:lvl1pPr marL="274320" indent="-274320" algn="l" rtl="0" eaLnBrk="1" latinLnBrk="0" hangingPunct="1"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/>
                  <a:buChar char=""/>
                  <a:defRPr kumimoji="0" sz="2800" kern="1200">
                    <a:solidFill>
                      <a:schemeClr val="tx1"/>
                    </a:solidFill>
                    <a:latin typeface="Candara" pitchFamily="34" charset="0"/>
                    <a:ea typeface="+mn-ea"/>
                    <a:cs typeface="+mn-cs"/>
                  </a:defRPr>
                </a:lvl1pPr>
                <a:lvl2pPr marL="548640" indent="-274320" algn="l" rtl="0" eaLnBrk="1" latinLnBrk="0" hangingPunct="1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/>
                  <a:buChar char=""/>
                  <a:defRPr kumimoji="0" sz="2400" kern="1200">
                    <a:solidFill>
                      <a:srgbClr val="002060"/>
                    </a:solidFill>
                    <a:latin typeface="Candara" pitchFamily="34" charset="0"/>
                    <a:ea typeface="+mn-ea"/>
                    <a:cs typeface="+mn-cs"/>
                  </a:defRPr>
                </a:lvl2pPr>
                <a:lvl3pPr marL="822960" indent="-228600" algn="l" rtl="0" eaLnBrk="1" latinLnBrk="0" hangingPunct="1">
                  <a:spcBef>
                    <a:spcPts val="500"/>
                  </a:spcBef>
                  <a:buClr>
                    <a:schemeClr val="bg1">
                      <a:shade val="50000"/>
                    </a:schemeClr>
                  </a:buClr>
                  <a:buSzPct val="76000"/>
                  <a:buFont typeface="Wingdings 3"/>
                  <a:buChar char=""/>
                  <a:defRPr kumimoji="0" sz="2400" kern="1200">
                    <a:solidFill>
                      <a:srgbClr val="006600"/>
                    </a:solidFill>
                    <a:latin typeface="Candara" pitchFamily="34" charset="0"/>
                    <a:ea typeface="+mn-ea"/>
                    <a:cs typeface="+mn-cs"/>
                  </a:defRPr>
                </a:lvl3pPr>
                <a:lvl4pPr marL="1097280" indent="-228600" algn="l" rtl="0" eaLnBrk="1" latinLnBrk="0" hangingPunct="1">
                  <a:spcBef>
                    <a:spcPts val="400"/>
                  </a:spcBef>
                  <a:buClr>
                    <a:schemeClr val="accent2">
                      <a:shade val="75000"/>
                    </a:schemeClr>
                  </a:buClr>
                  <a:buSzPct val="70000"/>
                  <a:buFont typeface="Wingdings"/>
                  <a:buChar char=""/>
                  <a:defRPr kumimoji="0" sz="2000" kern="1200">
                    <a:solidFill>
                      <a:schemeClr val="tx1"/>
                    </a:solidFill>
                    <a:latin typeface="Candara" pitchFamily="34" charset="0"/>
                    <a:ea typeface="+mn-ea"/>
                    <a:cs typeface="+mn-cs"/>
                  </a:defRPr>
                </a:lvl4pPr>
                <a:lvl5pPr marL="1371600" indent="-228600" algn="l" rtl="0" eaLnBrk="1" latinLnBrk="0" hangingPunct="1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/>
                  <a:buChar char=""/>
                  <a:defRPr kumimoji="0" sz="1800" kern="1200">
                    <a:solidFill>
                      <a:schemeClr val="tx1"/>
                    </a:solidFill>
                    <a:latin typeface="Candara" pitchFamily="34" charset="0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600" dirty="0"/>
                  <a:t>Now consider,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1600" dirty="0"/>
                  <a:t>, find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600" dirty="0"/>
                  <a:t>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sz="1600" dirty="0"/>
              </a:p>
              <a:p>
                <a:pPr lvl="1"/>
                <a:r>
                  <a:rPr lang="en-US" sz="1400" dirty="0"/>
                  <a:t> Assume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sz="14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140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140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>
                        <a:latin typeface="Cambria Math" panose="02040503050406030204" pitchFamily="18" charset="0"/>
                      </a:rPr>
                      <m:t>|1⟩</m:t>
                    </m:r>
                  </m:oMath>
                </a14:m>
                <a:r>
                  <a:rPr lang="en-US" sz="1400" dirty="0"/>
                  <a:t>,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sz="14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14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140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sz="140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sz="1400" dirty="0"/>
                  <a:t>Then,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40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sz="1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400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40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lang="en-US" sz="1400" dirty="0"/>
              </a:p>
              <a:p>
                <a:pPr lvl="1"/>
                <a:r>
                  <a:rPr lang="en-US" sz="1400" dirty="0"/>
                  <a:t>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400" dirty="0"/>
                  <a:t>, either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400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1400" dirty="0"/>
              </a:p>
              <a:p>
                <a:pPr lvl="1"/>
                <a:r>
                  <a:rPr lang="en-US" sz="14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400" dirty="0"/>
                  <a:t>, then how can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40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sz="1400" dirty="0"/>
                  <a:t> ?</a:t>
                </a:r>
              </a:p>
              <a:p>
                <a:pPr lvl="1"/>
                <a:r>
                  <a:rPr lang="en-US" sz="14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400" dirty="0"/>
                  <a:t>, then how can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40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sz="1400" dirty="0"/>
                  <a:t> ?</a:t>
                </a:r>
              </a:p>
              <a:p>
                <a:r>
                  <a:rPr lang="en-US" sz="1600" dirty="0"/>
                  <a:t>Conclusion: Cannot factor out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600" dirty="0"/>
                  <a:t>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600" dirty="0"/>
                  <a:t> from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</m:oMath>
                </a14:m>
                <a:r>
                  <a:rPr lang="en-US" sz="1600" dirty="0"/>
                  <a:t>.</a:t>
                </a:r>
              </a:p>
            </p:txBody>
          </p:sp>
        </mc:Choice>
        <mc:Fallback xmlns="">
          <p:sp>
            <p:nvSpPr>
              <p:cNvPr id="18" name="Content Placeholder 2">
                <a:extLst>
                  <a:ext uri="{FF2B5EF4-FFF2-40B4-BE49-F238E27FC236}">
                    <a16:creationId xmlns:a16="http://schemas.microsoft.com/office/drawing/2014/main" id="{31AD0D13-00BC-C24C-1A53-813B4D4824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6331" y="3722254"/>
                <a:ext cx="5835669" cy="23796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2722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9D365-7AB1-C8EB-1CD8-A620E8CBB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the Bell state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058053-1095-FD5F-97D2-A26DB2601D6B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64265" y="921503"/>
                <a:ext cx="5684098" cy="5468279"/>
              </a:xfrm>
            </p:spPr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𝑃𝑟𝑜𝑏</m:t>
                    </m:r>
                    <m:d>
                      <m:d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𝑓𝑖𝑟𝑠𝑡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𝑞𝑢𝑏𝑖𝑡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2000" b="0" dirty="0"/>
              </a:p>
              <a:p>
                <a:r>
                  <a:rPr lang="en-US" sz="2000" dirty="0"/>
                  <a:t>State of the system after measurement =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=|00⟩</m:t>
                    </m:r>
                  </m:oMath>
                </a14:m>
                <a:endParaRPr lang="en-US" sz="2000" dirty="0"/>
              </a:p>
              <a:p>
                <a:r>
                  <a:rPr lang="en-US" sz="2000" dirty="0"/>
                  <a:t>After this if we measure the second qubit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𝑃𝑟𝑜𝑏</m:t>
                    </m:r>
                    <m:d>
                      <m:dPr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𝑠𝑒𝑐𝑜𝑛𝑑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𝑞𝑢𝑏𝑖𝑡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1600" dirty="0"/>
              </a:p>
              <a:p>
                <a:endParaRPr lang="en-US" sz="2000" dirty="0"/>
              </a:p>
              <a:p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𝑃𝑟𝑜𝑏</m:t>
                    </m:r>
                    <m:d>
                      <m:d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𝑓𝑖𝑟𝑠𝑡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𝑞𝑢𝑏𝑖𝑡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2000" b="0" dirty="0"/>
              </a:p>
              <a:p>
                <a:r>
                  <a:rPr lang="en-US" sz="2000" dirty="0"/>
                  <a:t>State of the system after measurement =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=|11⟩</m:t>
                    </m:r>
                  </m:oMath>
                </a14:m>
                <a:endParaRPr lang="en-US" sz="2000" dirty="0"/>
              </a:p>
              <a:p>
                <a:r>
                  <a:rPr lang="en-US" sz="2000" dirty="0"/>
                  <a:t>After this if we measure the second qubit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𝑃𝑟𝑜𝑏</m:t>
                    </m:r>
                    <m:d>
                      <m:dPr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𝑠𝑒𝑐𝑜𝑛𝑑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𝑞𝑢𝑏𝑖𝑡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1600" dirty="0"/>
              </a:p>
              <a:p>
                <a:endParaRPr lang="en-US" sz="2000" dirty="0"/>
              </a:p>
              <a:p>
                <a:r>
                  <a:rPr lang="en-US" sz="2000" dirty="0"/>
                  <a:t>The entanglement of the two particles is preserved even if the particles once entangled are separated by long distances.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058053-1095-FD5F-97D2-A26DB2601D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64265" y="921503"/>
                <a:ext cx="5684098" cy="5468279"/>
              </a:xfrm>
              <a:blipFill>
                <a:blip r:embed="rId2"/>
                <a:stretch>
                  <a:fillRect l="-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36614263-ADA6-150E-7070-D554563C93FE}"/>
              </a:ext>
            </a:extLst>
          </p:cNvPr>
          <p:cNvGrpSpPr/>
          <p:nvPr/>
        </p:nvGrpSpPr>
        <p:grpSpPr>
          <a:xfrm>
            <a:off x="10025841" y="300492"/>
            <a:ext cx="1866481" cy="1964927"/>
            <a:chOff x="9274628" y="2227748"/>
            <a:chExt cx="1866481" cy="1964927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6B9C8948-5D20-8C75-4B5F-DC9CDE24402B}"/>
                </a:ext>
              </a:extLst>
            </p:cNvPr>
            <p:cNvSpPr/>
            <p:nvPr/>
          </p:nvSpPr>
          <p:spPr>
            <a:xfrm>
              <a:off x="10038303" y="3155182"/>
              <a:ext cx="341644" cy="35169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4D814B0-CB4E-B858-1E7C-71434977A426}"/>
                </a:ext>
              </a:extLst>
            </p:cNvPr>
            <p:cNvSpPr/>
            <p:nvPr/>
          </p:nvSpPr>
          <p:spPr>
            <a:xfrm>
              <a:off x="9620459" y="2792603"/>
              <a:ext cx="1177332" cy="1086897"/>
            </a:xfrm>
            <a:prstGeom prst="ellipse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29614FDF-E649-0F08-07CF-AAD12603329A}"/>
                </a:ext>
              </a:extLst>
            </p:cNvPr>
            <p:cNvSpPr/>
            <p:nvPr/>
          </p:nvSpPr>
          <p:spPr>
            <a:xfrm>
              <a:off x="9274628" y="2401557"/>
              <a:ext cx="1866481" cy="1791118"/>
            </a:xfrm>
            <a:prstGeom prst="ellipse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85CB1D10-3EB7-735B-F8B8-0C8450AAFC9B}"/>
                    </a:ext>
                  </a:extLst>
                </p:cNvPr>
                <p:cNvSpPr txBox="1"/>
                <p:nvPr/>
              </p:nvSpPr>
              <p:spPr>
                <a:xfrm>
                  <a:off x="9947868" y="2479428"/>
                  <a:ext cx="43207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22C578AD-4411-EA12-39FE-6BED7FAE0B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47868" y="2479428"/>
                  <a:ext cx="432079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E8A1A86A-97EC-05FD-5465-1228D5DFC011}"/>
                    </a:ext>
                  </a:extLst>
                </p:cNvPr>
                <p:cNvSpPr txBox="1"/>
                <p:nvPr/>
              </p:nvSpPr>
              <p:spPr>
                <a:xfrm>
                  <a:off x="10709030" y="2227748"/>
                  <a:ext cx="43207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668EB3E-2962-399B-61C6-A03AE06B68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09030" y="2227748"/>
                  <a:ext cx="432079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0612638-7175-7758-4E80-745DAA62E075}"/>
              </a:ext>
            </a:extLst>
          </p:cNvPr>
          <p:cNvGrpSpPr/>
          <p:nvPr/>
        </p:nvGrpSpPr>
        <p:grpSpPr>
          <a:xfrm>
            <a:off x="7827741" y="300547"/>
            <a:ext cx="1866481" cy="1964927"/>
            <a:chOff x="9274628" y="2227748"/>
            <a:chExt cx="1866481" cy="1964927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CA08869-F745-384D-DCE1-2CCB5AAFEE9A}"/>
                </a:ext>
              </a:extLst>
            </p:cNvPr>
            <p:cNvSpPr/>
            <p:nvPr/>
          </p:nvSpPr>
          <p:spPr>
            <a:xfrm>
              <a:off x="10038303" y="3155182"/>
              <a:ext cx="341644" cy="35169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68EEBEC-1E0F-A461-EA09-235A3BDAF5FB}"/>
                </a:ext>
              </a:extLst>
            </p:cNvPr>
            <p:cNvSpPr/>
            <p:nvPr/>
          </p:nvSpPr>
          <p:spPr>
            <a:xfrm>
              <a:off x="9620459" y="2792603"/>
              <a:ext cx="1177332" cy="1086897"/>
            </a:xfrm>
            <a:prstGeom prst="ellipse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1D841BD-46F9-DE64-5364-5A096C5FAFB9}"/>
                </a:ext>
              </a:extLst>
            </p:cNvPr>
            <p:cNvSpPr/>
            <p:nvPr/>
          </p:nvSpPr>
          <p:spPr>
            <a:xfrm>
              <a:off x="9274628" y="2401557"/>
              <a:ext cx="1866481" cy="1791118"/>
            </a:xfrm>
            <a:prstGeom prst="ellipse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87FE4C4A-027E-AB03-A730-4DFD95F421BC}"/>
                    </a:ext>
                  </a:extLst>
                </p:cNvPr>
                <p:cNvSpPr txBox="1"/>
                <p:nvPr/>
              </p:nvSpPr>
              <p:spPr>
                <a:xfrm>
                  <a:off x="9947868" y="2479428"/>
                  <a:ext cx="43207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22C578AD-4411-EA12-39FE-6BED7FAE0B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47868" y="2479428"/>
                  <a:ext cx="432079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F3426EA-49A8-11CD-E97B-D284B7A385D1}"/>
                    </a:ext>
                  </a:extLst>
                </p:cNvPr>
                <p:cNvSpPr txBox="1"/>
                <p:nvPr/>
              </p:nvSpPr>
              <p:spPr>
                <a:xfrm>
                  <a:off x="10709030" y="2227748"/>
                  <a:ext cx="43207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668EB3E-2962-399B-61C6-A03AE06B68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09030" y="2227748"/>
                  <a:ext cx="432079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A98385F-1B94-940D-A992-B43624ACF26F}"/>
                  </a:ext>
                </a:extLst>
              </p:cNvPr>
              <p:cNvSpPr txBox="1"/>
              <p:nvPr/>
            </p:nvSpPr>
            <p:spPr>
              <a:xfrm>
                <a:off x="8500981" y="2355589"/>
                <a:ext cx="2812628" cy="6646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|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00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|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11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A98385F-1B94-940D-A992-B43624ACF2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0981" y="2355589"/>
                <a:ext cx="2812628" cy="664606"/>
              </a:xfrm>
              <a:prstGeom prst="rect">
                <a:avLst/>
              </a:prstGeom>
              <a:blipFill>
                <a:blip r:embed="rId6"/>
                <a:stretch>
                  <a:fillRect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70AB08BA-3559-5995-0CF5-A7DD2215B11A}"/>
              </a:ext>
            </a:extLst>
          </p:cNvPr>
          <p:cNvGrpSpPr/>
          <p:nvPr/>
        </p:nvGrpSpPr>
        <p:grpSpPr>
          <a:xfrm>
            <a:off x="10025841" y="3428945"/>
            <a:ext cx="1866481" cy="1964927"/>
            <a:chOff x="9274628" y="2227748"/>
            <a:chExt cx="1866481" cy="1964927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F9A88ED-D671-7282-4739-80EC28F036DE}"/>
                </a:ext>
              </a:extLst>
            </p:cNvPr>
            <p:cNvSpPr/>
            <p:nvPr/>
          </p:nvSpPr>
          <p:spPr>
            <a:xfrm>
              <a:off x="10038303" y="3155182"/>
              <a:ext cx="341644" cy="35169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8840BB5-87FE-1F35-CC30-422E4105129E}"/>
                </a:ext>
              </a:extLst>
            </p:cNvPr>
            <p:cNvSpPr/>
            <p:nvPr/>
          </p:nvSpPr>
          <p:spPr>
            <a:xfrm>
              <a:off x="9620459" y="2792603"/>
              <a:ext cx="1177332" cy="1086897"/>
            </a:xfrm>
            <a:prstGeom prst="ellipse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9FEA84F-7779-5E3A-DC7E-91FC54E1B7CC}"/>
                </a:ext>
              </a:extLst>
            </p:cNvPr>
            <p:cNvSpPr/>
            <p:nvPr/>
          </p:nvSpPr>
          <p:spPr>
            <a:xfrm>
              <a:off x="9274628" y="2401557"/>
              <a:ext cx="1866481" cy="1791118"/>
            </a:xfrm>
            <a:prstGeom prst="ellipse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E81B4807-470B-DFCF-7378-9D37DAAFDCD2}"/>
                    </a:ext>
                  </a:extLst>
                </p:cNvPr>
                <p:cNvSpPr txBox="1"/>
                <p:nvPr/>
              </p:nvSpPr>
              <p:spPr>
                <a:xfrm>
                  <a:off x="9947868" y="2479428"/>
                  <a:ext cx="43207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22C578AD-4411-EA12-39FE-6BED7FAE0B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47868" y="2479428"/>
                  <a:ext cx="432079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77598C7-4D30-0BB2-17ED-CAC17B1DF6E1}"/>
                    </a:ext>
                  </a:extLst>
                </p:cNvPr>
                <p:cNvSpPr txBox="1"/>
                <p:nvPr/>
              </p:nvSpPr>
              <p:spPr>
                <a:xfrm>
                  <a:off x="10709030" y="2227748"/>
                  <a:ext cx="43207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668EB3E-2962-399B-61C6-A03AE06B68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09030" y="2227748"/>
                  <a:ext cx="432079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3935F69-2E25-9BB3-3B74-6A40FA62FFA1}"/>
              </a:ext>
            </a:extLst>
          </p:cNvPr>
          <p:cNvGrpSpPr/>
          <p:nvPr/>
        </p:nvGrpSpPr>
        <p:grpSpPr>
          <a:xfrm>
            <a:off x="6148041" y="3428945"/>
            <a:ext cx="1866481" cy="1964927"/>
            <a:chOff x="9274628" y="2227748"/>
            <a:chExt cx="1866481" cy="1964927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FC10C3D6-AD9B-2E2C-3238-5C0F817D4C4C}"/>
                </a:ext>
              </a:extLst>
            </p:cNvPr>
            <p:cNvSpPr/>
            <p:nvPr/>
          </p:nvSpPr>
          <p:spPr>
            <a:xfrm>
              <a:off x="10038303" y="3155182"/>
              <a:ext cx="341644" cy="35169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5E47E53-3D5B-9244-3995-93BCB3C8C089}"/>
                </a:ext>
              </a:extLst>
            </p:cNvPr>
            <p:cNvSpPr/>
            <p:nvPr/>
          </p:nvSpPr>
          <p:spPr>
            <a:xfrm>
              <a:off x="9620459" y="2792603"/>
              <a:ext cx="1177332" cy="1086897"/>
            </a:xfrm>
            <a:prstGeom prst="ellipse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9017984F-74C3-6CFC-E950-F2B2272ECBC5}"/>
                </a:ext>
              </a:extLst>
            </p:cNvPr>
            <p:cNvSpPr/>
            <p:nvPr/>
          </p:nvSpPr>
          <p:spPr>
            <a:xfrm>
              <a:off x="9274628" y="2401557"/>
              <a:ext cx="1866481" cy="1791118"/>
            </a:xfrm>
            <a:prstGeom prst="ellipse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5DDB60AB-6427-0192-88DF-A96210873395}"/>
                    </a:ext>
                  </a:extLst>
                </p:cNvPr>
                <p:cNvSpPr txBox="1"/>
                <p:nvPr/>
              </p:nvSpPr>
              <p:spPr>
                <a:xfrm>
                  <a:off x="9947868" y="2479428"/>
                  <a:ext cx="43207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22C578AD-4411-EA12-39FE-6BED7FAE0B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47868" y="2479428"/>
                  <a:ext cx="432079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470C27BF-1643-8E8B-1133-E17406AE7DFB}"/>
                    </a:ext>
                  </a:extLst>
                </p:cNvPr>
                <p:cNvSpPr txBox="1"/>
                <p:nvPr/>
              </p:nvSpPr>
              <p:spPr>
                <a:xfrm>
                  <a:off x="10709030" y="2227748"/>
                  <a:ext cx="43207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668EB3E-2962-399B-61C6-A03AE06B68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09030" y="2227748"/>
                  <a:ext cx="432079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2C46DA9-758D-AF7C-B70C-14FEA03832A8}"/>
                  </a:ext>
                </a:extLst>
              </p:cNvPr>
              <p:cNvSpPr txBox="1"/>
              <p:nvPr/>
            </p:nvSpPr>
            <p:spPr>
              <a:xfrm>
                <a:off x="7671204" y="5120312"/>
                <a:ext cx="2812628" cy="6646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|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00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|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11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2C46DA9-758D-AF7C-B70C-14FEA03832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1204" y="5120312"/>
                <a:ext cx="2812628" cy="664606"/>
              </a:xfrm>
              <a:prstGeom prst="rect">
                <a:avLst/>
              </a:prstGeom>
              <a:blipFill>
                <a:blip r:embed="rId7"/>
                <a:stretch>
                  <a:fillRect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Freeform 30">
            <a:extLst>
              <a:ext uri="{FF2B5EF4-FFF2-40B4-BE49-F238E27FC236}">
                <a16:creationId xmlns:a16="http://schemas.microsoft.com/office/drawing/2014/main" id="{FAD4F3A0-AC40-F56F-81BD-01459712C025}"/>
              </a:ext>
            </a:extLst>
          </p:cNvPr>
          <p:cNvSpPr/>
          <p:nvPr/>
        </p:nvSpPr>
        <p:spPr>
          <a:xfrm>
            <a:off x="8130448" y="4329629"/>
            <a:ext cx="1773716" cy="253388"/>
          </a:xfrm>
          <a:custGeom>
            <a:avLst/>
            <a:gdLst>
              <a:gd name="connsiteX0" fmla="*/ 0 w 1773716"/>
              <a:gd name="connsiteY0" fmla="*/ 187287 h 253388"/>
              <a:gd name="connsiteX1" fmla="*/ 22034 w 1773716"/>
              <a:gd name="connsiteY1" fmla="*/ 88135 h 253388"/>
              <a:gd name="connsiteX2" fmla="*/ 44068 w 1773716"/>
              <a:gd name="connsiteY2" fmla="*/ 55084 h 253388"/>
              <a:gd name="connsiteX3" fmla="*/ 77118 w 1773716"/>
              <a:gd name="connsiteY3" fmla="*/ 22034 h 253388"/>
              <a:gd name="connsiteX4" fmla="*/ 143219 w 1773716"/>
              <a:gd name="connsiteY4" fmla="*/ 0 h 253388"/>
              <a:gd name="connsiteX5" fmla="*/ 220338 w 1773716"/>
              <a:gd name="connsiteY5" fmla="*/ 33051 h 253388"/>
              <a:gd name="connsiteX6" fmla="*/ 231354 w 1773716"/>
              <a:gd name="connsiteY6" fmla="*/ 66101 h 253388"/>
              <a:gd name="connsiteX7" fmla="*/ 253388 w 1773716"/>
              <a:gd name="connsiteY7" fmla="*/ 99152 h 253388"/>
              <a:gd name="connsiteX8" fmla="*/ 308472 w 1773716"/>
              <a:gd name="connsiteY8" fmla="*/ 198304 h 253388"/>
              <a:gd name="connsiteX9" fmla="*/ 418641 w 1773716"/>
              <a:gd name="connsiteY9" fmla="*/ 253388 h 253388"/>
              <a:gd name="connsiteX10" fmla="*/ 484742 w 1773716"/>
              <a:gd name="connsiteY10" fmla="*/ 242371 h 253388"/>
              <a:gd name="connsiteX11" fmla="*/ 528810 w 1773716"/>
              <a:gd name="connsiteY11" fmla="*/ 176270 h 253388"/>
              <a:gd name="connsiteX12" fmla="*/ 561860 w 1773716"/>
              <a:gd name="connsiteY12" fmla="*/ 132202 h 253388"/>
              <a:gd name="connsiteX13" fmla="*/ 649995 w 1773716"/>
              <a:gd name="connsiteY13" fmla="*/ 33051 h 253388"/>
              <a:gd name="connsiteX14" fmla="*/ 683046 w 1773716"/>
              <a:gd name="connsiteY14" fmla="*/ 11017 h 253388"/>
              <a:gd name="connsiteX15" fmla="*/ 727113 w 1773716"/>
              <a:gd name="connsiteY15" fmla="*/ 0 h 253388"/>
              <a:gd name="connsiteX16" fmla="*/ 771181 w 1773716"/>
              <a:gd name="connsiteY16" fmla="*/ 11017 h 253388"/>
              <a:gd name="connsiteX17" fmla="*/ 804232 w 1773716"/>
              <a:gd name="connsiteY17" fmla="*/ 44067 h 253388"/>
              <a:gd name="connsiteX18" fmla="*/ 837282 w 1773716"/>
              <a:gd name="connsiteY18" fmla="*/ 154236 h 253388"/>
              <a:gd name="connsiteX19" fmla="*/ 859316 w 1773716"/>
              <a:gd name="connsiteY19" fmla="*/ 187287 h 253388"/>
              <a:gd name="connsiteX20" fmla="*/ 925417 w 1773716"/>
              <a:gd name="connsiteY20" fmla="*/ 231354 h 253388"/>
              <a:gd name="connsiteX21" fmla="*/ 980501 w 1773716"/>
              <a:gd name="connsiteY21" fmla="*/ 220337 h 253388"/>
              <a:gd name="connsiteX22" fmla="*/ 1046603 w 1773716"/>
              <a:gd name="connsiteY22" fmla="*/ 165253 h 253388"/>
              <a:gd name="connsiteX23" fmla="*/ 1090670 w 1773716"/>
              <a:gd name="connsiteY23" fmla="*/ 99152 h 253388"/>
              <a:gd name="connsiteX24" fmla="*/ 1123721 w 1773716"/>
              <a:gd name="connsiteY24" fmla="*/ 33051 h 253388"/>
              <a:gd name="connsiteX25" fmla="*/ 1167788 w 1773716"/>
              <a:gd name="connsiteY25" fmla="*/ 0 h 253388"/>
              <a:gd name="connsiteX26" fmla="*/ 1266940 w 1773716"/>
              <a:gd name="connsiteY26" fmla="*/ 22034 h 253388"/>
              <a:gd name="connsiteX27" fmla="*/ 1299991 w 1773716"/>
              <a:gd name="connsiteY27" fmla="*/ 44067 h 253388"/>
              <a:gd name="connsiteX28" fmla="*/ 1355075 w 1773716"/>
              <a:gd name="connsiteY28" fmla="*/ 110169 h 253388"/>
              <a:gd name="connsiteX29" fmla="*/ 1421176 w 1773716"/>
              <a:gd name="connsiteY29" fmla="*/ 154236 h 253388"/>
              <a:gd name="connsiteX30" fmla="*/ 1487277 w 1773716"/>
              <a:gd name="connsiteY30" fmla="*/ 209320 h 253388"/>
              <a:gd name="connsiteX31" fmla="*/ 1564395 w 1773716"/>
              <a:gd name="connsiteY31" fmla="*/ 231354 h 253388"/>
              <a:gd name="connsiteX32" fmla="*/ 1641513 w 1773716"/>
              <a:gd name="connsiteY32" fmla="*/ 220337 h 253388"/>
              <a:gd name="connsiteX33" fmla="*/ 1718632 w 1773716"/>
              <a:gd name="connsiteY33" fmla="*/ 132202 h 253388"/>
              <a:gd name="connsiteX34" fmla="*/ 1740665 w 1773716"/>
              <a:gd name="connsiteY34" fmla="*/ 99152 h 253388"/>
              <a:gd name="connsiteX35" fmla="*/ 1773716 w 1773716"/>
              <a:gd name="connsiteY35" fmla="*/ 22034 h 253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773716" h="253388">
                <a:moveTo>
                  <a:pt x="0" y="187287"/>
                </a:moveTo>
                <a:cubicBezTo>
                  <a:pt x="1961" y="177482"/>
                  <a:pt x="16199" y="101750"/>
                  <a:pt x="22034" y="88135"/>
                </a:cubicBezTo>
                <a:cubicBezTo>
                  <a:pt x="27250" y="75965"/>
                  <a:pt x="35591" y="65256"/>
                  <a:pt x="44068" y="55084"/>
                </a:cubicBezTo>
                <a:cubicBezTo>
                  <a:pt x="54042" y="43115"/>
                  <a:pt x="63499" y="29600"/>
                  <a:pt x="77118" y="22034"/>
                </a:cubicBezTo>
                <a:cubicBezTo>
                  <a:pt x="97421" y="10755"/>
                  <a:pt x="143219" y="0"/>
                  <a:pt x="143219" y="0"/>
                </a:cubicBezTo>
                <a:cubicBezTo>
                  <a:pt x="169681" y="6616"/>
                  <a:pt x="201318" y="9275"/>
                  <a:pt x="220338" y="33051"/>
                </a:cubicBezTo>
                <a:cubicBezTo>
                  <a:pt x="227592" y="42119"/>
                  <a:pt x="226161" y="55714"/>
                  <a:pt x="231354" y="66101"/>
                </a:cubicBezTo>
                <a:cubicBezTo>
                  <a:pt x="237275" y="77944"/>
                  <a:pt x="247466" y="87309"/>
                  <a:pt x="253388" y="99152"/>
                </a:cubicBezTo>
                <a:cubicBezTo>
                  <a:pt x="273478" y="139332"/>
                  <a:pt x="256370" y="163570"/>
                  <a:pt x="308472" y="198304"/>
                </a:cubicBezTo>
                <a:cubicBezTo>
                  <a:pt x="387172" y="250770"/>
                  <a:pt x="348883" y="235948"/>
                  <a:pt x="418641" y="253388"/>
                </a:cubicBezTo>
                <a:cubicBezTo>
                  <a:pt x="440675" y="249716"/>
                  <a:pt x="466442" y="255181"/>
                  <a:pt x="484742" y="242371"/>
                </a:cubicBezTo>
                <a:cubicBezTo>
                  <a:pt x="506436" y="227185"/>
                  <a:pt x="512922" y="197455"/>
                  <a:pt x="528810" y="176270"/>
                </a:cubicBezTo>
                <a:cubicBezTo>
                  <a:pt x="539827" y="161581"/>
                  <a:pt x="551188" y="147143"/>
                  <a:pt x="561860" y="132202"/>
                </a:cubicBezTo>
                <a:cubicBezTo>
                  <a:pt x="591963" y="90058"/>
                  <a:pt x="596221" y="68900"/>
                  <a:pt x="649995" y="33051"/>
                </a:cubicBezTo>
                <a:cubicBezTo>
                  <a:pt x="661012" y="25706"/>
                  <a:pt x="670876" y="16233"/>
                  <a:pt x="683046" y="11017"/>
                </a:cubicBezTo>
                <a:cubicBezTo>
                  <a:pt x="696963" y="5053"/>
                  <a:pt x="712424" y="3672"/>
                  <a:pt x="727113" y="0"/>
                </a:cubicBezTo>
                <a:cubicBezTo>
                  <a:pt x="741802" y="3672"/>
                  <a:pt x="758034" y="3505"/>
                  <a:pt x="771181" y="11017"/>
                </a:cubicBezTo>
                <a:cubicBezTo>
                  <a:pt x="784708" y="18747"/>
                  <a:pt x="796502" y="30540"/>
                  <a:pt x="804232" y="44067"/>
                </a:cubicBezTo>
                <a:cubicBezTo>
                  <a:pt x="865824" y="151854"/>
                  <a:pt x="741520" y="10593"/>
                  <a:pt x="837282" y="154236"/>
                </a:cubicBezTo>
                <a:cubicBezTo>
                  <a:pt x="844627" y="165253"/>
                  <a:pt x="849351" y="178568"/>
                  <a:pt x="859316" y="187287"/>
                </a:cubicBezTo>
                <a:cubicBezTo>
                  <a:pt x="879245" y="204725"/>
                  <a:pt x="925417" y="231354"/>
                  <a:pt x="925417" y="231354"/>
                </a:cubicBezTo>
                <a:cubicBezTo>
                  <a:pt x="943778" y="227682"/>
                  <a:pt x="962968" y="226912"/>
                  <a:pt x="980501" y="220337"/>
                </a:cubicBezTo>
                <a:cubicBezTo>
                  <a:pt x="1000472" y="212848"/>
                  <a:pt x="1034835" y="180383"/>
                  <a:pt x="1046603" y="165253"/>
                </a:cubicBezTo>
                <a:cubicBezTo>
                  <a:pt x="1062861" y="144350"/>
                  <a:pt x="1090670" y="99152"/>
                  <a:pt x="1090670" y="99152"/>
                </a:cubicBezTo>
                <a:cubicBezTo>
                  <a:pt x="1099631" y="72270"/>
                  <a:pt x="1102363" y="54409"/>
                  <a:pt x="1123721" y="33051"/>
                </a:cubicBezTo>
                <a:cubicBezTo>
                  <a:pt x="1136704" y="20068"/>
                  <a:pt x="1153099" y="11017"/>
                  <a:pt x="1167788" y="0"/>
                </a:cubicBezTo>
                <a:cubicBezTo>
                  <a:pt x="1193178" y="4232"/>
                  <a:pt x="1239818" y="8473"/>
                  <a:pt x="1266940" y="22034"/>
                </a:cubicBezTo>
                <a:cubicBezTo>
                  <a:pt x="1278783" y="27955"/>
                  <a:pt x="1288974" y="36723"/>
                  <a:pt x="1299991" y="44067"/>
                </a:cubicBezTo>
                <a:cubicBezTo>
                  <a:pt x="1319577" y="73447"/>
                  <a:pt x="1325711" y="87330"/>
                  <a:pt x="1355075" y="110169"/>
                </a:cubicBezTo>
                <a:cubicBezTo>
                  <a:pt x="1375978" y="126427"/>
                  <a:pt x="1402451" y="135511"/>
                  <a:pt x="1421176" y="154236"/>
                </a:cubicBezTo>
                <a:cubicBezTo>
                  <a:pt x="1445541" y="178601"/>
                  <a:pt x="1456601" y="193982"/>
                  <a:pt x="1487277" y="209320"/>
                </a:cubicBezTo>
                <a:cubicBezTo>
                  <a:pt x="1503082" y="217222"/>
                  <a:pt x="1550276" y="227824"/>
                  <a:pt x="1564395" y="231354"/>
                </a:cubicBezTo>
                <a:cubicBezTo>
                  <a:pt x="1590101" y="227682"/>
                  <a:pt x="1616641" y="227798"/>
                  <a:pt x="1641513" y="220337"/>
                </a:cubicBezTo>
                <a:cubicBezTo>
                  <a:pt x="1679768" y="208861"/>
                  <a:pt x="1700881" y="158829"/>
                  <a:pt x="1718632" y="132202"/>
                </a:cubicBezTo>
                <a:cubicBezTo>
                  <a:pt x="1725976" y="121185"/>
                  <a:pt x="1736478" y="111713"/>
                  <a:pt x="1740665" y="99152"/>
                </a:cubicBezTo>
                <a:cubicBezTo>
                  <a:pt x="1764341" y="28124"/>
                  <a:pt x="1746276" y="49474"/>
                  <a:pt x="1773716" y="22034"/>
                </a:cubicBezTo>
              </a:path>
            </a:pathLst>
          </a:cu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0255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F74A4-025F-549A-47D1-793DDFF84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Rotational Invariance of the Bell State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E70EFD-5964-40C0-730F-48FE1B1E23A0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57507" y="912351"/>
                <a:ext cx="7271044" cy="5508544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sz="1800" dirty="0"/>
                  <a:t>Bell State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00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d>
                  </m:oMath>
                </a14:m>
                <a:endParaRPr lang="en-US" sz="1800" dirty="0">
                  <a:solidFill>
                    <a:srgbClr val="0070C0"/>
                  </a:solidFill>
                </a:endParaRPr>
              </a:p>
              <a:p>
                <a:r>
                  <a:rPr lang="en-US" sz="1800" dirty="0"/>
                  <a:t>Show that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++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−−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⟩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</m:oMath>
                </a14:m>
                <a:endParaRPr lang="en-US" sz="1400" dirty="0"/>
              </a:p>
              <a:p>
                <a:endParaRPr lang="en-US" sz="1800" dirty="0"/>
              </a:p>
              <a:p>
                <a:r>
                  <a:rPr lang="en-US" sz="1800" dirty="0"/>
                  <a:t>Now consider only the states that have real coefficients: </a:t>
                </a:r>
              </a:p>
              <a:p>
                <a:pPr lvl="1"/>
                <a:r>
                  <a:rPr lang="en-US" sz="1400" dirty="0"/>
                  <a:t>e.g.,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|"/>
                        <m:endChr m:val="⟩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|1⟩</m:t>
                    </m:r>
                  </m:oMath>
                </a14:m>
                <a:r>
                  <a:rPr lang="en-US" sz="1400" dirty="0"/>
                  <a:t>, where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en-US" sz="1400" dirty="0"/>
              </a:p>
              <a:p>
                <a:pPr lvl="1"/>
                <a:r>
                  <a:rPr lang="en-US" sz="1400" dirty="0"/>
                  <a:t>All these states lie on a unit circle on a 2-D plane.</a:t>
                </a:r>
              </a:p>
              <a:p>
                <a:r>
                  <a:rPr lang="en-US" sz="1800" dirty="0"/>
                  <a:t>We can show that the Bell state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𝑢𝑢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⊥</m:t>
                            </m:r>
                          </m:sub>
                        </m:sSub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⊥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800" dirty="0"/>
                  <a:t> is same for any basis {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en-US" sz="1800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⊥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800" dirty="0"/>
                  <a:t>} </a:t>
                </a:r>
              </a:p>
              <a:p>
                <a:pPr lvl="1"/>
                <a:r>
                  <a:rPr lang="en-US" sz="1400" dirty="0"/>
                  <a:t>If the measure the first qubit in basis {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en-US" sz="1400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⊥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400" dirty="0"/>
                  <a:t>}.</a:t>
                </a:r>
              </a:p>
              <a:p>
                <a:pPr lvl="1"/>
                <a:r>
                  <a:rPr lang="en-US" sz="1400" dirty="0"/>
                  <a:t>The first qubit will be in state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en-US" sz="1400" dirty="0"/>
                  <a:t> with probability = ½. </a:t>
                </a:r>
              </a:p>
              <a:p>
                <a:pPr lvl="1"/>
                <a:r>
                  <a:rPr lang="en-US" sz="1400" dirty="0"/>
                  <a:t>The  state after that measurement is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𝑢𝑢</m:t>
                        </m:r>
                      </m:e>
                    </m:d>
                  </m:oMath>
                </a14:m>
                <a:r>
                  <a:rPr lang="en-US" sz="1400" dirty="0"/>
                  <a:t>.</a:t>
                </a:r>
              </a:p>
              <a:p>
                <a:pPr lvl="1"/>
                <a:r>
                  <a:rPr lang="en-US" sz="1400" dirty="0"/>
                  <a:t>When we measure the second qubit, we will measure it to be in state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en-US" sz="1400" dirty="0"/>
                  <a:t> with probability = 1.</a:t>
                </a:r>
              </a:p>
              <a:p>
                <a:r>
                  <a:rPr lang="en-US" sz="1800" dirty="0"/>
                  <a:t>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|"/>
                        <m:endChr m:val="⟩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|1⟩</m:t>
                    </m:r>
                  </m:oMath>
                </a14:m>
                <a:r>
                  <a:rPr lang="en-US" sz="1800" dirty="0"/>
                  <a:t>, then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⊥</m:t>
                            </m:r>
                          </m:sub>
                        </m:sSub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begChr m:val="|"/>
                        <m:endChr m:val="⟩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|1⟩</m:t>
                    </m:r>
                  </m:oMath>
                </a14:m>
                <a:endParaRPr lang="en-US" sz="1800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𝑢𝑢</m:t>
                        </m:r>
                      </m:e>
                    </m:d>
                    <m:r>
                      <a:rPr lang="en-US" sz="14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⊥</m:t>
                            </m:r>
                          </m:sub>
                        </m:sSub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⊥</m:t>
                            </m:r>
                          </m:sub>
                        </m:sSub>
                      </m:e>
                    </m:d>
                  </m:oMath>
                </a14:m>
                <a:endParaRPr lang="en-US" sz="14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⟩= </m:t>
                    </m:r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|"/>
                        <m:endChr m:val="⟩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1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|1⟩)⨂(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|"/>
                        <m:endChr m:val="⟩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1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|1⟩)</m:t>
                    </m:r>
                  </m:oMath>
                </a14:m>
                <a:r>
                  <a:rPr lang="en-US" sz="1400" dirty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begChr m:val="|"/>
                        <m:endChr m:val="⟩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1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|1⟩)⨂(−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begChr m:val="|"/>
                        <m:endChr m:val="⟩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1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|1⟩)</m:t>
                    </m:r>
                  </m:oMath>
                </a14:m>
                <a:endParaRPr lang="en-US" sz="1400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["/>
                        <m:endChr m:val="⟩"/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p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p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d>
                          <m:dPr>
                            <m:begChr m:val="|"/>
                            <m:endChr m:val="⟩"/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𝛼𝛽</m:t>
                            </m:r>
                          </m:e>
                        </m:d>
                      </m:e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1400" i="1">
                        <a:latin typeface="Cambria Math" panose="02040503050406030204" pitchFamily="18" charset="0"/>
                      </a:rPr>
                      <m:t> +</m:t>
                    </m:r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𝛽𝛼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𝛼𝛽</m:t>
                        </m:r>
                      </m:e>
                    </m:d>
                    <m:d>
                      <m:dPr>
                        <m:begChr m:val="|"/>
                        <m:endChr m:val="⟩"/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|11⟩]</m:t>
                    </m:r>
                  </m:oMath>
                </a14:m>
                <a:endParaRPr lang="en-US" sz="1400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US" sz="1400" i="1">
                        <a:latin typeface="Cambria Math" panose="02040503050406030204" pitchFamily="18" charset="0"/>
                      </a:rPr>
                      <m:t>[|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00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⟩+|11⟩]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E70EFD-5964-40C0-730F-48FE1B1E23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57507" y="912351"/>
                <a:ext cx="7271044" cy="5508544"/>
              </a:xfrm>
              <a:blipFill>
                <a:blip r:embed="rId2"/>
                <a:stretch>
                  <a:fillRect l="-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F7AE82EE-465F-6D21-45BB-7CE13C82797E}"/>
              </a:ext>
            </a:extLst>
          </p:cNvPr>
          <p:cNvGrpSpPr/>
          <p:nvPr/>
        </p:nvGrpSpPr>
        <p:grpSpPr>
          <a:xfrm>
            <a:off x="7465912" y="1041650"/>
            <a:ext cx="2441858" cy="1253040"/>
            <a:chOff x="6753082" y="2114399"/>
            <a:chExt cx="2441858" cy="1253040"/>
          </a:xfrm>
        </p:grpSpPr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67168FCC-67C9-88F6-D18B-F449EBE581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6091" y="2817975"/>
              <a:ext cx="1022559" cy="52922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196F0B0A-771E-40A1-FFED-C3EEDD7594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14767" y="2308999"/>
              <a:ext cx="484112" cy="105844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1D42A7F3-DF18-67A8-40A8-D765E3C88BDF}"/>
                </a:ext>
              </a:extLst>
            </p:cNvPr>
            <p:cNvCxnSpPr>
              <a:cxnSpLocks/>
            </p:cNvCxnSpPr>
            <p:nvPr/>
          </p:nvCxnSpPr>
          <p:spPr>
            <a:xfrm>
              <a:off x="7798879" y="3347195"/>
              <a:ext cx="116085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A0DDAB9C-C477-C370-F592-25C0BDE06D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8879" y="2142764"/>
              <a:ext cx="0" cy="120443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D985A150-2C8B-2CF6-E93E-90CF33C849C3}"/>
                    </a:ext>
                  </a:extLst>
                </p:cNvPr>
                <p:cNvSpPr txBox="1"/>
                <p:nvPr/>
              </p:nvSpPr>
              <p:spPr>
                <a:xfrm>
                  <a:off x="6753082" y="2317686"/>
                  <a:ext cx="62223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⊥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D985A150-2C8B-2CF6-E93E-90CF33C849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3082" y="2317686"/>
                  <a:ext cx="622230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9E67F830-FB4A-0483-EE51-4C205DAA5FB8}"/>
                    </a:ext>
                  </a:extLst>
                </p:cNvPr>
                <p:cNvSpPr txBox="1"/>
                <p:nvPr/>
              </p:nvSpPr>
              <p:spPr>
                <a:xfrm>
                  <a:off x="8551276" y="2453508"/>
                  <a:ext cx="60530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9E67F830-FB4A-0483-EE51-4C205DAA5F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1276" y="2453508"/>
                  <a:ext cx="605306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922DDE8E-CE42-D42A-1866-BA2C381AABDE}"/>
                    </a:ext>
                  </a:extLst>
                </p:cNvPr>
                <p:cNvSpPr txBox="1"/>
                <p:nvPr/>
              </p:nvSpPr>
              <p:spPr>
                <a:xfrm>
                  <a:off x="8589634" y="2965276"/>
                  <a:ext cx="60530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922DDE8E-CE42-D42A-1866-BA2C381AAB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89634" y="2965276"/>
                  <a:ext cx="605306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35DE3AB6-1E76-C8A3-E0E2-B2F87C9F5B8E}"/>
                    </a:ext>
                  </a:extLst>
                </p:cNvPr>
                <p:cNvSpPr txBox="1"/>
                <p:nvPr/>
              </p:nvSpPr>
              <p:spPr>
                <a:xfrm>
                  <a:off x="7775116" y="2114399"/>
                  <a:ext cx="60530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35DE3AB6-1E76-C8A3-E0E2-B2F87C9F5B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75116" y="2114399"/>
                  <a:ext cx="605306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347EA543-3D70-BBD2-A793-05E479E106D1}"/>
              </a:ext>
            </a:extLst>
          </p:cNvPr>
          <p:cNvCxnSpPr>
            <a:cxnSpLocks/>
          </p:cNvCxnSpPr>
          <p:nvPr/>
        </p:nvCxnSpPr>
        <p:spPr>
          <a:xfrm flipV="1">
            <a:off x="8511709" y="1410982"/>
            <a:ext cx="674277" cy="883708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7" name="Group 86">
            <a:extLst>
              <a:ext uri="{FF2B5EF4-FFF2-40B4-BE49-F238E27FC236}">
                <a16:creationId xmlns:a16="http://schemas.microsoft.com/office/drawing/2014/main" id="{A9B038FF-DC87-A55B-1B14-2883EF90D282}"/>
              </a:ext>
            </a:extLst>
          </p:cNvPr>
          <p:cNvGrpSpPr/>
          <p:nvPr/>
        </p:nvGrpSpPr>
        <p:grpSpPr>
          <a:xfrm>
            <a:off x="7692462" y="3966799"/>
            <a:ext cx="2312770" cy="1849551"/>
            <a:chOff x="8740440" y="3977110"/>
            <a:chExt cx="2312770" cy="1849551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AFCC0DE7-269C-63ED-C208-B6FEA10CCBC0}"/>
                </a:ext>
              </a:extLst>
            </p:cNvPr>
            <p:cNvCxnSpPr>
              <a:cxnSpLocks/>
            </p:cNvCxnSpPr>
            <p:nvPr/>
          </p:nvCxnSpPr>
          <p:spPr>
            <a:xfrm>
              <a:off x="9676316" y="5300325"/>
              <a:ext cx="116085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A74DF60D-DA4E-AB31-34EA-FA0B429DA836}"/>
                    </a:ext>
                  </a:extLst>
                </p:cNvPr>
                <p:cNvSpPr txBox="1"/>
                <p:nvPr/>
              </p:nvSpPr>
              <p:spPr>
                <a:xfrm>
                  <a:off x="10447904" y="5371177"/>
                  <a:ext cx="60530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A74DF60D-DA4E-AB31-34EA-FA0B429DA8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47904" y="5371177"/>
                  <a:ext cx="605306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1343C47-5E23-9503-7208-72CAB34380C8}"/>
                    </a:ext>
                  </a:extLst>
                </p:cNvPr>
                <p:cNvSpPr txBox="1"/>
                <p:nvPr/>
              </p:nvSpPr>
              <p:spPr>
                <a:xfrm>
                  <a:off x="10264963" y="4744093"/>
                  <a:ext cx="62223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1343C47-5E23-9503-7208-72CAB34380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64963" y="4744093"/>
                  <a:ext cx="622230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5405616-5001-937E-6176-283E441DC430}"/>
                    </a:ext>
                  </a:extLst>
                </p:cNvPr>
                <p:cNvSpPr txBox="1"/>
                <p:nvPr/>
              </p:nvSpPr>
              <p:spPr>
                <a:xfrm>
                  <a:off x="9108372" y="3977110"/>
                  <a:ext cx="60530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5405616-5001-937E-6176-283E441DC4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08372" y="3977110"/>
                  <a:ext cx="605306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0DC04461-7A3E-74C1-9B76-50384C189C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76316" y="4095894"/>
              <a:ext cx="0" cy="120443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3092EDE9-073E-22B4-A89E-FF3BD35C55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70841" y="4625123"/>
              <a:ext cx="812727" cy="70424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4E8023E6-D9ED-8A62-9064-B719AD0FCAD7}"/>
                    </a:ext>
                  </a:extLst>
                </p:cNvPr>
                <p:cNvSpPr txBox="1"/>
                <p:nvPr/>
              </p:nvSpPr>
              <p:spPr>
                <a:xfrm>
                  <a:off x="9907770" y="5364276"/>
                  <a:ext cx="48411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4E8023E6-D9ED-8A62-9064-B719AD0FCA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07770" y="5364276"/>
                  <a:ext cx="484112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3F616F4-8F95-F24F-750C-0B5BCEAF21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13678" y="5409321"/>
              <a:ext cx="742611" cy="0"/>
            </a:xfrm>
            <a:prstGeom prst="line">
              <a:avLst/>
            </a:prstGeom>
            <a:ln>
              <a:solidFill>
                <a:srgbClr val="0070C0"/>
              </a:solidFill>
              <a:prstDash val="dash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DCF98EA-565B-B6F2-ADDD-6B99957A7087}"/>
                </a:ext>
              </a:extLst>
            </p:cNvPr>
            <p:cNvCxnSpPr>
              <a:cxnSpLocks/>
            </p:cNvCxnSpPr>
            <p:nvPr/>
          </p:nvCxnSpPr>
          <p:spPr>
            <a:xfrm>
              <a:off x="10468000" y="4635171"/>
              <a:ext cx="8385" cy="704247"/>
            </a:xfrm>
            <a:prstGeom prst="line">
              <a:avLst/>
            </a:prstGeom>
            <a:ln>
              <a:solidFill>
                <a:srgbClr val="0070C0"/>
              </a:solidFill>
              <a:prstDash val="dash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CD8BACD7-2EE8-8F95-02DB-03C0B15497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08371" y="4465226"/>
              <a:ext cx="605307" cy="88014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E8D5E6B1-8359-4034-0DBA-2D738A66C5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43157" y="4465226"/>
              <a:ext cx="0" cy="835099"/>
            </a:xfrm>
            <a:prstGeom prst="line">
              <a:avLst/>
            </a:prstGeom>
            <a:ln>
              <a:solidFill>
                <a:srgbClr val="0070C0"/>
              </a:solidFill>
              <a:prstDash val="dash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104270BF-9D02-883B-636F-38C6A7CEB063}"/>
                    </a:ext>
                  </a:extLst>
                </p:cNvPr>
                <p:cNvSpPr txBox="1"/>
                <p:nvPr/>
              </p:nvSpPr>
              <p:spPr>
                <a:xfrm>
                  <a:off x="8740440" y="4676219"/>
                  <a:ext cx="48411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104270BF-9D02-883B-636F-38C6A7CEB0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40440" y="4676219"/>
                  <a:ext cx="484112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3619B028-D19C-4CE6-F022-96C161835500}"/>
                </a:ext>
              </a:extLst>
            </p:cNvPr>
            <p:cNvCxnSpPr>
              <a:cxnSpLocks/>
            </p:cNvCxnSpPr>
            <p:nvPr/>
          </p:nvCxnSpPr>
          <p:spPr>
            <a:xfrm>
              <a:off x="9224552" y="5524215"/>
              <a:ext cx="489126" cy="0"/>
            </a:xfrm>
            <a:prstGeom prst="line">
              <a:avLst/>
            </a:prstGeom>
            <a:ln>
              <a:solidFill>
                <a:srgbClr val="0070C0"/>
              </a:solidFill>
              <a:prstDash val="dash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E8A879EA-F833-DE50-9003-D72E85F6B121}"/>
                    </a:ext>
                  </a:extLst>
                </p:cNvPr>
                <p:cNvSpPr txBox="1"/>
                <p:nvPr/>
              </p:nvSpPr>
              <p:spPr>
                <a:xfrm>
                  <a:off x="9108371" y="5457329"/>
                  <a:ext cx="62223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E8A879EA-F833-DE50-9003-D72E85F6B1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08371" y="5457329"/>
                  <a:ext cx="622230" cy="369332"/>
                </a:xfrm>
                <a:prstGeom prst="rect">
                  <a:avLst/>
                </a:prstGeom>
                <a:blipFill>
                  <a:blip r:embed="rId12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0556444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A56FE-BC5F-0B8A-B1A5-15216118F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51C66-456A-41A3-37AE-9CFCBB2D4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Rotational Invariance of the Bell State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D9240A-BF48-1F5F-F2BB-F8A8F0A5A24B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57507" y="912351"/>
                <a:ext cx="7839351" cy="4777701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sz="1800" dirty="0"/>
                  <a:t>If we measure the first qubit in basis {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en-US" sz="1800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⊥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800" dirty="0"/>
                  <a:t>}, and second qubit in basis {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1800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⊥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800" dirty="0"/>
                  <a:t>}, for any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/>
                  <a:t>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1800" dirty="0"/>
                  <a:t>. What is the probability that we get matching outcomes and opposing outcomes?</a:t>
                </a:r>
              </a:p>
              <a:p>
                <a:pPr lvl="1"/>
                <a:r>
                  <a:rPr lang="en-US" sz="1400" dirty="0"/>
                  <a:t>Matching outcomes: </a:t>
                </a:r>
              </a:p>
              <a:p>
                <a:pPr lvl="2"/>
                <a:r>
                  <a:rPr lang="en-US" sz="1400" dirty="0"/>
                  <a:t>First qubit in state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en-US" sz="1400" dirty="0"/>
                  <a:t>, and second qubit in state </a:t>
                </a:r>
                <a14:m>
                  <m:oMath xmlns:m="http://schemas.openxmlformats.org/officeDocument/2006/math">
                    <m:r>
                      <a:rPr lang="en-US" sz="1400" b="0" i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en-US" sz="1400" dirty="0"/>
              </a:p>
              <a:p>
                <a:pPr lvl="2"/>
                <a:r>
                  <a:rPr lang="en-US" sz="1400" dirty="0"/>
                  <a:t>First qubit in state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⊥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400" dirty="0"/>
                  <a:t>, and second qubit in state </a:t>
                </a:r>
                <a14:m>
                  <m:oMath xmlns:m="http://schemas.openxmlformats.org/officeDocument/2006/math">
                    <m:r>
                      <a:rPr lang="en-US" sz="1400" b="0" i="0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⊥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en-US" sz="1400" dirty="0"/>
              </a:p>
              <a:p>
                <a:pPr lvl="1"/>
                <a:r>
                  <a:rPr lang="en-US" sz="1400" dirty="0"/>
                  <a:t>Opposing outcomes: </a:t>
                </a:r>
              </a:p>
              <a:p>
                <a:pPr lvl="2"/>
                <a:r>
                  <a:rPr lang="en-US" sz="1400" dirty="0"/>
                  <a:t>First qubit in state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en-US" sz="1400" dirty="0"/>
                  <a:t>, and second qubit in state</a:t>
                </a:r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⊥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en-US" sz="1400" dirty="0"/>
              </a:p>
              <a:p>
                <a:pPr lvl="2"/>
                <a:r>
                  <a:rPr lang="en-US" sz="1400" dirty="0"/>
                  <a:t>First qubit in state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⊥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400" dirty="0"/>
                  <a:t>, and second qubit in state</a:t>
                </a:r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en-US" sz="1400" dirty="0"/>
              </a:p>
              <a:p>
                <a:pPr lvl="1"/>
                <a:endParaRPr lang="en-US" sz="1400" dirty="0"/>
              </a:p>
              <a:p>
                <a:r>
                  <a:rPr lang="en-US" sz="1800" dirty="0"/>
                  <a:t>Suppose the angle between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/>
                  <a:t>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1800" dirty="0"/>
                  <a:t> is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800" dirty="0"/>
                  <a:t>.</a:t>
                </a:r>
              </a:p>
              <a:p>
                <a:pPr lvl="1"/>
                <a:r>
                  <a:rPr lang="en-US" sz="1400" dirty="0"/>
                  <a:t>Prob(1</a:t>
                </a:r>
                <a:r>
                  <a:rPr lang="en-US" sz="1400" baseline="30000" dirty="0"/>
                  <a:t>st</a:t>
                </a:r>
                <a:r>
                  <a:rPr lang="en-US" sz="1400" dirty="0"/>
                  <a:t> bit =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en-US" sz="1400" dirty="0"/>
                  <a:t>) = ½, and the new state =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|"/>
                        <m:endChr m:val="⟩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en-US" sz="1400" dirty="0"/>
                  <a:t>.</a:t>
                </a:r>
              </a:p>
              <a:p>
                <a:pPr lvl="1"/>
                <a:r>
                  <a:rPr lang="en-US" sz="1400" dirty="0"/>
                  <a:t>Prob(2</a:t>
                </a:r>
                <a:r>
                  <a:rPr lang="en-US" sz="1400" baseline="30000" dirty="0"/>
                  <a:t>nd</a:t>
                </a:r>
                <a:r>
                  <a:rPr lang="en-US" sz="1400" dirty="0"/>
                  <a:t> bit =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1400" dirty="0"/>
                  <a:t>)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1400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US" sz="14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endParaRPr lang="en-US" sz="1400" dirty="0"/>
              </a:p>
              <a:p>
                <a:r>
                  <a:rPr lang="en-US" sz="1800" dirty="0"/>
                  <a:t>Similarly,</a:t>
                </a:r>
              </a:p>
              <a:p>
                <a:pPr lvl="1"/>
                <a:r>
                  <a:rPr lang="en-US" sz="1400" dirty="0"/>
                  <a:t>Prob(1st bit =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⊥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400" dirty="0"/>
                  <a:t>) = ½, and the new state =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p>
                            <m:r>
                              <a:rPr lang="en-US" sz="140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140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|"/>
                        <m:endChr m:val="⟩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⊥</m:t>
                            </m:r>
                          </m:sub>
                        </m:sSub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⊥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400" dirty="0"/>
                  <a:t>.</a:t>
                </a:r>
              </a:p>
              <a:p>
                <a:pPr lvl="1"/>
                <a:r>
                  <a:rPr lang="en-US" sz="1400" dirty="0"/>
                  <a:t>Prob(2nd bit =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⊥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400" dirty="0"/>
                  <a:t>)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1400"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US" sz="14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US" sz="140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endParaRPr lang="en-US" sz="1400" dirty="0"/>
              </a:p>
              <a:p>
                <a:r>
                  <a:rPr lang="en-US" sz="1800" dirty="0"/>
                  <a:t>So, once we measure the first qubit</a:t>
                </a:r>
              </a:p>
              <a:p>
                <a:pPr lvl="1"/>
                <a:r>
                  <a:rPr lang="en-US" sz="1400" dirty="0"/>
                  <a:t>the probability of measuring the second qubit in corresponding state {(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en-US" sz="1400" dirty="0"/>
                  <a:t>, </a:t>
                </a:r>
                <a14:m>
                  <m:oMath xmlns:m="http://schemas.openxmlformats.org/officeDocument/2006/math">
                    <m:r>
                      <a:rPr lang="en-US" sz="1400" b="0" i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1400" dirty="0"/>
                  <a:t>) or (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⊥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400" dirty="0"/>
                  <a:t>, </a:t>
                </a:r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⊥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1400" dirty="0"/>
                  <a:t>)}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1400"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US" sz="14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US" sz="140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endParaRPr lang="en-US" sz="1400" dirty="0"/>
              </a:p>
              <a:p>
                <a:pPr lvl="1"/>
                <a:r>
                  <a:rPr lang="en-US" sz="1400" dirty="0"/>
                  <a:t>the probability of measuring the second qubit in the opposite state {(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en-US" sz="1400" dirty="0"/>
                  <a:t>, </a:t>
                </a:r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⊥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1400" dirty="0"/>
                  <a:t>) or (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⊥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400" dirty="0"/>
                  <a:t>, </a:t>
                </a:r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1400" dirty="0"/>
                  <a:t>)}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14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US" sz="14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US" sz="140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D9240A-BF48-1F5F-F2BB-F8A8F0A5A2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57507" y="912351"/>
                <a:ext cx="7839351" cy="4777701"/>
              </a:xfrm>
              <a:blipFill>
                <a:blip r:embed="rId2"/>
                <a:stretch>
                  <a:fillRect l="-78" t="-1405" r="-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10DFF020-BBCF-BFFC-7270-172201811E76}"/>
              </a:ext>
            </a:extLst>
          </p:cNvPr>
          <p:cNvGrpSpPr/>
          <p:nvPr/>
        </p:nvGrpSpPr>
        <p:grpSpPr>
          <a:xfrm>
            <a:off x="8627059" y="4030155"/>
            <a:ext cx="2568633" cy="1801496"/>
            <a:chOff x="5839734" y="4299993"/>
            <a:chExt cx="2568633" cy="1801496"/>
          </a:xfrm>
        </p:grpSpPr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C4255240-515A-DBDE-F387-826D6A9D6AF2}"/>
                </a:ext>
              </a:extLst>
            </p:cNvPr>
            <p:cNvCxnSpPr>
              <a:cxnSpLocks/>
            </p:cNvCxnSpPr>
            <p:nvPr/>
          </p:nvCxnSpPr>
          <p:spPr>
            <a:xfrm>
              <a:off x="6721040" y="5916823"/>
              <a:ext cx="116085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EC154358-0FD2-32B8-98CB-53B8B56C0D4F}"/>
                    </a:ext>
                  </a:extLst>
                </p:cNvPr>
                <p:cNvSpPr txBox="1"/>
                <p:nvPr/>
              </p:nvSpPr>
              <p:spPr>
                <a:xfrm>
                  <a:off x="7803061" y="5732157"/>
                  <a:ext cx="60530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EC154358-0FD2-32B8-98CB-53B8B56C0D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03061" y="5732157"/>
                  <a:ext cx="605306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B63B10E9-D5F7-904E-19B9-D2797AA3201B}"/>
                    </a:ext>
                  </a:extLst>
                </p:cNvPr>
                <p:cNvSpPr txBox="1"/>
                <p:nvPr/>
              </p:nvSpPr>
              <p:spPr>
                <a:xfrm>
                  <a:off x="6429404" y="4299993"/>
                  <a:ext cx="60530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B63B10E9-D5F7-904E-19B9-D2797AA320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29404" y="4299993"/>
                  <a:ext cx="605306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2870E64C-E7B5-173E-38CC-4D713400E4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21040" y="4712392"/>
              <a:ext cx="0" cy="120443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DCD39766-A3B1-0730-278B-A269AB3967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32057" y="5196417"/>
              <a:ext cx="760571" cy="749451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6F0AA1A0-3FFC-9A87-231F-AA979982F2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39734" y="5158939"/>
              <a:ext cx="875831" cy="786929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639BEA0-DEFB-93AD-218D-E411DFB7BA5E}"/>
                  </a:ext>
                </a:extLst>
              </p:cNvPr>
              <p:cNvSpPr txBox="1"/>
              <p:nvPr/>
            </p:nvSpPr>
            <p:spPr>
              <a:xfrm>
                <a:off x="9758678" y="3354295"/>
                <a:ext cx="225316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Measure second qubit in basis {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⊥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} </a:t>
                </a: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639BEA0-DEFB-93AD-218D-E411DFB7BA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8678" y="3354295"/>
                <a:ext cx="2253163" cy="646331"/>
              </a:xfrm>
              <a:prstGeom prst="rect">
                <a:avLst/>
              </a:prstGeom>
              <a:blipFill>
                <a:blip r:embed="rId5"/>
                <a:stretch>
                  <a:fillRect l="-2439" t="-4717" r="-3523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0A5CFC0E-17EE-69C7-F360-91C13219D4C3}"/>
              </a:ext>
            </a:extLst>
          </p:cNvPr>
          <p:cNvGrpSpPr/>
          <p:nvPr/>
        </p:nvGrpSpPr>
        <p:grpSpPr>
          <a:xfrm>
            <a:off x="9916428" y="264338"/>
            <a:ext cx="1944838" cy="1763399"/>
            <a:chOff x="9916428" y="264338"/>
            <a:chExt cx="1944838" cy="1763399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967A9D90-F5E0-2853-FD38-8995A885EFE3}"/>
                </a:ext>
              </a:extLst>
            </p:cNvPr>
            <p:cNvCxnSpPr>
              <a:cxnSpLocks/>
            </p:cNvCxnSpPr>
            <p:nvPr/>
          </p:nvCxnSpPr>
          <p:spPr>
            <a:xfrm>
              <a:off x="10484372" y="1587553"/>
              <a:ext cx="116085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7D3E11A1-B63A-7F11-75FC-1DC23AACFDC2}"/>
                    </a:ext>
                  </a:extLst>
                </p:cNvPr>
                <p:cNvSpPr txBox="1"/>
                <p:nvPr/>
              </p:nvSpPr>
              <p:spPr>
                <a:xfrm>
                  <a:off x="11255960" y="1658405"/>
                  <a:ext cx="60530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7D3E11A1-B63A-7F11-75FC-1DC23AACFD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55960" y="1658405"/>
                  <a:ext cx="605306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FC1B03B-3E63-0B72-EB37-EB15234887BE}"/>
                    </a:ext>
                  </a:extLst>
                </p:cNvPr>
                <p:cNvSpPr txBox="1"/>
                <p:nvPr/>
              </p:nvSpPr>
              <p:spPr>
                <a:xfrm>
                  <a:off x="11073019" y="1031321"/>
                  <a:ext cx="62223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FC1B03B-3E63-0B72-EB37-EB15234887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73019" y="1031321"/>
                  <a:ext cx="622230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FF2DD1A3-EE49-ED46-0FA5-C1925C4B1B12}"/>
                    </a:ext>
                  </a:extLst>
                </p:cNvPr>
                <p:cNvSpPr txBox="1"/>
                <p:nvPr/>
              </p:nvSpPr>
              <p:spPr>
                <a:xfrm>
                  <a:off x="9916428" y="264338"/>
                  <a:ext cx="60530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FF2DD1A3-EE49-ED46-0FA5-C1925C4B1B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16428" y="264338"/>
                  <a:ext cx="605306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E275D776-D2B7-78C7-6FE6-A0D7FEE6FD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84372" y="383122"/>
              <a:ext cx="0" cy="120443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8406765-4BF1-8010-8A94-B5D10F9093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78897" y="912351"/>
              <a:ext cx="812727" cy="704247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12430785-57D3-8E37-86B9-D6A82EC56F47}"/>
                    </a:ext>
                  </a:extLst>
                </p:cNvPr>
                <p:cNvSpPr txBox="1"/>
                <p:nvPr/>
              </p:nvSpPr>
              <p:spPr>
                <a:xfrm>
                  <a:off x="10715826" y="1651504"/>
                  <a:ext cx="48411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12430785-57D3-8E37-86B9-D6A82EC56F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15826" y="1651504"/>
                  <a:ext cx="484112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4286C00-5476-9BC4-58D9-DCBD976753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21734" y="1696549"/>
              <a:ext cx="742611" cy="0"/>
            </a:xfrm>
            <a:prstGeom prst="line">
              <a:avLst/>
            </a:prstGeom>
            <a:ln>
              <a:solidFill>
                <a:srgbClr val="0070C0"/>
              </a:solidFill>
              <a:prstDash val="dash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B848601-E0AA-C176-3034-3778FF0AE34F}"/>
                </a:ext>
              </a:extLst>
            </p:cNvPr>
            <p:cNvCxnSpPr>
              <a:cxnSpLocks/>
            </p:cNvCxnSpPr>
            <p:nvPr/>
          </p:nvCxnSpPr>
          <p:spPr>
            <a:xfrm>
              <a:off x="11276056" y="922399"/>
              <a:ext cx="8385" cy="704247"/>
            </a:xfrm>
            <a:prstGeom prst="line">
              <a:avLst/>
            </a:prstGeom>
            <a:ln>
              <a:solidFill>
                <a:srgbClr val="0070C0"/>
              </a:solidFill>
              <a:prstDash val="dash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D6E53CA2-5488-A663-B54A-A6121D8046CE}"/>
              </a:ext>
            </a:extLst>
          </p:cNvPr>
          <p:cNvGrpSpPr/>
          <p:nvPr/>
        </p:nvGrpSpPr>
        <p:grpSpPr>
          <a:xfrm>
            <a:off x="9346804" y="2048434"/>
            <a:ext cx="2514462" cy="1314099"/>
            <a:chOff x="9346804" y="2048434"/>
            <a:chExt cx="2514462" cy="1314099"/>
          </a:xfrm>
        </p:grpSpPr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2EB5BBB5-752B-6CBF-B1A2-2D9E24989029}"/>
                </a:ext>
              </a:extLst>
            </p:cNvPr>
            <p:cNvCxnSpPr>
              <a:cxnSpLocks/>
            </p:cNvCxnSpPr>
            <p:nvPr/>
          </p:nvCxnSpPr>
          <p:spPr>
            <a:xfrm>
              <a:off x="10508302" y="3333488"/>
              <a:ext cx="116085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363D23C2-0795-9E28-0B7B-2CBD095907CE}"/>
                    </a:ext>
                  </a:extLst>
                </p:cNvPr>
                <p:cNvSpPr txBox="1"/>
                <p:nvPr/>
              </p:nvSpPr>
              <p:spPr>
                <a:xfrm>
                  <a:off x="11255960" y="2932368"/>
                  <a:ext cx="60530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363D23C2-0795-9E28-0B7B-2CBD095907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55960" y="2932368"/>
                  <a:ext cx="605306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59E1E080-B4B1-6638-EC66-7C6C83568728}"/>
                    </a:ext>
                  </a:extLst>
                </p:cNvPr>
                <p:cNvSpPr txBox="1"/>
                <p:nvPr/>
              </p:nvSpPr>
              <p:spPr>
                <a:xfrm>
                  <a:off x="9346804" y="2218438"/>
                  <a:ext cx="62223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⊥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59E1E080-B4B1-6638-EC66-7C6C835687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46804" y="2218438"/>
                  <a:ext cx="622230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80C14E0E-D44B-3304-43C4-424E0E23C073}"/>
                    </a:ext>
                  </a:extLst>
                </p:cNvPr>
                <p:cNvSpPr txBox="1"/>
                <p:nvPr/>
              </p:nvSpPr>
              <p:spPr>
                <a:xfrm>
                  <a:off x="10479737" y="2048434"/>
                  <a:ext cx="60530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80C14E0E-D44B-3304-43C4-424E0E23C0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79737" y="2048434"/>
                  <a:ext cx="605306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2F19A291-983A-7AF1-2018-8E6FC5DD0A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08302" y="2129057"/>
              <a:ext cx="0" cy="120443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AAF4F835-EBDE-0C24-7F94-2CAD44E5AE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19319" y="2613082"/>
              <a:ext cx="760571" cy="749451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7408F751-5A3E-92E0-9BCB-5CEF76D9079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26996" y="2575604"/>
              <a:ext cx="875831" cy="786929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15549CAA-4221-F98A-3E65-62316A7E6CC4}"/>
                    </a:ext>
                  </a:extLst>
                </p:cNvPr>
                <p:cNvSpPr txBox="1"/>
                <p:nvPr/>
              </p:nvSpPr>
              <p:spPr>
                <a:xfrm>
                  <a:off x="11144998" y="2354260"/>
                  <a:ext cx="60530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15549CAA-4221-F98A-3E65-62316A7E6C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44998" y="2354260"/>
                  <a:ext cx="605306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A0D08596-F9FC-5FBA-1A27-4F9DC2A8CED7}"/>
                  </a:ext>
                </a:extLst>
              </p:cNvPr>
              <p:cNvSpPr txBox="1"/>
              <p:nvPr/>
            </p:nvSpPr>
            <p:spPr>
              <a:xfrm>
                <a:off x="8959733" y="5133107"/>
                <a:ext cx="622230" cy="3692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A0D08596-F9FC-5FBA-1A27-4F9DC2A8CE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9733" y="5133107"/>
                <a:ext cx="622230" cy="36928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C14D889-A766-CA87-66F6-B9C484241A32}"/>
                  </a:ext>
                </a:extLst>
              </p:cNvPr>
              <p:cNvSpPr txBox="1"/>
              <p:nvPr/>
            </p:nvSpPr>
            <p:spPr>
              <a:xfrm>
                <a:off x="9719129" y="5124178"/>
                <a:ext cx="622230" cy="3692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C14D889-A766-CA87-66F6-B9C484241A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9129" y="5124178"/>
                <a:ext cx="622230" cy="36928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50E993AC-34EE-F574-21D3-D5EF1A7C56CF}"/>
              </a:ext>
            </a:extLst>
          </p:cNvPr>
          <p:cNvGrpSpPr/>
          <p:nvPr/>
        </p:nvGrpSpPr>
        <p:grpSpPr>
          <a:xfrm>
            <a:off x="6753082" y="2094303"/>
            <a:ext cx="2484648" cy="1883253"/>
            <a:chOff x="6753082" y="2114399"/>
            <a:chExt cx="2484648" cy="188325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5814BB47-E4E3-C7D8-ED00-7827BD211F85}"/>
                    </a:ext>
                  </a:extLst>
                </p:cNvPr>
                <p:cNvSpPr txBox="1"/>
                <p:nvPr/>
              </p:nvSpPr>
              <p:spPr>
                <a:xfrm>
                  <a:off x="7216526" y="3351321"/>
                  <a:ext cx="2021204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Measure first qubit in basis {</a:t>
                  </a:r>
                  <a14:m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</m:oMath>
                  </a14:m>
                  <a:r>
                    <a:rPr lang="en-US" dirty="0"/>
                    <a:t>, </a:t>
                  </a:r>
                  <a14:m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⊥</m:t>
                              </m:r>
                            </m:sub>
                          </m:sSub>
                        </m:e>
                      </m:d>
                    </m:oMath>
                  </a14:m>
                  <a:r>
                    <a:rPr lang="en-US" dirty="0"/>
                    <a:t>} </a:t>
                  </a:r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5814BB47-E4E3-C7D8-ED00-7827BD211F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16526" y="3351321"/>
                  <a:ext cx="2021204" cy="646331"/>
                </a:xfrm>
                <a:prstGeom prst="rect">
                  <a:avLst/>
                </a:prstGeom>
                <a:blipFill>
                  <a:blip r:embed="rId16"/>
                  <a:stretch>
                    <a:fillRect l="-2719" t="-4717" r="-906" b="-141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4674F46E-E6A8-4A7B-8017-A974EE0695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6091" y="2817975"/>
              <a:ext cx="1022559" cy="52922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3613F702-B218-7FC5-11CF-F3B96511E3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14767" y="2308999"/>
              <a:ext cx="484112" cy="105844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014C91FD-B768-D6A9-F04E-9CB0B4920DE0}"/>
                </a:ext>
              </a:extLst>
            </p:cNvPr>
            <p:cNvCxnSpPr>
              <a:cxnSpLocks/>
            </p:cNvCxnSpPr>
            <p:nvPr/>
          </p:nvCxnSpPr>
          <p:spPr>
            <a:xfrm>
              <a:off x="7798879" y="3347195"/>
              <a:ext cx="116085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B8AF1691-53A5-298B-E6F9-9256C1051A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8879" y="2142764"/>
              <a:ext cx="0" cy="120443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8624C186-4CFD-3302-41B6-F6C20398BAC4}"/>
                    </a:ext>
                  </a:extLst>
                </p:cNvPr>
                <p:cNvSpPr txBox="1"/>
                <p:nvPr/>
              </p:nvSpPr>
              <p:spPr>
                <a:xfrm>
                  <a:off x="6753082" y="2317686"/>
                  <a:ext cx="62223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⊥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8624C186-4CFD-3302-41B6-F6C20398BA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3082" y="2317686"/>
                  <a:ext cx="622230" cy="369332"/>
                </a:xfrm>
                <a:prstGeom prst="rect">
                  <a:avLst/>
                </a:prstGeom>
                <a:blipFill>
                  <a:blip r:embed="rId17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80BD85FC-8CAC-B459-52D8-C3CBA0145891}"/>
                    </a:ext>
                  </a:extLst>
                </p:cNvPr>
                <p:cNvSpPr txBox="1"/>
                <p:nvPr/>
              </p:nvSpPr>
              <p:spPr>
                <a:xfrm>
                  <a:off x="8551276" y="2453508"/>
                  <a:ext cx="60530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80BD85FC-8CAC-B459-52D8-C3CBA01458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1276" y="2453508"/>
                  <a:ext cx="605306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99A47D7D-5786-ACA4-739F-9C691CADD33F}"/>
                    </a:ext>
                  </a:extLst>
                </p:cNvPr>
                <p:cNvSpPr txBox="1"/>
                <p:nvPr/>
              </p:nvSpPr>
              <p:spPr>
                <a:xfrm>
                  <a:off x="8589634" y="2965276"/>
                  <a:ext cx="60530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99A47D7D-5786-ACA4-739F-9C691CADD3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89634" y="2965276"/>
                  <a:ext cx="605306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9C2B9E1D-33EC-939F-53D0-A1E50E3696DA}"/>
                    </a:ext>
                  </a:extLst>
                </p:cNvPr>
                <p:cNvSpPr txBox="1"/>
                <p:nvPr/>
              </p:nvSpPr>
              <p:spPr>
                <a:xfrm>
                  <a:off x="7775116" y="2114399"/>
                  <a:ext cx="60530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9C2B9E1D-33EC-939F-53D0-A1E50E3696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75116" y="2114399"/>
                  <a:ext cx="605306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91E72495-DF73-506C-BCD3-C61F2BCE6340}"/>
              </a:ext>
            </a:extLst>
          </p:cNvPr>
          <p:cNvCxnSpPr>
            <a:cxnSpLocks/>
          </p:cNvCxnSpPr>
          <p:nvPr/>
        </p:nvCxnSpPr>
        <p:spPr>
          <a:xfrm flipV="1">
            <a:off x="9502890" y="5160832"/>
            <a:ext cx="1022559" cy="52922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93B3BE34-14E5-819A-AC1F-61F83159606C}"/>
              </a:ext>
            </a:extLst>
          </p:cNvPr>
          <p:cNvCxnSpPr>
            <a:cxnSpLocks/>
          </p:cNvCxnSpPr>
          <p:nvPr/>
        </p:nvCxnSpPr>
        <p:spPr>
          <a:xfrm flipH="1" flipV="1">
            <a:off x="9051566" y="4651856"/>
            <a:ext cx="484112" cy="105844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E3AE01C-D486-1577-12A0-DD4999CD57A7}"/>
                  </a:ext>
                </a:extLst>
              </p:cNvPr>
              <p:cNvSpPr txBox="1"/>
              <p:nvPr/>
            </p:nvSpPr>
            <p:spPr>
              <a:xfrm>
                <a:off x="263385" y="5718417"/>
                <a:ext cx="8287891" cy="92333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ndara" panose="020E0502030303020204" pitchFamily="34" charset="0"/>
                  </a:rPr>
                  <a:t>I</a:t>
                </a:r>
                <a:r>
                  <a:rPr lang="en-US" b="0" dirty="0">
                    <a:effectLst/>
                    <a:latin typeface="Candara" panose="020E0502030303020204" pitchFamily="34" charset="0"/>
                  </a:rPr>
                  <a:t>f we measure the two qubits in two different bases which make an angle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effectLst/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b="0" dirty="0">
                    <a:effectLst/>
                    <a:latin typeface="Candara" panose="020E0502030303020204" pitchFamily="34" charset="0"/>
                  </a:rPr>
                  <a:t> with each other, then the probability that we get corresponding outcomes on the two measurements is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b="0" i="1" dirty="0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b="0" i="0" dirty="0" smtClean="0">
                                <a:effectLst/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US" b="0" i="1" dirty="0" smtClean="0"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US" b="0" i="1" dirty="0" smtClean="0">
                            <a:effectLst/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endParaRPr lang="en-US" b="0" dirty="0">
                  <a:effectLst/>
                  <a:latin typeface="Candara" panose="020E050203030302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E3AE01C-D486-1577-12A0-DD4999CD57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385" y="5718417"/>
                <a:ext cx="8287891" cy="92333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AAB9DD6-6FB7-F090-5015-8DD884329AF9}"/>
                  </a:ext>
                </a:extLst>
              </p:cNvPr>
              <p:cNvSpPr txBox="1"/>
              <p:nvPr/>
            </p:nvSpPr>
            <p:spPr>
              <a:xfrm>
                <a:off x="10417119" y="4996410"/>
                <a:ext cx="6053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AAB9DD6-6FB7-F090-5015-8DD884329A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7119" y="4996410"/>
                <a:ext cx="605306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25A02AF-4BCA-A13B-2487-C979FD57FA4F}"/>
                  </a:ext>
                </a:extLst>
              </p:cNvPr>
              <p:cNvSpPr txBox="1"/>
              <p:nvPr/>
            </p:nvSpPr>
            <p:spPr>
              <a:xfrm>
                <a:off x="10146920" y="4665798"/>
                <a:ext cx="6053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25A02AF-4BCA-A13B-2487-C979FD57FA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6920" y="4665798"/>
                <a:ext cx="605306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7405AD5-72CF-2230-0679-50EC44DFE6D6}"/>
                  </a:ext>
                </a:extLst>
              </p:cNvPr>
              <p:cNvSpPr txBox="1"/>
              <p:nvPr/>
            </p:nvSpPr>
            <p:spPr>
              <a:xfrm>
                <a:off x="8764090" y="4301641"/>
                <a:ext cx="6222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⊥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7405AD5-72CF-2230-0679-50EC44DFE6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4090" y="4301641"/>
                <a:ext cx="622230" cy="369332"/>
              </a:xfrm>
              <a:prstGeom prst="rect">
                <a:avLst/>
              </a:prstGeom>
              <a:blipFill>
                <a:blip r:embed="rId24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CD4930B-26DC-FB8B-12B9-B311E28FB77C}"/>
                  </a:ext>
                </a:extLst>
              </p:cNvPr>
              <p:cNvSpPr txBox="1"/>
              <p:nvPr/>
            </p:nvSpPr>
            <p:spPr>
              <a:xfrm>
                <a:off x="8224576" y="4557247"/>
                <a:ext cx="6222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⊥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CD4930B-26DC-FB8B-12B9-B311E28FB7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4576" y="4557247"/>
                <a:ext cx="622230" cy="369332"/>
              </a:xfrm>
              <a:prstGeom prst="rect">
                <a:avLst/>
              </a:prstGeom>
              <a:blipFill>
                <a:blip r:embed="rId25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59431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55F2C-1CB3-8A13-35E4-2B3F262D5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CHSH Inequality - Classical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D4D89-6AD6-0841-4186-5665F2364A5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8845" y="941512"/>
            <a:ext cx="6162903" cy="335164"/>
          </a:xfrm>
        </p:spPr>
        <p:txBody>
          <a:bodyPr>
            <a:normAutofit fontScale="62500" lnSpcReduction="20000"/>
          </a:bodyPr>
          <a:lstStyle/>
          <a:p>
            <a:r>
              <a:rPr lang="en-US" dirty="0">
                <a:hlinkClick r:id="rId2"/>
              </a:rPr>
              <a:t>Clauser, Horn, </a:t>
            </a:r>
            <a:r>
              <a:rPr lang="en-US" dirty="0" err="1">
                <a:hlinkClick r:id="rId2"/>
              </a:rPr>
              <a:t>Shimony</a:t>
            </a:r>
            <a:r>
              <a:rPr lang="en-US" dirty="0">
                <a:hlinkClick r:id="rId2"/>
              </a:rPr>
              <a:t>, and Holt (CHSH) Inequality</a:t>
            </a:r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8BB150E3-0DC2-6C61-9D6A-96E39BC6001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38215" y="1453635"/>
                <a:ext cx="7402569" cy="4525133"/>
              </a:xfrm>
              <a:prstGeom prst="rect">
                <a:avLst/>
              </a:prstGeom>
            </p:spPr>
            <p:txBody>
              <a:bodyPr vert="horz">
                <a:normAutofit fontScale="70000" lnSpcReduction="20000"/>
              </a:bodyPr>
              <a:lstStyle>
                <a:lvl1pPr marL="274320" indent="-274320" algn="l" rtl="0" eaLnBrk="1" latinLnBrk="0" hangingPunct="1"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/>
                  <a:buChar char=""/>
                  <a:defRPr kumimoji="0" sz="2800" kern="1200">
                    <a:solidFill>
                      <a:schemeClr val="tx1"/>
                    </a:solidFill>
                    <a:latin typeface="Candara" pitchFamily="34" charset="0"/>
                    <a:ea typeface="+mn-ea"/>
                    <a:cs typeface="+mn-cs"/>
                  </a:defRPr>
                </a:lvl1pPr>
                <a:lvl2pPr marL="548640" indent="-274320" algn="l" rtl="0" eaLnBrk="1" latinLnBrk="0" hangingPunct="1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/>
                  <a:buChar char=""/>
                  <a:defRPr kumimoji="0" sz="2400" kern="1200">
                    <a:solidFill>
                      <a:srgbClr val="002060"/>
                    </a:solidFill>
                    <a:latin typeface="Candara" pitchFamily="34" charset="0"/>
                    <a:ea typeface="+mn-ea"/>
                    <a:cs typeface="+mn-cs"/>
                  </a:defRPr>
                </a:lvl2pPr>
                <a:lvl3pPr marL="822960" indent="-228600" algn="l" rtl="0" eaLnBrk="1" latinLnBrk="0" hangingPunct="1">
                  <a:spcBef>
                    <a:spcPts val="500"/>
                  </a:spcBef>
                  <a:buClr>
                    <a:schemeClr val="bg1">
                      <a:shade val="50000"/>
                    </a:schemeClr>
                  </a:buClr>
                  <a:buSzPct val="76000"/>
                  <a:buFont typeface="Wingdings 3"/>
                  <a:buChar char=""/>
                  <a:defRPr kumimoji="0" sz="2400" kern="1200">
                    <a:solidFill>
                      <a:srgbClr val="006600"/>
                    </a:solidFill>
                    <a:latin typeface="Candara" pitchFamily="34" charset="0"/>
                    <a:ea typeface="+mn-ea"/>
                    <a:cs typeface="+mn-cs"/>
                  </a:defRPr>
                </a:lvl3pPr>
                <a:lvl4pPr marL="1097280" indent="-228600" algn="l" rtl="0" eaLnBrk="1" latinLnBrk="0" hangingPunct="1">
                  <a:spcBef>
                    <a:spcPts val="400"/>
                  </a:spcBef>
                  <a:buClr>
                    <a:schemeClr val="accent2">
                      <a:shade val="75000"/>
                    </a:schemeClr>
                  </a:buClr>
                  <a:buSzPct val="70000"/>
                  <a:buFont typeface="Wingdings"/>
                  <a:buChar char=""/>
                  <a:defRPr kumimoji="0" sz="2000" kern="1200">
                    <a:solidFill>
                      <a:schemeClr val="tx1"/>
                    </a:solidFill>
                    <a:latin typeface="Candara" pitchFamily="34" charset="0"/>
                    <a:ea typeface="+mn-ea"/>
                    <a:cs typeface="+mn-cs"/>
                  </a:defRPr>
                </a:lvl4pPr>
                <a:lvl5pPr marL="1371600" indent="-228600" algn="l" rtl="0" eaLnBrk="1" latinLnBrk="0" hangingPunct="1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/>
                  <a:buChar char=""/>
                  <a:defRPr kumimoji="0" sz="1800" kern="1200">
                    <a:solidFill>
                      <a:schemeClr val="tx1"/>
                    </a:solidFill>
                    <a:latin typeface="Candara" pitchFamily="34" charset="0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Alice and Bob cannot communicate</a:t>
                </a:r>
              </a:p>
              <a:p>
                <a:r>
                  <a:rPr lang="en-US" dirty="0"/>
                  <a:t>Example: </a:t>
                </a:r>
              </a:p>
              <a:p>
                <a:pPr lvl="1"/>
                <a:r>
                  <a:rPr lang="en-US" dirty="0"/>
                  <a:t>If x=0,y=1, and a=0 and b=1 - Lose</a:t>
                </a:r>
              </a:p>
              <a:p>
                <a:pPr lvl="1"/>
                <a:r>
                  <a:rPr lang="en-US" dirty="0"/>
                  <a:t>If x=0,y=1, and a=1 and b=1 - Win</a:t>
                </a:r>
              </a:p>
              <a:p>
                <a:r>
                  <a:rPr lang="en-US" dirty="0"/>
                  <a:t>They want to figure out a strategy to maximize the probability of success.</a:t>
                </a:r>
              </a:p>
              <a:p>
                <a:pPr lvl="1"/>
                <a:r>
                  <a:rPr lang="en-US" dirty="0"/>
                  <a:t>Can use a probabilistic strategy also.</a:t>
                </a:r>
              </a:p>
              <a:p>
                <a:endParaRPr lang="en-US" dirty="0"/>
              </a:p>
              <a:p>
                <a:r>
                  <a:rPr lang="en-US" dirty="0"/>
                  <a:t>Best that Alice and Bob can do is target 3 out of 4 cases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case)</a:t>
                </a:r>
              </a:p>
              <a:p>
                <a:pPr lvl="1"/>
                <a:r>
                  <a:rPr lang="en-US" dirty="0"/>
                  <a:t>Alice and Bob always output 0</a:t>
                </a:r>
              </a:p>
              <a:p>
                <a:pPr lvl="1"/>
                <a:r>
                  <a:rPr lang="en-US" dirty="0"/>
                  <a:t>They succeed with probability ¾</a:t>
                </a:r>
              </a:p>
              <a:p>
                <a:r>
                  <a:rPr lang="en-US" dirty="0"/>
                  <a:t>In any classical scenario, it is not possible to succeed with probability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dirty="0"/>
                  <a:t>, if the x and y are uniformly randomly selected from {0,1}.</a:t>
                </a:r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8BB150E3-0DC2-6C61-9D6A-96E39BC600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8215" y="1453635"/>
                <a:ext cx="7402569" cy="4525133"/>
              </a:xfrm>
              <a:prstGeom prst="rect">
                <a:avLst/>
              </a:prstGeom>
              <a:blipFill>
                <a:blip r:embed="rId3"/>
                <a:stretch>
                  <a:fillRect l="-329" t="-1884" r="-13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AD233432-7585-12E9-235E-E6740C338BF3}"/>
              </a:ext>
            </a:extLst>
          </p:cNvPr>
          <p:cNvGrpSpPr/>
          <p:nvPr/>
        </p:nvGrpSpPr>
        <p:grpSpPr>
          <a:xfrm>
            <a:off x="251216" y="1354380"/>
            <a:ext cx="4286999" cy="4007117"/>
            <a:chOff x="107773" y="1103368"/>
            <a:chExt cx="4286999" cy="4007117"/>
          </a:xfrm>
        </p:grpSpPr>
        <p:pic>
          <p:nvPicPr>
            <p:cNvPr id="23" name="Graphic 22" descr="Woman outline">
              <a:extLst>
                <a:ext uri="{FF2B5EF4-FFF2-40B4-BE49-F238E27FC236}">
                  <a16:creationId xmlns:a16="http://schemas.microsoft.com/office/drawing/2014/main" id="{6C7E440C-D589-C3FE-311D-6F16DC1F63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28091" y="1482749"/>
              <a:ext cx="914400" cy="9144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D9811D1-F550-5A36-03FB-047158197940}"/>
                </a:ext>
              </a:extLst>
            </p:cNvPr>
            <p:cNvSpPr txBox="1"/>
            <p:nvPr/>
          </p:nvSpPr>
          <p:spPr>
            <a:xfrm>
              <a:off x="1228092" y="1103368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Alice</a:t>
              </a:r>
            </a:p>
          </p:txBody>
        </p:sp>
        <p:pic>
          <p:nvPicPr>
            <p:cNvPr id="25" name="Graphic 24" descr="Man with solid fill">
              <a:extLst>
                <a:ext uri="{FF2B5EF4-FFF2-40B4-BE49-F238E27FC236}">
                  <a16:creationId xmlns:a16="http://schemas.microsoft.com/office/drawing/2014/main" id="{B2FA5C48-B89E-D98E-AC2D-E7517F2CCA9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131194" y="1519836"/>
              <a:ext cx="914400" cy="91440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2DE03F4-775C-3BC1-FCEF-6A13B394C674}"/>
                </a:ext>
              </a:extLst>
            </p:cNvPr>
            <p:cNvSpPr txBox="1"/>
            <p:nvPr/>
          </p:nvSpPr>
          <p:spPr>
            <a:xfrm>
              <a:off x="3131193" y="1119089"/>
              <a:ext cx="7586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Bob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4F1584B-3316-F8F5-3393-3B1766B287CC}"/>
                </a:ext>
              </a:extLst>
            </p:cNvPr>
            <p:cNvSpPr txBox="1"/>
            <p:nvPr/>
          </p:nvSpPr>
          <p:spPr>
            <a:xfrm>
              <a:off x="107773" y="2518193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Input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03DD9DB-55C0-8F8C-1950-AEB8CA672A87}"/>
                </a:ext>
              </a:extLst>
            </p:cNvPr>
            <p:cNvCxnSpPr>
              <a:cxnSpLocks/>
            </p:cNvCxnSpPr>
            <p:nvPr/>
          </p:nvCxnSpPr>
          <p:spPr>
            <a:xfrm>
              <a:off x="2405127" y="1202624"/>
              <a:ext cx="0" cy="2713055"/>
            </a:xfrm>
            <a:prstGeom prst="line">
              <a:avLst/>
            </a:prstGeom>
            <a:ln>
              <a:solidFill>
                <a:srgbClr val="000000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2BBD5D97-EAAE-3F8F-A954-FC4E8FB03CFE}"/>
                    </a:ext>
                  </a:extLst>
                </p:cNvPr>
                <p:cNvSpPr txBox="1"/>
                <p:nvPr/>
              </p:nvSpPr>
              <p:spPr>
                <a:xfrm>
                  <a:off x="801037" y="2517304"/>
                  <a:ext cx="176850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∈{0,1}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2BBD5D97-EAAE-3F8F-A954-FC4E8FB03C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1037" y="2517304"/>
                  <a:ext cx="1768509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1639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D3557EFC-5A72-34AC-8218-2D3F657DCA53}"/>
                    </a:ext>
                  </a:extLst>
                </p:cNvPr>
                <p:cNvSpPr txBox="1"/>
                <p:nvPr/>
              </p:nvSpPr>
              <p:spPr>
                <a:xfrm>
                  <a:off x="2626263" y="2511941"/>
                  <a:ext cx="176850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∈{0,1}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D3557EFC-5A72-34AC-8218-2D3F657DCA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26263" y="2511941"/>
                  <a:ext cx="1768509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1639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EF02185-218A-6B15-8811-74D807F6BD03}"/>
                </a:ext>
              </a:extLst>
            </p:cNvPr>
            <p:cNvSpPr txBox="1"/>
            <p:nvPr/>
          </p:nvSpPr>
          <p:spPr>
            <a:xfrm>
              <a:off x="107773" y="3073310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Output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FAAD5855-A1C9-9472-20C5-6B1261C61107}"/>
                    </a:ext>
                  </a:extLst>
                </p:cNvPr>
                <p:cNvSpPr txBox="1"/>
                <p:nvPr/>
              </p:nvSpPr>
              <p:spPr>
                <a:xfrm>
                  <a:off x="801037" y="3072421"/>
                  <a:ext cx="176850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∈{0,1}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FAAD5855-A1C9-9472-20C5-6B1261C611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1037" y="3072421"/>
                  <a:ext cx="1768509" cy="369332"/>
                </a:xfrm>
                <a:prstGeom prst="rect">
                  <a:avLst/>
                </a:prstGeom>
                <a:blipFill>
                  <a:blip r:embed="rId10"/>
                  <a:stretch>
                    <a:fillRect b="-1639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E863161D-44BB-28E2-32C5-24E7AA734108}"/>
                    </a:ext>
                  </a:extLst>
                </p:cNvPr>
                <p:cNvSpPr txBox="1"/>
                <p:nvPr/>
              </p:nvSpPr>
              <p:spPr>
                <a:xfrm>
                  <a:off x="2626263" y="3067058"/>
                  <a:ext cx="176850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∈{0,1}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E863161D-44BB-28E2-32C5-24E7AA7341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26263" y="3067058"/>
                  <a:ext cx="1768509" cy="369332"/>
                </a:xfrm>
                <a:prstGeom prst="rect">
                  <a:avLst/>
                </a:prstGeom>
                <a:blipFill>
                  <a:blip r:embed="rId11"/>
                  <a:stretch>
                    <a:fillRect b="-1639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1A50D5EA-8928-4F6E-5E6D-4C7A64905DE9}"/>
                    </a:ext>
                  </a:extLst>
                </p:cNvPr>
                <p:cNvSpPr txBox="1"/>
                <p:nvPr/>
              </p:nvSpPr>
              <p:spPr>
                <a:xfrm>
                  <a:off x="1134941" y="3910156"/>
                  <a:ext cx="2540372" cy="1200329"/>
                </a:xfrm>
                <a:prstGeom prst="rect">
                  <a:avLst/>
                </a:prstGeom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If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a14:m>
                  <a:r>
                    <a:rPr lang="en-US" dirty="0"/>
                    <a:t>, then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endParaRPr lang="en-US" b="0" dirty="0"/>
                </a:p>
                <a:p>
                  <a:r>
                    <a:rPr lang="en-US" dirty="0"/>
                    <a:t>If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a14:m>
                  <a:r>
                    <a:rPr lang="en-US" dirty="0"/>
                    <a:t>, then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endParaRPr lang="en-US" dirty="0"/>
                </a:p>
                <a:p>
                  <a:pPr algn="ctr"/>
                  <a:r>
                    <a:rPr lang="en-US" dirty="0"/>
                    <a:t>OR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⨁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1A50D5EA-8928-4F6E-5E6D-4C7A64905D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4941" y="3910156"/>
                  <a:ext cx="2540372" cy="120032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2176902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833B00-1F22-08E0-4D1F-58087DDB213B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274868" y="910112"/>
                <a:ext cx="4465340" cy="2679626"/>
              </a:xfrm>
            </p:spPr>
            <p:txBody>
              <a:bodyPr>
                <a:noAutofit/>
              </a:bodyPr>
              <a:lstStyle/>
              <a:p>
                <a:r>
                  <a:rPr lang="en-US" sz="1600" b="1" dirty="0"/>
                  <a:t>Alice and Bob can succeed with probability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1600" b="1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sz="1600" b="1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1" i="0" dirty="0" smtClean="0">
                                <a:latin typeface="Cambria Math" panose="02040503050406030204" pitchFamily="18" charset="0"/>
                              </a:rPr>
                              <m:t>𝐜𝐨𝐬</m:t>
                            </m:r>
                          </m:e>
                          <m:sup>
                            <m:r>
                              <a:rPr lang="en-US" sz="1600" b="1" i="1" dirty="0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fName>
                      <m:e>
                        <m:f>
                          <m:fPr>
                            <m:ctrlPr>
                              <a:rPr lang="en-US" sz="1600" b="1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b="1" i="1" dirty="0" smtClean="0">
                                <a:latin typeface="Cambria Math" panose="02040503050406030204" pitchFamily="18" charset="0"/>
                              </a:rPr>
                              <m:t>𝝅</m:t>
                            </m:r>
                          </m:num>
                          <m:den>
                            <m:r>
                              <a:rPr lang="en-US" sz="1600" b="1" i="1" dirty="0" smtClean="0">
                                <a:latin typeface="Cambria Math" panose="02040503050406030204" pitchFamily="18" charset="0"/>
                              </a:rPr>
                              <m:t>𝟖</m:t>
                            </m:r>
                          </m:den>
                        </m:f>
                        <m:r>
                          <a:rPr lang="en-US" sz="1600" b="1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600" b="1" i="1" dirty="0" smtClean="0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1600" b="1" i="1" dirty="0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600" b="1" i="1" dirty="0" smtClean="0">
                            <a:latin typeface="Cambria Math" panose="02040503050406030204" pitchFamily="18" charset="0"/>
                          </a:rPr>
                          <m:t>𝟖𝟓</m:t>
                        </m:r>
                      </m:e>
                    </m:func>
                  </m:oMath>
                </a14:m>
                <a:endParaRPr lang="en-US" sz="1600" b="1" dirty="0"/>
              </a:p>
              <a:p>
                <a:r>
                  <a:rPr lang="en-US" sz="1600" dirty="0"/>
                  <a:t>Alice </a:t>
                </a:r>
              </a:p>
              <a:p>
                <a:pPr lvl="1"/>
                <a:r>
                  <a:rPr lang="en-US" sz="1400" dirty="0"/>
                  <a:t>If x=0, she measures her Qubit in basis {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sz="1400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1400" dirty="0"/>
                  <a:t>}</a:t>
                </a:r>
              </a:p>
              <a:p>
                <a:pPr lvl="1"/>
                <a:r>
                  <a:rPr lang="en-US" sz="1400" dirty="0"/>
                  <a:t>If x=1, she measures her Qubit in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1400" dirty="0"/>
                  <a:t> basis</a:t>
                </a:r>
              </a:p>
              <a:p>
                <a:r>
                  <a:rPr lang="en-US" sz="1600" dirty="0"/>
                  <a:t>Bob</a:t>
                </a:r>
              </a:p>
              <a:p>
                <a:pPr lvl="1"/>
                <a:r>
                  <a:rPr lang="en-US" sz="1400" dirty="0"/>
                  <a:t>If y=0, he measures his Qubit in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US" sz="1400" dirty="0"/>
                  <a:t> basis</a:t>
                </a:r>
              </a:p>
              <a:p>
                <a:pPr lvl="1"/>
                <a:r>
                  <a:rPr lang="en-US" sz="1400" dirty="0"/>
                  <a:t>If y=1, he measures his Qubit in </a:t>
                </a:r>
                <a14:m>
                  <m:oMath xmlns:m="http://schemas.openxmlformats.org/officeDocument/2006/math">
                    <m:r>
                      <a:rPr lang="en-US" sz="1400" b="0" i="0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US" sz="1400" dirty="0"/>
                  <a:t> basis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833B00-1F22-08E0-4D1F-58087DDB21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274868" y="910112"/>
                <a:ext cx="4465340" cy="2679626"/>
              </a:xfrm>
              <a:blipFill>
                <a:blip r:embed="rId2"/>
                <a:stretch>
                  <a:fillRect t="-6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77E1598D-0F3B-618B-A1B7-1907BA1244E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274629" cy="816610"/>
          </a:xfrm>
          <a:prstGeom prst="rect">
            <a:avLst/>
          </a:prstGeom>
        </p:spPr>
        <p:txBody>
          <a:bodyPr vert="horz" anchor="b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400" b="1" kern="120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  <a:ea typeface="+mj-ea"/>
                <a:cs typeface="+mj-cs"/>
              </a:defRPr>
            </a:lvl1pPr>
          </a:lstStyle>
          <a:p>
            <a:r>
              <a:rPr lang="en-US" sz="4000" dirty="0"/>
              <a:t>CHSH Inequality – With an entangled pair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D86316F-1473-1B2A-4A5B-6E2DEDA4BEE4}"/>
              </a:ext>
            </a:extLst>
          </p:cNvPr>
          <p:cNvGrpSpPr/>
          <p:nvPr/>
        </p:nvGrpSpPr>
        <p:grpSpPr>
          <a:xfrm>
            <a:off x="89844" y="1425440"/>
            <a:ext cx="4286999" cy="4007117"/>
            <a:chOff x="107773" y="1103368"/>
            <a:chExt cx="4286999" cy="4007117"/>
          </a:xfrm>
        </p:grpSpPr>
        <p:pic>
          <p:nvPicPr>
            <p:cNvPr id="5" name="Graphic 4" descr="Woman outline">
              <a:extLst>
                <a:ext uri="{FF2B5EF4-FFF2-40B4-BE49-F238E27FC236}">
                  <a16:creationId xmlns:a16="http://schemas.microsoft.com/office/drawing/2014/main" id="{84750DED-C1B4-3B92-D802-5708E61B14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28091" y="1482749"/>
              <a:ext cx="914400" cy="9144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2DD3524-3C0C-FA9B-21E9-C8494A1BDF02}"/>
                </a:ext>
              </a:extLst>
            </p:cNvPr>
            <p:cNvSpPr txBox="1"/>
            <p:nvPr/>
          </p:nvSpPr>
          <p:spPr>
            <a:xfrm>
              <a:off x="1228092" y="1103368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Alice</a:t>
              </a:r>
            </a:p>
          </p:txBody>
        </p:sp>
        <p:pic>
          <p:nvPicPr>
            <p:cNvPr id="7" name="Graphic 6" descr="Man with solid fill">
              <a:extLst>
                <a:ext uri="{FF2B5EF4-FFF2-40B4-BE49-F238E27FC236}">
                  <a16:creationId xmlns:a16="http://schemas.microsoft.com/office/drawing/2014/main" id="{BD91FEB9-A7BE-2E0A-9333-5D55FA3A07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131194" y="1519836"/>
              <a:ext cx="914400" cy="91440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C56D6AD-4CB7-563B-6845-A3604482C8B5}"/>
                </a:ext>
              </a:extLst>
            </p:cNvPr>
            <p:cNvSpPr txBox="1"/>
            <p:nvPr/>
          </p:nvSpPr>
          <p:spPr>
            <a:xfrm>
              <a:off x="3131193" y="1119089"/>
              <a:ext cx="7586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Bob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6390E14-9E4E-89E9-94F0-5DE6AC8DEBA2}"/>
                </a:ext>
              </a:extLst>
            </p:cNvPr>
            <p:cNvSpPr txBox="1"/>
            <p:nvPr/>
          </p:nvSpPr>
          <p:spPr>
            <a:xfrm>
              <a:off x="107773" y="2518193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Input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43A3058-28D2-1192-C5EC-487E4193743F}"/>
                </a:ext>
              </a:extLst>
            </p:cNvPr>
            <p:cNvCxnSpPr>
              <a:cxnSpLocks/>
            </p:cNvCxnSpPr>
            <p:nvPr/>
          </p:nvCxnSpPr>
          <p:spPr>
            <a:xfrm>
              <a:off x="2405127" y="1202624"/>
              <a:ext cx="0" cy="2713055"/>
            </a:xfrm>
            <a:prstGeom prst="line">
              <a:avLst/>
            </a:prstGeom>
            <a:ln>
              <a:solidFill>
                <a:srgbClr val="000000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B4351AC2-01DD-E11B-52A3-06D9BC8982E2}"/>
                    </a:ext>
                  </a:extLst>
                </p:cNvPr>
                <p:cNvSpPr txBox="1"/>
                <p:nvPr/>
              </p:nvSpPr>
              <p:spPr>
                <a:xfrm>
                  <a:off x="801037" y="2517304"/>
                  <a:ext cx="176850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∈{0,1}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B4351AC2-01DD-E11B-52A3-06D9BC8982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1037" y="2517304"/>
                  <a:ext cx="1768509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586C2A1-BBD1-B2E1-4D15-5C2DAAED439B}"/>
                    </a:ext>
                  </a:extLst>
                </p:cNvPr>
                <p:cNvSpPr txBox="1"/>
                <p:nvPr/>
              </p:nvSpPr>
              <p:spPr>
                <a:xfrm>
                  <a:off x="2626263" y="2511941"/>
                  <a:ext cx="176850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∈{0,1}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586C2A1-BBD1-B2E1-4D15-5C2DAAED43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26263" y="2511941"/>
                  <a:ext cx="1768509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1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BB748E1-C1BE-AFDB-60E6-59EE759E3110}"/>
                </a:ext>
              </a:extLst>
            </p:cNvPr>
            <p:cNvSpPr txBox="1"/>
            <p:nvPr/>
          </p:nvSpPr>
          <p:spPr>
            <a:xfrm>
              <a:off x="107773" y="3073310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Output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137EA93E-9718-BB7C-96BB-14A92D104658}"/>
                    </a:ext>
                  </a:extLst>
                </p:cNvPr>
                <p:cNvSpPr txBox="1"/>
                <p:nvPr/>
              </p:nvSpPr>
              <p:spPr>
                <a:xfrm>
                  <a:off x="801037" y="3072421"/>
                  <a:ext cx="176850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∈{0,1}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137EA93E-9718-BB7C-96BB-14A92D1046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1037" y="3072421"/>
                  <a:ext cx="1768509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1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82F0B0C6-529D-3D4B-E248-4C3783C10E79}"/>
                    </a:ext>
                  </a:extLst>
                </p:cNvPr>
                <p:cNvSpPr txBox="1"/>
                <p:nvPr/>
              </p:nvSpPr>
              <p:spPr>
                <a:xfrm>
                  <a:off x="2626263" y="3067058"/>
                  <a:ext cx="176850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∈{0,1}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82F0B0C6-529D-3D4B-E248-4C3783C10E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26263" y="3067058"/>
                  <a:ext cx="1768509" cy="369332"/>
                </a:xfrm>
                <a:prstGeom prst="rect">
                  <a:avLst/>
                </a:prstGeom>
                <a:blipFill>
                  <a:blip r:embed="rId10"/>
                  <a:stretch>
                    <a:fillRect b="-1639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CE944846-6F7E-F10E-3D5F-30E77FD3C7D3}"/>
                    </a:ext>
                  </a:extLst>
                </p:cNvPr>
                <p:cNvSpPr txBox="1"/>
                <p:nvPr/>
              </p:nvSpPr>
              <p:spPr>
                <a:xfrm>
                  <a:off x="1134941" y="3910156"/>
                  <a:ext cx="2540372" cy="1200329"/>
                </a:xfrm>
                <a:prstGeom prst="rect">
                  <a:avLst/>
                </a:prstGeom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If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a14:m>
                  <a:r>
                    <a:rPr lang="en-US" dirty="0"/>
                    <a:t>, then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endParaRPr lang="en-US" b="0" dirty="0"/>
                </a:p>
                <a:p>
                  <a:r>
                    <a:rPr lang="en-US" dirty="0"/>
                    <a:t>If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a14:m>
                  <a:r>
                    <a:rPr lang="en-US" dirty="0"/>
                    <a:t>, then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endParaRPr lang="en-US" dirty="0"/>
                </a:p>
                <a:p>
                  <a:pPr algn="ctr"/>
                  <a:r>
                    <a:rPr lang="en-US" dirty="0"/>
                    <a:t>OR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⨁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CE944846-6F7E-F10E-3D5F-30E77FD3C7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4941" y="3910156"/>
                  <a:ext cx="2540372" cy="120032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" name="Freeform 30">
            <a:extLst>
              <a:ext uri="{FF2B5EF4-FFF2-40B4-BE49-F238E27FC236}">
                <a16:creationId xmlns:a16="http://schemas.microsoft.com/office/drawing/2014/main" id="{99F3CA96-A6FD-696D-D3AF-9BEB37D51B3C}"/>
              </a:ext>
            </a:extLst>
          </p:cNvPr>
          <p:cNvSpPr/>
          <p:nvPr/>
        </p:nvSpPr>
        <p:spPr>
          <a:xfrm>
            <a:off x="1476769" y="948347"/>
            <a:ext cx="1773716" cy="253388"/>
          </a:xfrm>
          <a:custGeom>
            <a:avLst/>
            <a:gdLst>
              <a:gd name="connsiteX0" fmla="*/ 0 w 1773716"/>
              <a:gd name="connsiteY0" fmla="*/ 187287 h 253388"/>
              <a:gd name="connsiteX1" fmla="*/ 22034 w 1773716"/>
              <a:gd name="connsiteY1" fmla="*/ 88135 h 253388"/>
              <a:gd name="connsiteX2" fmla="*/ 44068 w 1773716"/>
              <a:gd name="connsiteY2" fmla="*/ 55084 h 253388"/>
              <a:gd name="connsiteX3" fmla="*/ 77118 w 1773716"/>
              <a:gd name="connsiteY3" fmla="*/ 22034 h 253388"/>
              <a:gd name="connsiteX4" fmla="*/ 143219 w 1773716"/>
              <a:gd name="connsiteY4" fmla="*/ 0 h 253388"/>
              <a:gd name="connsiteX5" fmla="*/ 220338 w 1773716"/>
              <a:gd name="connsiteY5" fmla="*/ 33051 h 253388"/>
              <a:gd name="connsiteX6" fmla="*/ 231354 w 1773716"/>
              <a:gd name="connsiteY6" fmla="*/ 66101 h 253388"/>
              <a:gd name="connsiteX7" fmla="*/ 253388 w 1773716"/>
              <a:gd name="connsiteY7" fmla="*/ 99152 h 253388"/>
              <a:gd name="connsiteX8" fmla="*/ 308472 w 1773716"/>
              <a:gd name="connsiteY8" fmla="*/ 198304 h 253388"/>
              <a:gd name="connsiteX9" fmla="*/ 418641 w 1773716"/>
              <a:gd name="connsiteY9" fmla="*/ 253388 h 253388"/>
              <a:gd name="connsiteX10" fmla="*/ 484742 w 1773716"/>
              <a:gd name="connsiteY10" fmla="*/ 242371 h 253388"/>
              <a:gd name="connsiteX11" fmla="*/ 528810 w 1773716"/>
              <a:gd name="connsiteY11" fmla="*/ 176270 h 253388"/>
              <a:gd name="connsiteX12" fmla="*/ 561860 w 1773716"/>
              <a:gd name="connsiteY12" fmla="*/ 132202 h 253388"/>
              <a:gd name="connsiteX13" fmla="*/ 649995 w 1773716"/>
              <a:gd name="connsiteY13" fmla="*/ 33051 h 253388"/>
              <a:gd name="connsiteX14" fmla="*/ 683046 w 1773716"/>
              <a:gd name="connsiteY14" fmla="*/ 11017 h 253388"/>
              <a:gd name="connsiteX15" fmla="*/ 727113 w 1773716"/>
              <a:gd name="connsiteY15" fmla="*/ 0 h 253388"/>
              <a:gd name="connsiteX16" fmla="*/ 771181 w 1773716"/>
              <a:gd name="connsiteY16" fmla="*/ 11017 h 253388"/>
              <a:gd name="connsiteX17" fmla="*/ 804232 w 1773716"/>
              <a:gd name="connsiteY17" fmla="*/ 44067 h 253388"/>
              <a:gd name="connsiteX18" fmla="*/ 837282 w 1773716"/>
              <a:gd name="connsiteY18" fmla="*/ 154236 h 253388"/>
              <a:gd name="connsiteX19" fmla="*/ 859316 w 1773716"/>
              <a:gd name="connsiteY19" fmla="*/ 187287 h 253388"/>
              <a:gd name="connsiteX20" fmla="*/ 925417 w 1773716"/>
              <a:gd name="connsiteY20" fmla="*/ 231354 h 253388"/>
              <a:gd name="connsiteX21" fmla="*/ 980501 w 1773716"/>
              <a:gd name="connsiteY21" fmla="*/ 220337 h 253388"/>
              <a:gd name="connsiteX22" fmla="*/ 1046603 w 1773716"/>
              <a:gd name="connsiteY22" fmla="*/ 165253 h 253388"/>
              <a:gd name="connsiteX23" fmla="*/ 1090670 w 1773716"/>
              <a:gd name="connsiteY23" fmla="*/ 99152 h 253388"/>
              <a:gd name="connsiteX24" fmla="*/ 1123721 w 1773716"/>
              <a:gd name="connsiteY24" fmla="*/ 33051 h 253388"/>
              <a:gd name="connsiteX25" fmla="*/ 1167788 w 1773716"/>
              <a:gd name="connsiteY25" fmla="*/ 0 h 253388"/>
              <a:gd name="connsiteX26" fmla="*/ 1266940 w 1773716"/>
              <a:gd name="connsiteY26" fmla="*/ 22034 h 253388"/>
              <a:gd name="connsiteX27" fmla="*/ 1299991 w 1773716"/>
              <a:gd name="connsiteY27" fmla="*/ 44067 h 253388"/>
              <a:gd name="connsiteX28" fmla="*/ 1355075 w 1773716"/>
              <a:gd name="connsiteY28" fmla="*/ 110169 h 253388"/>
              <a:gd name="connsiteX29" fmla="*/ 1421176 w 1773716"/>
              <a:gd name="connsiteY29" fmla="*/ 154236 h 253388"/>
              <a:gd name="connsiteX30" fmla="*/ 1487277 w 1773716"/>
              <a:gd name="connsiteY30" fmla="*/ 209320 h 253388"/>
              <a:gd name="connsiteX31" fmla="*/ 1564395 w 1773716"/>
              <a:gd name="connsiteY31" fmla="*/ 231354 h 253388"/>
              <a:gd name="connsiteX32" fmla="*/ 1641513 w 1773716"/>
              <a:gd name="connsiteY32" fmla="*/ 220337 h 253388"/>
              <a:gd name="connsiteX33" fmla="*/ 1718632 w 1773716"/>
              <a:gd name="connsiteY33" fmla="*/ 132202 h 253388"/>
              <a:gd name="connsiteX34" fmla="*/ 1740665 w 1773716"/>
              <a:gd name="connsiteY34" fmla="*/ 99152 h 253388"/>
              <a:gd name="connsiteX35" fmla="*/ 1773716 w 1773716"/>
              <a:gd name="connsiteY35" fmla="*/ 22034 h 253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773716" h="253388">
                <a:moveTo>
                  <a:pt x="0" y="187287"/>
                </a:moveTo>
                <a:cubicBezTo>
                  <a:pt x="1961" y="177482"/>
                  <a:pt x="16199" y="101750"/>
                  <a:pt x="22034" y="88135"/>
                </a:cubicBezTo>
                <a:cubicBezTo>
                  <a:pt x="27250" y="75965"/>
                  <a:pt x="35591" y="65256"/>
                  <a:pt x="44068" y="55084"/>
                </a:cubicBezTo>
                <a:cubicBezTo>
                  <a:pt x="54042" y="43115"/>
                  <a:pt x="63499" y="29600"/>
                  <a:pt x="77118" y="22034"/>
                </a:cubicBezTo>
                <a:cubicBezTo>
                  <a:pt x="97421" y="10755"/>
                  <a:pt x="143219" y="0"/>
                  <a:pt x="143219" y="0"/>
                </a:cubicBezTo>
                <a:cubicBezTo>
                  <a:pt x="169681" y="6616"/>
                  <a:pt x="201318" y="9275"/>
                  <a:pt x="220338" y="33051"/>
                </a:cubicBezTo>
                <a:cubicBezTo>
                  <a:pt x="227592" y="42119"/>
                  <a:pt x="226161" y="55714"/>
                  <a:pt x="231354" y="66101"/>
                </a:cubicBezTo>
                <a:cubicBezTo>
                  <a:pt x="237275" y="77944"/>
                  <a:pt x="247466" y="87309"/>
                  <a:pt x="253388" y="99152"/>
                </a:cubicBezTo>
                <a:cubicBezTo>
                  <a:pt x="273478" y="139332"/>
                  <a:pt x="256370" y="163570"/>
                  <a:pt x="308472" y="198304"/>
                </a:cubicBezTo>
                <a:cubicBezTo>
                  <a:pt x="387172" y="250770"/>
                  <a:pt x="348883" y="235948"/>
                  <a:pt x="418641" y="253388"/>
                </a:cubicBezTo>
                <a:cubicBezTo>
                  <a:pt x="440675" y="249716"/>
                  <a:pt x="466442" y="255181"/>
                  <a:pt x="484742" y="242371"/>
                </a:cubicBezTo>
                <a:cubicBezTo>
                  <a:pt x="506436" y="227185"/>
                  <a:pt x="512922" y="197455"/>
                  <a:pt x="528810" y="176270"/>
                </a:cubicBezTo>
                <a:cubicBezTo>
                  <a:pt x="539827" y="161581"/>
                  <a:pt x="551188" y="147143"/>
                  <a:pt x="561860" y="132202"/>
                </a:cubicBezTo>
                <a:cubicBezTo>
                  <a:pt x="591963" y="90058"/>
                  <a:pt x="596221" y="68900"/>
                  <a:pt x="649995" y="33051"/>
                </a:cubicBezTo>
                <a:cubicBezTo>
                  <a:pt x="661012" y="25706"/>
                  <a:pt x="670876" y="16233"/>
                  <a:pt x="683046" y="11017"/>
                </a:cubicBezTo>
                <a:cubicBezTo>
                  <a:pt x="696963" y="5053"/>
                  <a:pt x="712424" y="3672"/>
                  <a:pt x="727113" y="0"/>
                </a:cubicBezTo>
                <a:cubicBezTo>
                  <a:pt x="741802" y="3672"/>
                  <a:pt x="758034" y="3505"/>
                  <a:pt x="771181" y="11017"/>
                </a:cubicBezTo>
                <a:cubicBezTo>
                  <a:pt x="784708" y="18747"/>
                  <a:pt x="796502" y="30540"/>
                  <a:pt x="804232" y="44067"/>
                </a:cubicBezTo>
                <a:cubicBezTo>
                  <a:pt x="865824" y="151854"/>
                  <a:pt x="741520" y="10593"/>
                  <a:pt x="837282" y="154236"/>
                </a:cubicBezTo>
                <a:cubicBezTo>
                  <a:pt x="844627" y="165253"/>
                  <a:pt x="849351" y="178568"/>
                  <a:pt x="859316" y="187287"/>
                </a:cubicBezTo>
                <a:cubicBezTo>
                  <a:pt x="879245" y="204725"/>
                  <a:pt x="925417" y="231354"/>
                  <a:pt x="925417" y="231354"/>
                </a:cubicBezTo>
                <a:cubicBezTo>
                  <a:pt x="943778" y="227682"/>
                  <a:pt x="962968" y="226912"/>
                  <a:pt x="980501" y="220337"/>
                </a:cubicBezTo>
                <a:cubicBezTo>
                  <a:pt x="1000472" y="212848"/>
                  <a:pt x="1034835" y="180383"/>
                  <a:pt x="1046603" y="165253"/>
                </a:cubicBezTo>
                <a:cubicBezTo>
                  <a:pt x="1062861" y="144350"/>
                  <a:pt x="1090670" y="99152"/>
                  <a:pt x="1090670" y="99152"/>
                </a:cubicBezTo>
                <a:cubicBezTo>
                  <a:pt x="1099631" y="72270"/>
                  <a:pt x="1102363" y="54409"/>
                  <a:pt x="1123721" y="33051"/>
                </a:cubicBezTo>
                <a:cubicBezTo>
                  <a:pt x="1136704" y="20068"/>
                  <a:pt x="1153099" y="11017"/>
                  <a:pt x="1167788" y="0"/>
                </a:cubicBezTo>
                <a:cubicBezTo>
                  <a:pt x="1193178" y="4232"/>
                  <a:pt x="1239818" y="8473"/>
                  <a:pt x="1266940" y="22034"/>
                </a:cubicBezTo>
                <a:cubicBezTo>
                  <a:pt x="1278783" y="27955"/>
                  <a:pt x="1288974" y="36723"/>
                  <a:pt x="1299991" y="44067"/>
                </a:cubicBezTo>
                <a:cubicBezTo>
                  <a:pt x="1319577" y="73447"/>
                  <a:pt x="1325711" y="87330"/>
                  <a:pt x="1355075" y="110169"/>
                </a:cubicBezTo>
                <a:cubicBezTo>
                  <a:pt x="1375978" y="126427"/>
                  <a:pt x="1402451" y="135511"/>
                  <a:pt x="1421176" y="154236"/>
                </a:cubicBezTo>
                <a:cubicBezTo>
                  <a:pt x="1445541" y="178601"/>
                  <a:pt x="1456601" y="193982"/>
                  <a:pt x="1487277" y="209320"/>
                </a:cubicBezTo>
                <a:cubicBezTo>
                  <a:pt x="1503082" y="217222"/>
                  <a:pt x="1550276" y="227824"/>
                  <a:pt x="1564395" y="231354"/>
                </a:cubicBezTo>
                <a:cubicBezTo>
                  <a:pt x="1590101" y="227682"/>
                  <a:pt x="1616641" y="227798"/>
                  <a:pt x="1641513" y="220337"/>
                </a:cubicBezTo>
                <a:cubicBezTo>
                  <a:pt x="1679768" y="208861"/>
                  <a:pt x="1700881" y="158829"/>
                  <a:pt x="1718632" y="132202"/>
                </a:cubicBezTo>
                <a:cubicBezTo>
                  <a:pt x="1725976" y="121185"/>
                  <a:pt x="1736478" y="111713"/>
                  <a:pt x="1740665" y="99152"/>
                </a:cubicBezTo>
                <a:cubicBezTo>
                  <a:pt x="1764341" y="28124"/>
                  <a:pt x="1746276" y="49474"/>
                  <a:pt x="1773716" y="22034"/>
                </a:cubicBezTo>
              </a:path>
            </a:pathLst>
          </a:cu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C817197-CD33-1E27-887C-27EDC4A53683}"/>
              </a:ext>
            </a:extLst>
          </p:cNvPr>
          <p:cNvSpPr/>
          <p:nvPr/>
        </p:nvSpPr>
        <p:spPr>
          <a:xfrm>
            <a:off x="3245651" y="910112"/>
            <a:ext cx="170329" cy="154312"/>
          </a:xfrm>
          <a:prstGeom prst="ellipse">
            <a:avLst/>
          </a:prstGeom>
          <a:solidFill>
            <a:schemeClr val="bg2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350C091-4E5F-CD08-0380-40A91D539714}"/>
              </a:ext>
            </a:extLst>
          </p:cNvPr>
          <p:cNvSpPr/>
          <p:nvPr/>
        </p:nvSpPr>
        <p:spPr>
          <a:xfrm>
            <a:off x="1391604" y="1046849"/>
            <a:ext cx="170329" cy="154312"/>
          </a:xfrm>
          <a:prstGeom prst="ellipse">
            <a:avLst/>
          </a:prstGeom>
          <a:solidFill>
            <a:schemeClr val="bg2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9692510-AB56-BBD6-E3A3-8F10D1BB0AAB}"/>
              </a:ext>
            </a:extLst>
          </p:cNvPr>
          <p:cNvGrpSpPr/>
          <p:nvPr/>
        </p:nvGrpSpPr>
        <p:grpSpPr>
          <a:xfrm>
            <a:off x="9466999" y="172400"/>
            <a:ext cx="2496464" cy="1253040"/>
            <a:chOff x="9410443" y="1046849"/>
            <a:chExt cx="2496464" cy="1253040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C2203C53-162D-C27D-2B0D-E6F5102AD1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01477" y="1416181"/>
              <a:ext cx="886476" cy="87605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AAE45EFF-033C-1F38-DF2E-8BC577396AF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10443" y="1524696"/>
              <a:ext cx="891034" cy="77519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D3B830FE-3B10-B1F6-79AE-94A5E506FCF4}"/>
                </a:ext>
              </a:extLst>
            </p:cNvPr>
            <p:cNvCxnSpPr>
              <a:cxnSpLocks/>
            </p:cNvCxnSpPr>
            <p:nvPr/>
          </p:nvCxnSpPr>
          <p:spPr>
            <a:xfrm>
              <a:off x="10301477" y="2279645"/>
              <a:ext cx="116085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6F88B5DC-F057-AD26-9F71-72204352D4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01477" y="1075214"/>
              <a:ext cx="0" cy="120443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D1FB101C-DF01-2B74-5E2A-ECE7E796400B}"/>
                    </a:ext>
                  </a:extLst>
                </p:cNvPr>
                <p:cNvSpPr txBox="1"/>
                <p:nvPr/>
              </p:nvSpPr>
              <p:spPr>
                <a:xfrm>
                  <a:off x="11301601" y="1910312"/>
                  <a:ext cx="60530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D1FB101C-DF01-2B74-5E2A-ECE7E79640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01601" y="1910312"/>
                  <a:ext cx="605306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CFA5CD3F-D9BD-2F2E-2BE2-B903C8822C11}"/>
                    </a:ext>
                  </a:extLst>
                </p:cNvPr>
                <p:cNvSpPr txBox="1"/>
                <p:nvPr/>
              </p:nvSpPr>
              <p:spPr>
                <a:xfrm>
                  <a:off x="10277714" y="1046849"/>
                  <a:ext cx="60530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CFA5CD3F-D9BD-2F2E-2BE2-B903C8822C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77714" y="1046849"/>
                  <a:ext cx="605306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6011E883-89EA-F220-0EF3-673361BBB5E2}"/>
                    </a:ext>
                  </a:extLst>
                </p:cNvPr>
                <p:cNvSpPr txBox="1"/>
                <p:nvPr/>
              </p:nvSpPr>
              <p:spPr>
                <a:xfrm>
                  <a:off x="10615314" y="1952484"/>
                  <a:ext cx="405080" cy="30271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type m:val="skw"/>
                            <m:ctrlP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6011E883-89EA-F220-0EF3-673361BBB5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15314" y="1952484"/>
                  <a:ext cx="405080" cy="302712"/>
                </a:xfrm>
                <a:prstGeom prst="rect">
                  <a:avLst/>
                </a:prstGeom>
                <a:blipFill>
                  <a:blip r:embed="rId14"/>
                  <a:stretch>
                    <a:fillRect l="-43939" t="-114000" r="-81818" b="-18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0DD7EF9A-CCB9-56A3-69D4-42AB25CDCDEE}"/>
              </a:ext>
            </a:extLst>
          </p:cNvPr>
          <p:cNvGrpSpPr/>
          <p:nvPr/>
        </p:nvGrpSpPr>
        <p:grpSpPr>
          <a:xfrm>
            <a:off x="9942737" y="1610106"/>
            <a:ext cx="1991446" cy="1736488"/>
            <a:chOff x="9955004" y="2599881"/>
            <a:chExt cx="1991446" cy="1736488"/>
          </a:xfrm>
        </p:grpSpPr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04C7EB91-67F3-BB73-2FBB-537D3B914A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42988" y="3572529"/>
              <a:ext cx="1093408" cy="394507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E8527112-EF5B-4CDF-AD13-951730AACC3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55004" y="2987731"/>
              <a:ext cx="407796" cy="999550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A2482F51-C406-D073-A1D4-08E4FCDB0C48}"/>
                </a:ext>
              </a:extLst>
            </p:cNvPr>
            <p:cNvCxnSpPr>
              <a:cxnSpLocks/>
            </p:cNvCxnSpPr>
            <p:nvPr/>
          </p:nvCxnSpPr>
          <p:spPr>
            <a:xfrm>
              <a:off x="10362800" y="3967037"/>
              <a:ext cx="116085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9F0B9F35-4835-0572-B61E-73AB378065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62800" y="2762606"/>
              <a:ext cx="0" cy="120443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550F0BD6-A52D-28A1-D6D1-E1F73732BD11}"/>
                    </a:ext>
                  </a:extLst>
                </p:cNvPr>
                <p:cNvSpPr txBox="1"/>
                <p:nvPr/>
              </p:nvSpPr>
              <p:spPr>
                <a:xfrm>
                  <a:off x="11341144" y="3597705"/>
                  <a:ext cx="60530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550F0BD6-A52D-28A1-D6D1-E1F73732BD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41144" y="3597705"/>
                  <a:ext cx="605306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AE4EF168-9603-8044-E297-6115BEF02ED4}"/>
                    </a:ext>
                  </a:extLst>
                </p:cNvPr>
                <p:cNvSpPr txBox="1"/>
                <p:nvPr/>
              </p:nvSpPr>
              <p:spPr>
                <a:xfrm>
                  <a:off x="10252068" y="2599881"/>
                  <a:ext cx="60530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AE4EF168-9603-8044-E297-6115BEF02E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52068" y="2599881"/>
                  <a:ext cx="605306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D7411C9B-D40D-26E5-19D6-5F83FAB25D81}"/>
                    </a:ext>
                  </a:extLst>
                </p:cNvPr>
                <p:cNvSpPr txBox="1"/>
                <p:nvPr/>
              </p:nvSpPr>
              <p:spPr>
                <a:xfrm>
                  <a:off x="10889692" y="3682710"/>
                  <a:ext cx="405080" cy="30457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type m:val="skw"/>
                            <m:ctrlP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D7411C9B-D40D-26E5-19D6-5F83FAB25D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89692" y="3682710"/>
                  <a:ext cx="405080" cy="304571"/>
                </a:xfrm>
                <a:prstGeom prst="rect">
                  <a:avLst/>
                </a:prstGeom>
                <a:blipFill>
                  <a:blip r:embed="rId17"/>
                  <a:stretch>
                    <a:fillRect l="-41791" t="-114000" r="-80597" b="-18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1A1BBB09-2B33-75E7-EB3D-2B27B8A1B481}"/>
                </a:ext>
              </a:extLst>
            </p:cNvPr>
            <p:cNvCxnSpPr>
              <a:cxnSpLocks/>
            </p:cNvCxnSpPr>
            <p:nvPr/>
          </p:nvCxnSpPr>
          <p:spPr>
            <a:xfrm>
              <a:off x="10362800" y="3967036"/>
              <a:ext cx="1046092" cy="369333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AF68EB67-83E9-9C4E-C65C-AB2681025D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62800" y="2950694"/>
              <a:ext cx="455054" cy="1016342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C8FFAAF7-3384-E7B0-7CDC-BF7CA7C58C36}"/>
                    </a:ext>
                  </a:extLst>
                </p:cNvPr>
                <p:cNvSpPr txBox="1"/>
                <p:nvPr/>
              </p:nvSpPr>
              <p:spPr>
                <a:xfrm>
                  <a:off x="10943227" y="3986008"/>
                  <a:ext cx="405080" cy="30457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type m:val="skw"/>
                            <m:ctrlP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C8FFAAF7-3384-E7B0-7CDC-BF7CA7C58C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43227" y="3986008"/>
                  <a:ext cx="405080" cy="304571"/>
                </a:xfrm>
                <a:prstGeom prst="rect">
                  <a:avLst/>
                </a:prstGeom>
                <a:blipFill>
                  <a:blip r:embed="rId17"/>
                  <a:stretch>
                    <a:fillRect l="-41791" t="-116327" r="-80597" b="-185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23F43CB-883E-FAE5-ECAC-6C756203D048}"/>
              </a:ext>
            </a:extLst>
          </p:cNvPr>
          <p:cNvCxnSpPr>
            <a:cxnSpLocks/>
          </p:cNvCxnSpPr>
          <p:nvPr/>
        </p:nvCxnSpPr>
        <p:spPr>
          <a:xfrm>
            <a:off x="10157873" y="5134410"/>
            <a:ext cx="1402179" cy="17823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B8365F2C-9A5A-F745-3845-062FB1114E1F}"/>
              </a:ext>
            </a:extLst>
          </p:cNvPr>
          <p:cNvCxnSpPr>
            <a:cxnSpLocks/>
          </p:cNvCxnSpPr>
          <p:nvPr/>
        </p:nvCxnSpPr>
        <p:spPr>
          <a:xfrm flipV="1">
            <a:off x="10317477" y="3514090"/>
            <a:ext cx="27367" cy="1622141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75C9E110-098E-736B-B551-41CEAC13F9B7}"/>
                  </a:ext>
                </a:extLst>
              </p:cNvPr>
              <p:cNvSpPr txBox="1"/>
              <p:nvPr/>
            </p:nvSpPr>
            <p:spPr>
              <a:xfrm>
                <a:off x="10239312" y="3357144"/>
                <a:ext cx="6053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75C9E110-098E-736B-B551-41CEAC13F9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9312" y="3357144"/>
                <a:ext cx="605306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Oval 69">
            <a:extLst>
              <a:ext uri="{FF2B5EF4-FFF2-40B4-BE49-F238E27FC236}">
                <a16:creationId xmlns:a16="http://schemas.microsoft.com/office/drawing/2014/main" id="{DE0A8189-FFE6-0EE2-D983-32111D6D1ABF}"/>
              </a:ext>
            </a:extLst>
          </p:cNvPr>
          <p:cNvSpPr/>
          <p:nvPr/>
        </p:nvSpPr>
        <p:spPr>
          <a:xfrm>
            <a:off x="9162980" y="3952553"/>
            <a:ext cx="2390105" cy="2363715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42ADDEDF-CB7A-770E-6E89-A604A55A09C1}"/>
              </a:ext>
            </a:extLst>
          </p:cNvPr>
          <p:cNvCxnSpPr>
            <a:cxnSpLocks/>
            <a:endCxn id="70" idx="7"/>
          </p:cNvCxnSpPr>
          <p:nvPr/>
        </p:nvCxnSpPr>
        <p:spPr>
          <a:xfrm flipV="1">
            <a:off x="10342617" y="4298711"/>
            <a:ext cx="860445" cy="82715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9268A2A4-E854-9816-A607-16F92B23E011}"/>
              </a:ext>
            </a:extLst>
          </p:cNvPr>
          <p:cNvCxnSpPr>
            <a:cxnSpLocks/>
          </p:cNvCxnSpPr>
          <p:nvPr/>
        </p:nvCxnSpPr>
        <p:spPr>
          <a:xfrm flipH="1" flipV="1">
            <a:off x="9451583" y="4358327"/>
            <a:ext cx="891034" cy="77519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5BF6B884-0E62-80C5-5644-4A62CF546193}"/>
                  </a:ext>
                </a:extLst>
              </p:cNvPr>
              <p:cNvSpPr txBox="1"/>
              <p:nvPr/>
            </p:nvSpPr>
            <p:spPr>
              <a:xfrm>
                <a:off x="10862542" y="4515739"/>
                <a:ext cx="405080" cy="3027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5BF6B884-0E62-80C5-5644-4A62CF5461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2542" y="4515739"/>
                <a:ext cx="405080" cy="302712"/>
              </a:xfrm>
              <a:prstGeom prst="rect">
                <a:avLst/>
              </a:prstGeom>
              <a:blipFill>
                <a:blip r:embed="rId19"/>
                <a:stretch>
                  <a:fillRect l="-43939" t="-116327" r="-81818" b="-18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26B0D40B-5A66-1AF3-4EFB-E56946DE8CB0}"/>
              </a:ext>
            </a:extLst>
          </p:cNvPr>
          <p:cNvCxnSpPr>
            <a:cxnSpLocks/>
          </p:cNvCxnSpPr>
          <p:nvPr/>
        </p:nvCxnSpPr>
        <p:spPr>
          <a:xfrm flipV="1">
            <a:off x="10315838" y="4709541"/>
            <a:ext cx="1165334" cy="42372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1C38FB27-FEC4-1465-DFA8-C555E60200E7}"/>
              </a:ext>
            </a:extLst>
          </p:cNvPr>
          <p:cNvCxnSpPr>
            <a:cxnSpLocks/>
          </p:cNvCxnSpPr>
          <p:nvPr/>
        </p:nvCxnSpPr>
        <p:spPr>
          <a:xfrm flipH="1" flipV="1">
            <a:off x="9888122" y="4041286"/>
            <a:ext cx="447528" cy="111222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DAE20795-4AAD-D893-6530-F5F2B7E00553}"/>
                  </a:ext>
                </a:extLst>
              </p:cNvPr>
              <p:cNvSpPr txBox="1"/>
              <p:nvPr/>
            </p:nvSpPr>
            <p:spPr>
              <a:xfrm>
                <a:off x="10862542" y="4848935"/>
                <a:ext cx="405080" cy="3045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DAE20795-4AAD-D893-6530-F5F2B7E005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2542" y="4848935"/>
                <a:ext cx="405080" cy="304571"/>
              </a:xfrm>
              <a:prstGeom prst="rect">
                <a:avLst/>
              </a:prstGeom>
              <a:blipFill>
                <a:blip r:embed="rId20"/>
                <a:stretch>
                  <a:fillRect l="-43939" t="-114000" r="-81818" b="-18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8567E38D-C65C-6AC4-190A-15A0149DE0A9}"/>
              </a:ext>
            </a:extLst>
          </p:cNvPr>
          <p:cNvCxnSpPr>
            <a:cxnSpLocks/>
          </p:cNvCxnSpPr>
          <p:nvPr/>
        </p:nvCxnSpPr>
        <p:spPr>
          <a:xfrm>
            <a:off x="10335650" y="5133261"/>
            <a:ext cx="1161464" cy="426019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19C32C77-6EED-8348-AD58-04DE164CD377}"/>
              </a:ext>
            </a:extLst>
          </p:cNvPr>
          <p:cNvCxnSpPr>
            <a:cxnSpLocks/>
          </p:cNvCxnSpPr>
          <p:nvPr/>
        </p:nvCxnSpPr>
        <p:spPr>
          <a:xfrm flipV="1">
            <a:off x="10330721" y="4041286"/>
            <a:ext cx="488167" cy="1123609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3EE82989-FA1B-E164-A970-E3FA9BD65AC5}"/>
                  </a:ext>
                </a:extLst>
              </p:cNvPr>
              <p:cNvSpPr txBox="1"/>
              <p:nvPr/>
            </p:nvSpPr>
            <p:spPr>
              <a:xfrm>
                <a:off x="10916077" y="5152233"/>
                <a:ext cx="405080" cy="3045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3EE82989-FA1B-E164-A970-E3FA9BD65A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6077" y="5152233"/>
                <a:ext cx="405080" cy="304571"/>
              </a:xfrm>
              <a:prstGeom prst="rect">
                <a:avLst/>
              </a:prstGeom>
              <a:blipFill>
                <a:blip r:embed="rId20"/>
                <a:stretch>
                  <a:fillRect l="-43939" t="-114000" r="-81818" b="-18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5" name="Table 94">
                <a:extLst>
                  <a:ext uri="{FF2B5EF4-FFF2-40B4-BE49-F238E27FC236}">
                    <a16:creationId xmlns:a16="http://schemas.microsoft.com/office/drawing/2014/main" id="{BED2EF39-A3D8-F173-19F3-842716A7437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29654137"/>
                  </p:ext>
                </p:extLst>
              </p:nvPr>
            </p:nvGraphicFramePr>
            <p:xfrm>
              <a:off x="4173198" y="3658565"/>
              <a:ext cx="4669072" cy="238073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40659">
                      <a:extLst>
                        <a:ext uri="{9D8B030D-6E8A-4147-A177-3AD203B41FA5}">
                          <a16:colId xmlns:a16="http://schemas.microsoft.com/office/drawing/2014/main" val="2437122622"/>
                        </a:ext>
                      </a:extLst>
                    </a:gridCol>
                    <a:gridCol w="358588">
                      <a:extLst>
                        <a:ext uri="{9D8B030D-6E8A-4147-A177-3AD203B41FA5}">
                          <a16:colId xmlns:a16="http://schemas.microsoft.com/office/drawing/2014/main" val="3990051674"/>
                        </a:ext>
                      </a:extLst>
                    </a:gridCol>
                    <a:gridCol w="654424">
                      <a:extLst>
                        <a:ext uri="{9D8B030D-6E8A-4147-A177-3AD203B41FA5}">
                          <a16:colId xmlns:a16="http://schemas.microsoft.com/office/drawing/2014/main" val="4187136116"/>
                        </a:ext>
                      </a:extLst>
                    </a:gridCol>
                    <a:gridCol w="681317">
                      <a:extLst>
                        <a:ext uri="{9D8B030D-6E8A-4147-A177-3AD203B41FA5}">
                          <a16:colId xmlns:a16="http://schemas.microsoft.com/office/drawing/2014/main" val="3753776897"/>
                        </a:ext>
                      </a:extLst>
                    </a:gridCol>
                    <a:gridCol w="806824">
                      <a:extLst>
                        <a:ext uri="{9D8B030D-6E8A-4147-A177-3AD203B41FA5}">
                          <a16:colId xmlns:a16="http://schemas.microsoft.com/office/drawing/2014/main" val="1556969422"/>
                        </a:ext>
                      </a:extLst>
                    </a:gridCol>
                    <a:gridCol w="941294">
                      <a:extLst>
                        <a:ext uri="{9D8B030D-6E8A-4147-A177-3AD203B41FA5}">
                          <a16:colId xmlns:a16="http://schemas.microsoft.com/office/drawing/2014/main" val="3565921765"/>
                        </a:ext>
                      </a:extLst>
                    </a:gridCol>
                    <a:gridCol w="885966">
                      <a:extLst>
                        <a:ext uri="{9D8B030D-6E8A-4147-A177-3AD203B41FA5}">
                          <a16:colId xmlns:a16="http://schemas.microsoft.com/office/drawing/2014/main" val="3075017511"/>
                        </a:ext>
                      </a:extLst>
                    </a:gridCol>
                  </a:tblGrid>
                  <a:tr h="382036"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x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y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Alice Basis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Bob Basis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Angle between basis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P(same)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/>
                            <a:t>P(</a:t>
                          </a:r>
                          <a:r>
                            <a:rPr lang="en-US" sz="1600" dirty="0" err="1"/>
                            <a:t>opp</a:t>
                          </a:r>
                          <a:r>
                            <a:rPr lang="en-US" sz="1600" dirty="0"/>
                            <a:t>)</a:t>
                          </a:r>
                        </a:p>
                        <a:p>
                          <a:endParaRPr lang="en-US" sz="1600" dirty="0"/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7090372"/>
                      </a:ext>
                    </a:extLst>
                  </a:tr>
                  <a:tr h="382036"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type m:val="skw"/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type m:val="skw"/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p>
                                      <m:sSup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600" b="0" i="0" smtClean="0">
                                            <a:latin typeface="Cambria Math" panose="02040503050406030204" pitchFamily="18" charset="0"/>
                                          </a:rPr>
                                          <m:t>cos</m:t>
                                        </m:r>
                                      </m:e>
                                      <m:sup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fName>
                                  <m:e>
                                    <m:f>
                                      <m:fPr>
                                        <m:type m:val="skw"/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num>
                                      <m:den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8</m:t>
                                        </m:r>
                                      </m:den>
                                    </m:f>
                                  </m:e>
                                </m:func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7352291"/>
                      </a:ext>
                    </a:extLst>
                  </a:tr>
                  <a:tr h="382036"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type m:val="skw"/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type m:val="skw"/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p>
                                      <m:sSup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600" b="0" i="0" smtClean="0">
                                            <a:latin typeface="Cambria Math" panose="02040503050406030204" pitchFamily="18" charset="0"/>
                                          </a:rPr>
                                          <m:t>cos</m:t>
                                        </m:r>
                                      </m:e>
                                      <m:sup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fName>
                                  <m:e>
                                    <m:f>
                                      <m:fPr>
                                        <m:type m:val="skw"/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num>
                                      <m:den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8</m:t>
                                        </m:r>
                                      </m:den>
                                    </m:f>
                                  </m:e>
                                </m:func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30405794"/>
                      </a:ext>
                    </a:extLst>
                  </a:tr>
                  <a:tr h="382036"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type m:val="skw"/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type m:val="skw"/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type m:val="skw"/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p>
                                      <m:sSup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600" b="0" i="0" smtClean="0">
                                            <a:latin typeface="Cambria Math" panose="02040503050406030204" pitchFamily="18" charset="0"/>
                                          </a:rPr>
                                          <m:t>cos</m:t>
                                        </m:r>
                                      </m:e>
                                      <m:sup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fName>
                                  <m:e>
                                    <m:f>
                                      <m:fPr>
                                        <m:type m:val="skw"/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num>
                                      <m:den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8</m:t>
                                        </m:r>
                                      </m:den>
                                    </m:f>
                                  </m:e>
                                </m:func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15661566"/>
                      </a:ext>
                    </a:extLst>
                  </a:tr>
                  <a:tr h="382036"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type m:val="skw"/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type m:val="skw"/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type m:val="skw"/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p>
                                      <m:sSup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600" b="0" i="0" smtClean="0">
                                            <a:latin typeface="Cambria Math" panose="02040503050406030204" pitchFamily="18" charset="0"/>
                                          </a:rPr>
                                          <m:t>cos</m:t>
                                        </m:r>
                                      </m:e>
                                      <m:sup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fName>
                                  <m:e>
                                    <m:f>
                                      <m:fPr>
                                        <m:type m:val="skw"/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num>
                                      <m:den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8</m:t>
                                        </m:r>
                                      </m:den>
                                    </m:f>
                                  </m:e>
                                </m:func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p>
                                      <m:sSup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600" b="0" i="0" smtClean="0">
                                            <a:latin typeface="Cambria Math" panose="02040503050406030204" pitchFamily="18" charset="0"/>
                                          </a:rPr>
                                          <m:t>cos</m:t>
                                        </m:r>
                                      </m:e>
                                      <m:sup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fName>
                                  <m:e>
                                    <m:f>
                                      <m:fPr>
                                        <m:type m:val="skw"/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num>
                                      <m:den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8</m:t>
                                        </m:r>
                                      </m:den>
                                    </m:f>
                                  </m:e>
                                </m:func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4096243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5" name="Table 94">
                <a:extLst>
                  <a:ext uri="{FF2B5EF4-FFF2-40B4-BE49-F238E27FC236}">
                    <a16:creationId xmlns:a16="http://schemas.microsoft.com/office/drawing/2014/main" id="{BED2EF39-A3D8-F173-19F3-842716A7437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29654137"/>
                  </p:ext>
                </p:extLst>
              </p:nvPr>
            </p:nvGraphicFramePr>
            <p:xfrm>
              <a:off x="4173198" y="3658565"/>
              <a:ext cx="4669072" cy="238073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40659">
                      <a:extLst>
                        <a:ext uri="{9D8B030D-6E8A-4147-A177-3AD203B41FA5}">
                          <a16:colId xmlns:a16="http://schemas.microsoft.com/office/drawing/2014/main" val="2437122622"/>
                        </a:ext>
                      </a:extLst>
                    </a:gridCol>
                    <a:gridCol w="358588">
                      <a:extLst>
                        <a:ext uri="{9D8B030D-6E8A-4147-A177-3AD203B41FA5}">
                          <a16:colId xmlns:a16="http://schemas.microsoft.com/office/drawing/2014/main" val="3990051674"/>
                        </a:ext>
                      </a:extLst>
                    </a:gridCol>
                    <a:gridCol w="654424">
                      <a:extLst>
                        <a:ext uri="{9D8B030D-6E8A-4147-A177-3AD203B41FA5}">
                          <a16:colId xmlns:a16="http://schemas.microsoft.com/office/drawing/2014/main" val="4187136116"/>
                        </a:ext>
                      </a:extLst>
                    </a:gridCol>
                    <a:gridCol w="681317">
                      <a:extLst>
                        <a:ext uri="{9D8B030D-6E8A-4147-A177-3AD203B41FA5}">
                          <a16:colId xmlns:a16="http://schemas.microsoft.com/office/drawing/2014/main" val="3753776897"/>
                        </a:ext>
                      </a:extLst>
                    </a:gridCol>
                    <a:gridCol w="806824">
                      <a:extLst>
                        <a:ext uri="{9D8B030D-6E8A-4147-A177-3AD203B41FA5}">
                          <a16:colId xmlns:a16="http://schemas.microsoft.com/office/drawing/2014/main" val="1556969422"/>
                        </a:ext>
                      </a:extLst>
                    </a:gridCol>
                    <a:gridCol w="941294">
                      <a:extLst>
                        <a:ext uri="{9D8B030D-6E8A-4147-A177-3AD203B41FA5}">
                          <a16:colId xmlns:a16="http://schemas.microsoft.com/office/drawing/2014/main" val="3565921765"/>
                        </a:ext>
                      </a:extLst>
                    </a:gridCol>
                    <a:gridCol w="885966">
                      <a:extLst>
                        <a:ext uri="{9D8B030D-6E8A-4147-A177-3AD203B41FA5}">
                          <a16:colId xmlns:a16="http://schemas.microsoft.com/office/drawing/2014/main" val="3075017511"/>
                        </a:ext>
                      </a:extLst>
                    </a:gridCol>
                  </a:tblGrid>
                  <a:tr h="822960"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x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y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Alice Basis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Bob Basis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Angle between basis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P(same)</a:t>
                          </a: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/>
                            <a:t>P(</a:t>
                          </a:r>
                          <a:r>
                            <a:rPr lang="en-US" sz="1600" dirty="0" err="1"/>
                            <a:t>opp</a:t>
                          </a:r>
                          <a:r>
                            <a:rPr lang="en-US" sz="1600" dirty="0"/>
                            <a:t>)</a:t>
                          </a:r>
                        </a:p>
                        <a:p>
                          <a:endParaRPr lang="en-US" sz="1600" dirty="0"/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7090372"/>
                      </a:ext>
                    </a:extLst>
                  </a:tr>
                  <a:tr h="382036"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1"/>
                          <a:stretch>
                            <a:fillRect l="-199107" t="-219048" r="-388393" b="-493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1"/>
                          <a:stretch>
                            <a:fillRect l="-251880" t="-219048" r="-227068" b="-493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1"/>
                          <a:stretch>
                            <a:fillRect l="-303896" t="-219048" r="-96104" b="-493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7352291"/>
                      </a:ext>
                    </a:extLst>
                  </a:tr>
                  <a:tr h="382036"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1"/>
                          <a:stretch>
                            <a:fillRect l="-199107" t="-319048" r="-388393" b="-393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1"/>
                          <a:stretch>
                            <a:fillRect l="-251880" t="-319048" r="-227068" b="-393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1"/>
                          <a:stretch>
                            <a:fillRect l="-303896" t="-319048" r="-96104" b="-393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30405794"/>
                      </a:ext>
                    </a:extLst>
                  </a:tr>
                  <a:tr h="382036"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1"/>
                          <a:stretch>
                            <a:fillRect l="-108411" t="-425806" r="-511215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1"/>
                          <a:stretch>
                            <a:fillRect l="-199107" t="-425806" r="-388393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1"/>
                          <a:stretch>
                            <a:fillRect l="-251880" t="-425806" r="-227068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1"/>
                          <a:stretch>
                            <a:fillRect l="-303896" t="-425806" r="-96104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15661566"/>
                      </a:ext>
                    </a:extLst>
                  </a:tr>
                  <a:tr h="411671"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1"/>
                          <a:stretch>
                            <a:fillRect l="-108411" t="-479412" r="-511215" b="-17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1"/>
                          <a:stretch>
                            <a:fillRect l="-199107" t="-479412" r="-388393" b="-17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1"/>
                          <a:stretch>
                            <a:fillRect l="-251880" t="-479412" r="-227068" b="-17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1"/>
                          <a:stretch>
                            <a:fillRect l="-303896" t="-479412" r="-96104" b="-17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1"/>
                          <a:stretch>
                            <a:fillRect l="-426027" t="-479412" r="-1370" b="-17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096243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F467315F-6506-465C-1622-2528CF5AC390}"/>
                  </a:ext>
                </a:extLst>
              </p:cNvPr>
              <p:cNvSpPr txBox="1"/>
              <p:nvPr/>
            </p:nvSpPr>
            <p:spPr>
              <a:xfrm>
                <a:off x="11427589" y="4905116"/>
                <a:ext cx="6053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F467315F-6506-465C-1622-2528CF5AC3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27589" y="4905116"/>
                <a:ext cx="605306" cy="369332"/>
              </a:xfrm>
              <a:prstGeom prst="rect">
                <a:avLst/>
              </a:prstGeom>
              <a:blipFill>
                <a:blip r:embed="rId22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1B853856-EEDE-23ED-475F-2F553A55B526}"/>
                  </a:ext>
                </a:extLst>
              </p:cNvPr>
              <p:cNvSpPr txBox="1"/>
              <p:nvPr/>
            </p:nvSpPr>
            <p:spPr>
              <a:xfrm>
                <a:off x="11342381" y="4435118"/>
                <a:ext cx="6053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1B853856-EEDE-23ED-475F-2F553A55B5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42381" y="4435118"/>
                <a:ext cx="605306" cy="369332"/>
              </a:xfrm>
              <a:prstGeom prst="rect">
                <a:avLst/>
              </a:prstGeom>
              <a:blipFill>
                <a:blip r:embed="rId23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ABFBDC06-37C5-4538-7CDF-E79EFDE4569B}"/>
                  </a:ext>
                </a:extLst>
              </p:cNvPr>
              <p:cNvSpPr txBox="1"/>
              <p:nvPr/>
            </p:nvSpPr>
            <p:spPr>
              <a:xfrm>
                <a:off x="11074988" y="4017695"/>
                <a:ext cx="6053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ABFBDC06-37C5-4538-7CDF-E79EFDE456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4988" y="4017695"/>
                <a:ext cx="605306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6FDF471D-7E5F-EA9C-63EA-9399FCB4C194}"/>
                  </a:ext>
                </a:extLst>
              </p:cNvPr>
              <p:cNvSpPr txBox="1"/>
              <p:nvPr/>
            </p:nvSpPr>
            <p:spPr>
              <a:xfrm>
                <a:off x="11377641" y="5382011"/>
                <a:ext cx="6053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6FDF471D-7E5F-EA9C-63EA-9399FCB4C1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7641" y="5382011"/>
                <a:ext cx="605306" cy="369332"/>
              </a:xfrm>
              <a:prstGeom prst="rect">
                <a:avLst/>
              </a:prstGeom>
              <a:blipFill>
                <a:blip r:embed="rId25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505F3EAA-5D78-D6B5-99CC-F6BA5008536D}"/>
                  </a:ext>
                </a:extLst>
              </p:cNvPr>
              <p:cNvSpPr txBox="1"/>
              <p:nvPr/>
            </p:nvSpPr>
            <p:spPr>
              <a:xfrm>
                <a:off x="4725580" y="6131602"/>
                <a:ext cx="3563916" cy="369332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dirty="0"/>
                  <a:t>Chance of success is always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1800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f>
                          <m:fPr>
                            <m:type m:val="skw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func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505F3EAA-5D78-D6B5-99CC-F6BA500853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5580" y="6131602"/>
                <a:ext cx="3563916" cy="36933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35604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204F6-C5B5-B8CE-CB07-F10E0C3DF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Evolution of a Quantum System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0D4D2B-A8FE-49F0-134D-C0B359B9746C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57507" y="1032691"/>
                <a:ext cx="5282192" cy="5287721"/>
              </a:xfrm>
            </p:spPr>
            <p:txBody>
              <a:bodyPr>
                <a:normAutofit fontScale="55000" lnSpcReduction="20000"/>
              </a:bodyPr>
              <a:lstStyle/>
              <a:p>
                <a:r>
                  <a:rPr lang="en-US" dirty="0"/>
                  <a:t>Allowable states of a k-level system are orthogonal unit vectors in a k-dimensional complex vector space (Hilbert Space)</a:t>
                </a:r>
              </a:p>
              <a:p>
                <a:pPr lvl="1"/>
                <a:r>
                  <a:rPr lang="en-US" dirty="0"/>
                  <a:t>{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…, </m:t>
                    </m:r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}</a:t>
                </a:r>
              </a:p>
              <a:p>
                <a:r>
                  <a:rPr lang="en-US" dirty="0"/>
                  <a:t>Any state can be written as a super-position of these basis states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dirty="0"/>
                  <a:t>…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When you measure you will observe state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with probability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​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𝐼𝑛𝑃𝑟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|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⟩)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dirty="0"/>
                  <a:t>…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Prob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⟩)=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If you measure in some other arbitrary basis, such that 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dirty="0"/>
                  <a:t>…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dirty="0"/>
                  <a:t>, and 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dirty="0"/>
                  <a:t>…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dirty="0"/>
                  <a:t>, then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𝐼𝑛𝑃𝑟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⟩)= 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dirty="0"/>
                  <a:t> ….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𝐼𝑛𝑃𝑟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⟩)=⟨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|.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=⟨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b="1" dirty="0"/>
                  <a:t>Evolution of the state is a rotation of the Hilbert space</a:t>
                </a:r>
              </a:p>
              <a:p>
                <a:pPr lvl="1"/>
                <a:r>
                  <a:rPr lang="en-US" dirty="0"/>
                  <a:t>Rigid body rotation, all vectors rotate</a:t>
                </a:r>
              </a:p>
              <a:p>
                <a:pPr lvl="1"/>
                <a:r>
                  <a:rPr lang="en-US" dirty="0"/>
                  <a:t>Angle between vectors are preserved.</a:t>
                </a:r>
              </a:p>
              <a:p>
                <a:pPr lvl="1"/>
                <a:r>
                  <a:rPr lang="en-US" dirty="0"/>
                  <a:t>Given by a linear transformation – a matrix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0D4D2B-A8FE-49F0-134D-C0B359B974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57507" y="1032691"/>
                <a:ext cx="5282192" cy="5287721"/>
              </a:xfrm>
              <a:blipFill>
                <a:blip r:embed="rId2"/>
                <a:stretch>
                  <a:fillRect t="-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47A0519-9886-233D-C468-E320593FA1F7}"/>
              </a:ext>
            </a:extLst>
          </p:cNvPr>
          <p:cNvCxnSpPr>
            <a:cxnSpLocks/>
          </p:cNvCxnSpPr>
          <p:nvPr/>
        </p:nvCxnSpPr>
        <p:spPr>
          <a:xfrm>
            <a:off x="9826277" y="1788309"/>
            <a:ext cx="2208216" cy="1821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C1E4F17-B3D5-8DDF-EAA9-8ABF264B8427}"/>
              </a:ext>
            </a:extLst>
          </p:cNvPr>
          <p:cNvCxnSpPr>
            <a:cxnSpLocks/>
          </p:cNvCxnSpPr>
          <p:nvPr/>
        </p:nvCxnSpPr>
        <p:spPr>
          <a:xfrm flipV="1">
            <a:off x="10013248" y="167989"/>
            <a:ext cx="0" cy="1801488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3C611186-1B28-9607-0FE9-6D0DAC5386F1}"/>
              </a:ext>
            </a:extLst>
          </p:cNvPr>
          <p:cNvSpPr/>
          <p:nvPr/>
        </p:nvSpPr>
        <p:spPr>
          <a:xfrm>
            <a:off x="8831384" y="606452"/>
            <a:ext cx="2390105" cy="2363715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983467E-DAE4-B59F-E20A-61B512F11457}"/>
              </a:ext>
            </a:extLst>
          </p:cNvPr>
          <p:cNvCxnSpPr>
            <a:cxnSpLocks/>
          </p:cNvCxnSpPr>
          <p:nvPr/>
        </p:nvCxnSpPr>
        <p:spPr>
          <a:xfrm flipV="1">
            <a:off x="10013248" y="1371824"/>
            <a:ext cx="1146793" cy="394507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2CBD9E5-6BE9-7605-D2D5-A14858A6B457}"/>
              </a:ext>
            </a:extLst>
          </p:cNvPr>
          <p:cNvCxnSpPr>
            <a:cxnSpLocks/>
            <a:endCxn id="6" idx="7"/>
          </p:cNvCxnSpPr>
          <p:nvPr/>
        </p:nvCxnSpPr>
        <p:spPr>
          <a:xfrm flipV="1">
            <a:off x="10013247" y="952610"/>
            <a:ext cx="858219" cy="833168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CF9FEFA-E99C-F02F-C85E-EF47E16E9725}"/>
              </a:ext>
            </a:extLst>
          </p:cNvPr>
          <p:cNvCxnSpPr>
            <a:cxnSpLocks/>
            <a:endCxn id="6" idx="0"/>
          </p:cNvCxnSpPr>
          <p:nvPr/>
        </p:nvCxnSpPr>
        <p:spPr>
          <a:xfrm flipV="1">
            <a:off x="10026436" y="606452"/>
            <a:ext cx="1" cy="1179326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21178AA-D868-5133-3E57-F0A1CCF31727}"/>
              </a:ext>
            </a:extLst>
          </p:cNvPr>
          <p:cNvCxnSpPr>
            <a:cxnSpLocks/>
          </p:cNvCxnSpPr>
          <p:nvPr/>
        </p:nvCxnSpPr>
        <p:spPr>
          <a:xfrm>
            <a:off x="10013248" y="1785778"/>
            <a:ext cx="1146793" cy="399767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CD56EEC-5AAE-FA41-6F48-A32F8FAECFB7}"/>
                  </a:ext>
                </a:extLst>
              </p:cNvPr>
              <p:cNvSpPr txBox="1"/>
              <p:nvPr/>
            </p:nvSpPr>
            <p:spPr>
              <a:xfrm>
                <a:off x="11098780" y="2050662"/>
                <a:ext cx="66067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CD56EEC-5AAE-FA41-6F48-A32F8FAECF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98780" y="2050662"/>
                <a:ext cx="66067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7FFD918-248D-8C55-6FB7-BCECE396F9C7}"/>
                  </a:ext>
                </a:extLst>
              </p:cNvPr>
              <p:cNvSpPr txBox="1"/>
              <p:nvPr/>
            </p:nvSpPr>
            <p:spPr>
              <a:xfrm>
                <a:off x="11078120" y="1184528"/>
                <a:ext cx="66067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7FFD918-248D-8C55-6FB7-BCECE396F9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120" y="1184528"/>
                <a:ext cx="66067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EB48271-2CC2-B0B4-F957-A2EB01242AFF}"/>
                  </a:ext>
                </a:extLst>
              </p:cNvPr>
              <p:cNvSpPr txBox="1"/>
              <p:nvPr/>
            </p:nvSpPr>
            <p:spPr>
              <a:xfrm>
                <a:off x="10768441" y="635849"/>
                <a:ext cx="66067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EB48271-2CC2-B0B4-F957-A2EB01242A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8441" y="635849"/>
                <a:ext cx="66067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D97EE23-B351-2447-8C1B-D9C45F836368}"/>
                  </a:ext>
                </a:extLst>
              </p:cNvPr>
              <p:cNvSpPr txBox="1"/>
              <p:nvPr/>
            </p:nvSpPr>
            <p:spPr>
              <a:xfrm>
                <a:off x="9912370" y="205705"/>
                <a:ext cx="66067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D97EE23-B351-2447-8C1B-D9C45F8363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2370" y="205705"/>
                <a:ext cx="660679" cy="369332"/>
              </a:xfrm>
              <a:prstGeom prst="rect">
                <a:avLst/>
              </a:prstGeom>
              <a:blipFill>
                <a:blip r:embed="rId6"/>
                <a:stretch>
                  <a:fillRect r="-7407"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E85638F-A201-C6A8-8693-124A51639A78}"/>
              </a:ext>
            </a:extLst>
          </p:cNvPr>
          <p:cNvCxnSpPr>
            <a:cxnSpLocks/>
          </p:cNvCxnSpPr>
          <p:nvPr/>
        </p:nvCxnSpPr>
        <p:spPr>
          <a:xfrm flipV="1">
            <a:off x="10013247" y="743578"/>
            <a:ext cx="668151" cy="107263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1805E60-0D3D-2A1B-B74F-28EA15E2687E}"/>
              </a:ext>
            </a:extLst>
          </p:cNvPr>
          <p:cNvGrpSpPr/>
          <p:nvPr/>
        </p:nvGrpSpPr>
        <p:grpSpPr>
          <a:xfrm>
            <a:off x="5637938" y="3136819"/>
            <a:ext cx="2836984" cy="2736389"/>
            <a:chOff x="5637938" y="2939111"/>
            <a:chExt cx="2836984" cy="2736389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94C13F3F-F100-EAA8-AAE0-E9C68A7683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2990" y="4493642"/>
              <a:ext cx="1195053" cy="27904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432EE099-73F6-3D1A-685F-78B89AD5A6E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19800" y="3311785"/>
              <a:ext cx="6595" cy="1209761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DD3CBE8B-D5F8-7619-98E6-F9CE7669D60E}"/>
                </a:ext>
              </a:extLst>
            </p:cNvPr>
            <p:cNvSpPr/>
            <p:nvPr/>
          </p:nvSpPr>
          <p:spPr>
            <a:xfrm>
              <a:off x="5637938" y="3311785"/>
              <a:ext cx="2390105" cy="2363715"/>
            </a:xfrm>
            <a:prstGeom prst="ellipse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E6211885-B02B-1FC8-C911-2CEC6DE96B52}"/>
                    </a:ext>
                  </a:extLst>
                </p:cNvPr>
                <p:cNvSpPr txBox="1"/>
                <p:nvPr/>
              </p:nvSpPr>
              <p:spPr>
                <a:xfrm>
                  <a:off x="7321320" y="3123777"/>
                  <a:ext cx="66067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E6211885-B02B-1FC8-C911-2CEC6DE96B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1320" y="3123777"/>
                  <a:ext cx="660679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BBFE6FAC-CB32-8094-CC4C-DAFEE2E4FC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19801" y="3448911"/>
              <a:ext cx="668151" cy="1072635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258A9408-F130-BD1B-FC57-E437EABBBA4F}"/>
                    </a:ext>
                  </a:extLst>
                </p:cNvPr>
                <p:cNvSpPr txBox="1"/>
                <p:nvPr/>
              </p:nvSpPr>
              <p:spPr>
                <a:xfrm>
                  <a:off x="7926850" y="4488646"/>
                  <a:ext cx="54807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258A9408-F130-BD1B-FC57-E437EABBBA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26850" y="4488646"/>
                  <a:ext cx="548072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A33698FB-B58F-C737-8892-CE935A8E04D9}"/>
                    </a:ext>
                  </a:extLst>
                </p:cNvPr>
                <p:cNvSpPr txBox="1"/>
                <p:nvPr/>
              </p:nvSpPr>
              <p:spPr>
                <a:xfrm>
                  <a:off x="6605804" y="2939111"/>
                  <a:ext cx="54807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A33698FB-B58F-C737-8892-CE935A8E04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05804" y="2939111"/>
                  <a:ext cx="548072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4C79BDDB-ED88-33AE-44E5-C7DE6AED0FD5}"/>
              </a:ext>
            </a:extLst>
          </p:cNvPr>
          <p:cNvGrpSpPr/>
          <p:nvPr/>
        </p:nvGrpSpPr>
        <p:grpSpPr>
          <a:xfrm>
            <a:off x="8776643" y="3229403"/>
            <a:ext cx="2829126" cy="2643805"/>
            <a:chOff x="5246429" y="3031695"/>
            <a:chExt cx="2829126" cy="2643805"/>
          </a:xfrm>
        </p:grpSpPr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74EA1B3F-6CAB-5CAE-2CC3-9DBF07CB99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2990" y="3536058"/>
              <a:ext cx="742005" cy="995698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EE228CE7-8BC3-0BFB-0B59-C7A1CFD8488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05915" y="3861958"/>
              <a:ext cx="1020480" cy="659588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EFB73155-2F13-9EB4-62E7-C20C5C76F6CE}"/>
                </a:ext>
              </a:extLst>
            </p:cNvPr>
            <p:cNvSpPr/>
            <p:nvPr/>
          </p:nvSpPr>
          <p:spPr>
            <a:xfrm>
              <a:off x="5637938" y="3311785"/>
              <a:ext cx="2390105" cy="2363715"/>
            </a:xfrm>
            <a:prstGeom prst="ellipse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95DA78D0-5391-D2C8-AB65-9F27F3E39522}"/>
                    </a:ext>
                  </a:extLst>
                </p:cNvPr>
                <p:cNvSpPr txBox="1"/>
                <p:nvPr/>
              </p:nvSpPr>
              <p:spPr>
                <a:xfrm>
                  <a:off x="5697157" y="3031695"/>
                  <a:ext cx="78199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95DA78D0-5391-D2C8-AB65-9F27F3E395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97157" y="3031695"/>
                  <a:ext cx="781991" cy="369332"/>
                </a:xfrm>
                <a:prstGeom prst="rect">
                  <a:avLst/>
                </a:prstGeom>
                <a:blipFill>
                  <a:blip r:embed="rId10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21848E9E-03F3-0D8F-F737-F148A8CD536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72391" y="3448911"/>
              <a:ext cx="547410" cy="1072635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7826A6E9-4B26-84F8-DF78-EEAD5912A6B1}"/>
                    </a:ext>
                  </a:extLst>
                </p:cNvPr>
                <p:cNvSpPr txBox="1"/>
                <p:nvPr/>
              </p:nvSpPr>
              <p:spPr>
                <a:xfrm>
                  <a:off x="7527483" y="3200954"/>
                  <a:ext cx="54807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7826A6E9-4B26-84F8-DF78-EEAD5912A6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27483" y="3200954"/>
                  <a:ext cx="548072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EA0E2932-FB27-C6D2-750F-8E1CC827EE8B}"/>
                    </a:ext>
                  </a:extLst>
                </p:cNvPr>
                <p:cNvSpPr txBox="1"/>
                <p:nvPr/>
              </p:nvSpPr>
              <p:spPr>
                <a:xfrm>
                  <a:off x="5246429" y="3553535"/>
                  <a:ext cx="54807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EA0E2932-FB27-C6D2-750F-8E1CC827EE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46429" y="3553535"/>
                  <a:ext cx="548072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C3115D5A-3910-9334-03D1-30BE66A72825}"/>
              </a:ext>
            </a:extLst>
          </p:cNvPr>
          <p:cNvCxnSpPr>
            <a:cxnSpLocks/>
          </p:cNvCxnSpPr>
          <p:nvPr/>
        </p:nvCxnSpPr>
        <p:spPr>
          <a:xfrm flipV="1">
            <a:off x="6857119" y="4295710"/>
            <a:ext cx="1146793" cy="394507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DBDE9E03-D6A9-54E4-C8A4-2FD2729D0C0C}"/>
              </a:ext>
            </a:extLst>
          </p:cNvPr>
          <p:cNvCxnSpPr>
            <a:cxnSpLocks/>
          </p:cNvCxnSpPr>
          <p:nvPr/>
        </p:nvCxnSpPr>
        <p:spPr>
          <a:xfrm flipV="1">
            <a:off x="10356609" y="3546393"/>
            <a:ext cx="411832" cy="1158909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1D27DD7A-6A09-B376-6241-984A916A63F2}"/>
                  </a:ext>
                </a:extLst>
              </p:cNvPr>
              <p:cNvSpPr txBox="1"/>
              <p:nvPr/>
            </p:nvSpPr>
            <p:spPr>
              <a:xfrm>
                <a:off x="10409027" y="3133738"/>
                <a:ext cx="78199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1D27DD7A-6A09-B376-6241-984A916A63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9027" y="3133738"/>
                <a:ext cx="781991" cy="369332"/>
              </a:xfrm>
              <a:prstGeom prst="rect">
                <a:avLst/>
              </a:prstGeom>
              <a:blipFill>
                <a:blip r:embed="rId1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9C03CE76-05D9-FB29-73B9-EBF90FB89FE1}"/>
                  </a:ext>
                </a:extLst>
              </p:cNvPr>
              <p:cNvSpPr txBox="1"/>
              <p:nvPr/>
            </p:nvSpPr>
            <p:spPr>
              <a:xfrm>
                <a:off x="7845254" y="4046949"/>
                <a:ext cx="66067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9C03CE76-05D9-FB29-73B9-EBF90FB89F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5254" y="4046949"/>
                <a:ext cx="660679" cy="369332"/>
              </a:xfrm>
              <a:prstGeom prst="rect">
                <a:avLst/>
              </a:prstGeom>
              <a:blipFill>
                <a:blip r:embed="rId14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66637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325F3-529F-B821-2B43-58E712A20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2D1AE-2810-9383-E325-0CA60AAD8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Evolution of a Quantum System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B51AD8-7811-B0C7-BB85-B6449CC2B45F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57507" y="1032691"/>
                <a:ext cx="4555170" cy="5287721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Rotation by angle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|1⟩</m:t>
                            </m:r>
                          </m:e>
                        </m:func>
                      </m:e>
                    </m:func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−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|1⟩</m:t>
                            </m:r>
                          </m:e>
                        </m:func>
                      </m:e>
                    </m:func>
                  </m:oMath>
                </a14:m>
                <a:endParaRPr lang="en-US" dirty="0"/>
              </a:p>
              <a:p>
                <a:endParaRPr lang="en-US" b="0" dirty="0"/>
              </a:p>
              <a:p>
                <a:r>
                  <a:rPr lang="en-US" b="0" dirty="0"/>
                  <a:t>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|1⟩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Then it will be transformed to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unc>
                              <m:func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begChr m:val="|"/>
                                    <m:endChr m:val="⟩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e>
                            </m:func>
                          </m:e>
                        </m:fun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>
                            <a:latin typeface="Cambria Math" panose="02040503050406030204" pitchFamily="18" charset="0"/>
                          </a:rPr>
                          <m:t>−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|1⟩</m:t>
                            </m:r>
                          </m:e>
                        </m:func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func>
                              <m:func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func>
                          </m:e>
                        </m:func>
                      </m:e>
                    </m:d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func>
                              <m:func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func>
                          </m:e>
                        </m:fun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|1⟩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Unitary Transformation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B51AD8-7811-B0C7-BB85-B6449CC2B4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57507" y="1032691"/>
                <a:ext cx="4555170" cy="5287721"/>
              </a:xfrm>
              <a:blipFill>
                <a:blip r:embed="rId2"/>
                <a:stretch>
                  <a:fillRect l="-937" t="-1613" b="-14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F0CEE1BE-E77B-CEC9-2BC5-9CC9A7D223A9}"/>
              </a:ext>
            </a:extLst>
          </p:cNvPr>
          <p:cNvGrpSpPr/>
          <p:nvPr/>
        </p:nvGrpSpPr>
        <p:grpSpPr>
          <a:xfrm>
            <a:off x="8923749" y="202700"/>
            <a:ext cx="2836984" cy="2736389"/>
            <a:chOff x="5637938" y="2939111"/>
            <a:chExt cx="2836984" cy="2736389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7AD55A77-37B3-FA49-5D23-26332B56EA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2990" y="4493642"/>
              <a:ext cx="1195053" cy="27904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04CDA9EF-F388-C4F9-2AC9-C25E4A22FEE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19800" y="3311785"/>
              <a:ext cx="6595" cy="1209761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660EF4EF-D5C4-0731-FB2C-1824BCD82288}"/>
                </a:ext>
              </a:extLst>
            </p:cNvPr>
            <p:cNvSpPr/>
            <p:nvPr/>
          </p:nvSpPr>
          <p:spPr>
            <a:xfrm>
              <a:off x="5637938" y="3311785"/>
              <a:ext cx="2390105" cy="2363715"/>
            </a:xfrm>
            <a:prstGeom prst="ellipse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55AED0E4-5747-A5D7-562B-BF5D8395ED92}"/>
                    </a:ext>
                  </a:extLst>
                </p:cNvPr>
                <p:cNvSpPr txBox="1"/>
                <p:nvPr/>
              </p:nvSpPr>
              <p:spPr>
                <a:xfrm>
                  <a:off x="7926850" y="4488646"/>
                  <a:ext cx="54807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55AED0E4-5747-A5D7-562B-BF5D8395ED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26850" y="4488646"/>
                  <a:ext cx="548072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2F1CBAC1-1A12-F761-8911-B56A95DFD9CC}"/>
                    </a:ext>
                  </a:extLst>
                </p:cNvPr>
                <p:cNvSpPr txBox="1"/>
                <p:nvPr/>
              </p:nvSpPr>
              <p:spPr>
                <a:xfrm>
                  <a:off x="6605804" y="2939111"/>
                  <a:ext cx="54807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2F1CBAC1-1A12-F761-8911-B56A95DFD9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05804" y="2939111"/>
                  <a:ext cx="54807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5AFDEF5-DDB1-9E4C-39B9-8411733250DC}"/>
              </a:ext>
            </a:extLst>
          </p:cNvPr>
          <p:cNvCxnSpPr>
            <a:cxnSpLocks/>
          </p:cNvCxnSpPr>
          <p:nvPr/>
        </p:nvCxnSpPr>
        <p:spPr>
          <a:xfrm flipV="1">
            <a:off x="10118801" y="1032691"/>
            <a:ext cx="964531" cy="752444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66AECF7-BB83-06CB-21AF-B2069F36C425}"/>
              </a:ext>
            </a:extLst>
          </p:cNvPr>
          <p:cNvCxnSpPr>
            <a:cxnSpLocks/>
          </p:cNvCxnSpPr>
          <p:nvPr/>
        </p:nvCxnSpPr>
        <p:spPr>
          <a:xfrm flipH="1" flipV="1">
            <a:off x="9415305" y="743578"/>
            <a:ext cx="703496" cy="1041557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F79EC56-DB9D-C516-21FA-EAD00784E410}"/>
                  </a:ext>
                </a:extLst>
              </p:cNvPr>
              <p:cNvSpPr txBox="1"/>
              <p:nvPr/>
            </p:nvSpPr>
            <p:spPr>
              <a:xfrm>
                <a:off x="10440395" y="1415803"/>
                <a:ext cx="2792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F79EC56-DB9D-C516-21FA-EAD00784E4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0395" y="1415803"/>
                <a:ext cx="279230" cy="369332"/>
              </a:xfrm>
              <a:prstGeom prst="rect">
                <a:avLst/>
              </a:prstGeom>
              <a:blipFill>
                <a:blip r:embed="rId5"/>
                <a:stretch>
                  <a:fillRect r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5D7180D-6942-5CC2-938B-59D7F000E10A}"/>
                  </a:ext>
                </a:extLst>
              </p:cNvPr>
              <p:cNvSpPr txBox="1"/>
              <p:nvPr/>
            </p:nvSpPr>
            <p:spPr>
              <a:xfrm>
                <a:off x="4973934" y="1225899"/>
                <a:ext cx="2754762" cy="5566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os</m:t>
                                    </m:r>
                                  </m:fName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5D7180D-6942-5CC2-938B-59D7F000E1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3934" y="1225899"/>
                <a:ext cx="2754762" cy="55662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E044355-D7B7-415A-1D2A-E4B8C7B4B275}"/>
                  </a:ext>
                </a:extLst>
              </p:cNvPr>
              <p:cNvSpPr txBox="1"/>
              <p:nvPr/>
            </p:nvSpPr>
            <p:spPr>
              <a:xfrm>
                <a:off x="4991919" y="2329761"/>
                <a:ext cx="2754762" cy="5566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os</m:t>
                                    </m:r>
                                  </m:fName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E044355-D7B7-415A-1D2A-E4B8C7B4B2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1919" y="2329761"/>
                <a:ext cx="2754762" cy="55662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2789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4526E-1A87-FC85-9D74-586A7D59F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Unitary Transformations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0B30C9-141E-C4A6-5345-8D29F23F6F90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57507" y="1032691"/>
                <a:ext cx="6172955" cy="2122491"/>
              </a:xfrm>
            </p:spPr>
            <p:txBody>
              <a:bodyPr>
                <a:normAutofit fontScale="55000" lnSpcReduction="20000"/>
              </a:bodyPr>
              <a:lstStyle/>
              <a:p>
                <a:r>
                  <a:rPr lang="en-US" dirty="0"/>
                  <a:t>Let’s say we are working on k-dimensional complex vector space</a:t>
                </a:r>
              </a:p>
              <a:p>
                <a:r>
                  <a:rPr lang="en-US" dirty="0"/>
                  <a:t>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ℂ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Transformation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𝑚𝑎𝑡𝑟𝑖𝑥</m:t>
                    </m:r>
                  </m:oMath>
                </a14:m>
                <a:endParaRPr lang="en-US" dirty="0"/>
              </a:p>
              <a:p>
                <a:r>
                  <a:rPr lang="en-US" i="1" dirty="0"/>
                  <a:t>U is unitary =&gt;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†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†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US" i="1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i="1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†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endParaRPr lang="en-US" i="1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†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0B30C9-141E-C4A6-5345-8D29F23F6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57507" y="1032691"/>
                <a:ext cx="6172955" cy="2122491"/>
              </a:xfrm>
              <a:blipFill>
                <a:blip r:embed="rId2"/>
                <a:stretch>
                  <a:fillRect t="-2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25EAF2F-F9AE-9847-FC62-DEDD34EEACF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41965" y="886947"/>
                <a:ext cx="5429459" cy="5081774"/>
              </a:xfrm>
              <a:prstGeom prst="rect">
                <a:avLst/>
              </a:prstGeom>
            </p:spPr>
            <p:txBody>
              <a:bodyPr vert="horz">
                <a:normAutofit fontScale="47500" lnSpcReduction="20000"/>
              </a:bodyPr>
              <a:lstStyle>
                <a:lvl1pPr marL="274320" indent="-274320" algn="l" rtl="0" eaLnBrk="1" latinLnBrk="0" hangingPunct="1"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/>
                  <a:buChar char=""/>
                  <a:defRPr kumimoji="0" sz="2800" kern="1200">
                    <a:solidFill>
                      <a:schemeClr val="tx1"/>
                    </a:solidFill>
                    <a:latin typeface="Candara" pitchFamily="34" charset="0"/>
                    <a:ea typeface="+mn-ea"/>
                    <a:cs typeface="+mn-cs"/>
                  </a:defRPr>
                </a:lvl1pPr>
                <a:lvl2pPr marL="548640" indent="-274320" algn="l" rtl="0" eaLnBrk="1" latinLnBrk="0" hangingPunct="1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/>
                  <a:buChar char=""/>
                  <a:defRPr kumimoji="0" sz="2400" kern="1200">
                    <a:solidFill>
                      <a:srgbClr val="002060"/>
                    </a:solidFill>
                    <a:latin typeface="Candara" pitchFamily="34" charset="0"/>
                    <a:ea typeface="+mn-ea"/>
                    <a:cs typeface="+mn-cs"/>
                  </a:defRPr>
                </a:lvl2pPr>
                <a:lvl3pPr marL="822960" indent="-228600" algn="l" rtl="0" eaLnBrk="1" latinLnBrk="0" hangingPunct="1">
                  <a:spcBef>
                    <a:spcPts val="500"/>
                  </a:spcBef>
                  <a:buClr>
                    <a:schemeClr val="bg1">
                      <a:shade val="50000"/>
                    </a:schemeClr>
                  </a:buClr>
                  <a:buSzPct val="76000"/>
                  <a:buFont typeface="Wingdings 3"/>
                  <a:buChar char=""/>
                  <a:defRPr kumimoji="0" sz="2400" kern="1200">
                    <a:solidFill>
                      <a:srgbClr val="006600"/>
                    </a:solidFill>
                    <a:latin typeface="Candara" pitchFamily="34" charset="0"/>
                    <a:ea typeface="+mn-ea"/>
                    <a:cs typeface="+mn-cs"/>
                  </a:defRPr>
                </a:lvl3pPr>
                <a:lvl4pPr marL="1097280" indent="-228600" algn="l" rtl="0" eaLnBrk="1" latinLnBrk="0" hangingPunct="1">
                  <a:spcBef>
                    <a:spcPts val="400"/>
                  </a:spcBef>
                  <a:buClr>
                    <a:schemeClr val="accent2">
                      <a:shade val="75000"/>
                    </a:schemeClr>
                  </a:buClr>
                  <a:buSzPct val="70000"/>
                  <a:buFont typeface="Wingdings"/>
                  <a:buChar char=""/>
                  <a:defRPr kumimoji="0" sz="2000" kern="1200">
                    <a:solidFill>
                      <a:schemeClr val="tx1"/>
                    </a:solidFill>
                    <a:latin typeface="Candara" pitchFamily="34" charset="0"/>
                    <a:ea typeface="+mn-ea"/>
                    <a:cs typeface="+mn-cs"/>
                  </a:defRPr>
                </a:lvl4pPr>
                <a:lvl5pPr marL="1371600" indent="-228600" algn="l" rtl="0" eaLnBrk="1" latinLnBrk="0" hangingPunct="1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/>
                  <a:buChar char=""/>
                  <a:defRPr kumimoji="0" sz="1800" kern="1200">
                    <a:solidFill>
                      <a:schemeClr val="tx1"/>
                    </a:solidFill>
                    <a:latin typeface="Candara" pitchFamily="34" charset="0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0" dirty="0"/>
                  <a:t>What does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mean?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What are the entries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†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†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Top left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𝑏𝑟𝑎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mr>
                            </m:m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𝑘𝑒𝑡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mr>
                            </m:m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Bottom right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𝑏𝑟𝑎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</m:mr>
                            </m:m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𝑘𝑒𝑡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</m:mr>
                            </m:m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Top right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𝑏𝑟𝑎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mr>
                            </m:m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𝑘𝑒𝑡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</m:mr>
                            </m:m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Bottom left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𝑏𝑟𝑎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</m:mr>
                            </m:m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𝑘𝑒𝑡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mr>
                            </m:m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b="0" dirty="0"/>
                  <a:t>Vectors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|0⟩</m:t>
                    </m:r>
                  </m:oMath>
                </a14:m>
                <a:r>
                  <a:rPr lang="en-US" b="0" dirty="0"/>
                  <a:t>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b="0" dirty="0"/>
                  <a:t> map to are orthogonal and normalized.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†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dirty="0"/>
                  <a:t> has to be Identity </a:t>
                </a:r>
                <a:r>
                  <a:rPr lang="en-US" dirty="0">
                    <a:sym typeface="Wingdings" panose="05000000000000000000" pitchFamily="2" charset="2"/>
                  </a:rPr>
                  <a:t> Operators have to be Unitary.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This works for bigger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𝑘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×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𝑘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) operators also</a:t>
                </a:r>
              </a:p>
              <a:p>
                <a:pPr lvl="1"/>
                <a:r>
                  <a:rPr lang="en-US" dirty="0">
                    <a:sym typeface="Wingdings" panose="05000000000000000000" pitchFamily="2" charset="2"/>
                  </a:rPr>
                  <a:t>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†</m:t>
                        </m:r>
                      </m:sup>
                    </m:sSup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matrix has rows of “states that original basis states map to”</a:t>
                </a:r>
              </a:p>
              <a:p>
                <a:pPr lvl="1"/>
                <a:r>
                  <a:rPr lang="en-US" dirty="0">
                    <a:sym typeface="Wingdings" panose="05000000000000000000" pitchFamily="2" charset="2"/>
                  </a:rPr>
                  <a:t>The </a:t>
                </a:r>
                <a:r>
                  <a:rPr lang="en-US" i="1" dirty="0">
                    <a:sym typeface="Wingdings" panose="05000000000000000000" pitchFamily="2" charset="2"/>
                  </a:rPr>
                  <a:t>U matrix </a:t>
                </a:r>
                <a:r>
                  <a:rPr lang="en-US" dirty="0">
                    <a:sym typeface="Wingdings" panose="05000000000000000000" pitchFamily="2" charset="2"/>
                  </a:rPr>
                  <a:t>has columns of “states that original basis states map to”</a:t>
                </a:r>
              </a:p>
              <a:p>
                <a:pPr lvl="1"/>
                <a:r>
                  <a:rPr lang="en-US" dirty="0">
                    <a:sym typeface="Wingdings" panose="05000000000000000000" pitchFamily="2" charset="2"/>
                  </a:rPr>
                  <a:t>Diagonal entries are inner product of “states that original basis states map to” = 1</a:t>
                </a:r>
              </a:p>
              <a:p>
                <a:pPr lvl="1"/>
                <a:r>
                  <a:rPr lang="en-US" dirty="0">
                    <a:sym typeface="Wingdings" panose="05000000000000000000" pitchFamily="2" charset="2"/>
                  </a:rPr>
                  <a:t>Off-diagonal entries are inner product of “different states that original basis states map to” = 0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25EAF2F-F9AE-9847-FC62-DEDD34EEAC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1965" y="886947"/>
                <a:ext cx="5429459" cy="50817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261D4E5F-8E0B-4751-6C1B-71FCC480402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4164" y="3818379"/>
                <a:ext cx="6172955" cy="2462987"/>
              </a:xfrm>
              <a:prstGeom prst="rect">
                <a:avLst/>
              </a:prstGeom>
            </p:spPr>
            <p:txBody>
              <a:bodyPr vert="horz">
                <a:normAutofit fontScale="70000" lnSpcReduction="20000"/>
              </a:bodyPr>
              <a:lstStyle>
                <a:lvl1pPr marL="274320" indent="-274320" algn="l" rtl="0" eaLnBrk="1" latinLnBrk="0" hangingPunct="1"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/>
                  <a:buChar char=""/>
                  <a:defRPr kumimoji="0" sz="2800" kern="1200">
                    <a:solidFill>
                      <a:schemeClr val="tx1"/>
                    </a:solidFill>
                    <a:latin typeface="Candara" pitchFamily="34" charset="0"/>
                    <a:ea typeface="+mn-ea"/>
                    <a:cs typeface="+mn-cs"/>
                  </a:defRPr>
                </a:lvl1pPr>
                <a:lvl2pPr marL="548640" indent="-274320" algn="l" rtl="0" eaLnBrk="1" latinLnBrk="0" hangingPunct="1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/>
                  <a:buChar char=""/>
                  <a:defRPr kumimoji="0" sz="2400" kern="1200">
                    <a:solidFill>
                      <a:srgbClr val="002060"/>
                    </a:solidFill>
                    <a:latin typeface="Candara" pitchFamily="34" charset="0"/>
                    <a:ea typeface="+mn-ea"/>
                    <a:cs typeface="+mn-cs"/>
                  </a:defRPr>
                </a:lvl2pPr>
                <a:lvl3pPr marL="822960" indent="-228600" algn="l" rtl="0" eaLnBrk="1" latinLnBrk="0" hangingPunct="1">
                  <a:spcBef>
                    <a:spcPts val="500"/>
                  </a:spcBef>
                  <a:buClr>
                    <a:schemeClr val="bg1">
                      <a:shade val="50000"/>
                    </a:schemeClr>
                  </a:buClr>
                  <a:buSzPct val="76000"/>
                  <a:buFont typeface="Wingdings 3"/>
                  <a:buChar char=""/>
                  <a:defRPr kumimoji="0" sz="2400" kern="1200">
                    <a:solidFill>
                      <a:srgbClr val="006600"/>
                    </a:solidFill>
                    <a:latin typeface="Candara" pitchFamily="34" charset="0"/>
                    <a:ea typeface="+mn-ea"/>
                    <a:cs typeface="+mn-cs"/>
                  </a:defRPr>
                </a:lvl3pPr>
                <a:lvl4pPr marL="1097280" indent="-228600" algn="l" rtl="0" eaLnBrk="1" latinLnBrk="0" hangingPunct="1">
                  <a:spcBef>
                    <a:spcPts val="400"/>
                  </a:spcBef>
                  <a:buClr>
                    <a:schemeClr val="accent2">
                      <a:shade val="75000"/>
                    </a:schemeClr>
                  </a:buClr>
                  <a:buSzPct val="70000"/>
                  <a:buFont typeface="Wingdings"/>
                  <a:buChar char=""/>
                  <a:defRPr kumimoji="0" sz="2000" kern="1200">
                    <a:solidFill>
                      <a:schemeClr val="tx1"/>
                    </a:solidFill>
                    <a:latin typeface="Candara" pitchFamily="34" charset="0"/>
                    <a:ea typeface="+mn-ea"/>
                    <a:cs typeface="+mn-cs"/>
                  </a:defRPr>
                </a:lvl4pPr>
                <a:lvl5pPr marL="1371600" indent="-228600" algn="l" rtl="0" eaLnBrk="1" latinLnBrk="0" hangingPunct="1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/>
                  <a:buChar char=""/>
                  <a:defRPr kumimoji="0" sz="1800" kern="1200">
                    <a:solidFill>
                      <a:schemeClr val="tx1"/>
                    </a:solidFill>
                    <a:latin typeface="Candara" pitchFamily="34" charset="0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Unitary transformations are angle preserving</a:t>
                </a:r>
              </a:p>
              <a:p>
                <a:pPr lvl="1"/>
                <a:r>
                  <a:rPr lang="en-US" dirty="0"/>
                  <a:t>Angle between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dirty="0"/>
                  <a:t> is same as the angle between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Angle between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</m:oMath>
                </a14:m>
                <a:r>
                  <a:rPr lang="en-US" dirty="0">
                    <a:latin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𝐼𝑛𝑃𝑟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⟩ , |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⟩)=⟨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Angle between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  <a:r>
                  <a:rPr lang="en-US" dirty="0">
                    <a:latin typeface="Cambria Math" panose="02040503050406030204" pitchFamily="18" charset="0"/>
                  </a:rPr>
                  <a:t>=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𝐼𝑛𝑃𝑟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⟩ 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⟩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Conjugate transpose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𝜓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⟩)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†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†</m:t>
                            </m:r>
                          </m:sup>
                        </m:s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†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=(⟨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†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𝐼𝑛𝑃𝑟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⟩ 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⟩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begChr m:val="⟨"/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†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†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⟨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⟨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261D4E5F-8E0B-4751-6C1B-71FCC48040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164" y="3818379"/>
                <a:ext cx="6172955" cy="2462987"/>
              </a:xfrm>
              <a:prstGeom prst="rect">
                <a:avLst/>
              </a:prstGeom>
              <a:blipFill>
                <a:blip r:embed="rId4"/>
                <a:stretch>
                  <a:fillRect l="-395" t="-34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49226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8598E-7792-59B8-0868-768B9067E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D80BD-18BB-7B68-35F6-EF8E7640ADD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Quantum Computing – Vazirani, UCB</a:t>
            </a:r>
          </a:p>
          <a:p>
            <a:r>
              <a:rPr lang="en-US" dirty="0"/>
              <a:t>Quantum Computation – Zilin Jiang, ASU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7718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ML Theme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000000"/>
          </a:solidFill>
          <a:tailEnd type="arrow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mps-theme</Template>
  <TotalTime>18909</TotalTime>
  <Words>3503</Words>
  <Application>Microsoft Office PowerPoint</Application>
  <PresentationFormat>Widescreen</PresentationFormat>
  <Paragraphs>482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Aptos</vt:lpstr>
      <vt:lpstr>Cambria Math</vt:lpstr>
      <vt:lpstr>Candara</vt:lpstr>
      <vt:lpstr>Comic Sans MS</vt:lpstr>
      <vt:lpstr>Gill Sans MT</vt:lpstr>
      <vt:lpstr>Roboto</vt:lpstr>
      <vt:lpstr>Times New Roman</vt:lpstr>
      <vt:lpstr>Wingdings</vt:lpstr>
      <vt:lpstr>Wingdings 3</vt:lpstr>
      <vt:lpstr>CML Theme</vt:lpstr>
      <vt:lpstr>Quantum Computing</vt:lpstr>
      <vt:lpstr>Qubit</vt:lpstr>
      <vt:lpstr>Superposition</vt:lpstr>
      <vt:lpstr>Measurement</vt:lpstr>
      <vt:lpstr>Example Light Polarization Experiment</vt:lpstr>
      <vt:lpstr>Light Polarization Experiment</vt:lpstr>
      <vt:lpstr>Uncertainty Principle</vt:lpstr>
      <vt:lpstr>K-level system</vt:lpstr>
      <vt:lpstr>Measure |ψ⟩ in the sign basis, {|+⟩, |-⟩}</vt:lpstr>
      <vt:lpstr>Two Qubit Systems</vt:lpstr>
      <vt:lpstr>Entanglement</vt:lpstr>
      <vt:lpstr>Measuring the Bell state</vt:lpstr>
      <vt:lpstr>Rotational Invariance of the Bell State</vt:lpstr>
      <vt:lpstr>Rotational Invariance of the Bell State</vt:lpstr>
      <vt:lpstr>CHSH Inequality - Classical</vt:lpstr>
      <vt:lpstr>PowerPoint Presentation</vt:lpstr>
      <vt:lpstr>Evolution of a Quantum System</vt:lpstr>
      <vt:lpstr>Evolution of a Quantum System</vt:lpstr>
      <vt:lpstr>Unitary Transformations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Aviral Shrivastava</dc:creator>
  <cp:lastModifiedBy>Aviral Shrivastava</cp:lastModifiedBy>
  <cp:revision>85</cp:revision>
  <dcterms:created xsi:type="dcterms:W3CDTF">2024-07-06T15:34:20Z</dcterms:created>
  <dcterms:modified xsi:type="dcterms:W3CDTF">2025-03-19T21:39:56Z</dcterms:modified>
</cp:coreProperties>
</file>
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2" r:id="rId1"/>
  </p:sldMasterIdLst>
  <p:notesMasterIdLst>
    <p:notesMasterId r:id="rId19"/>
  </p:notesMasterIdLst>
  <p:sldIdLst>
    <p:sldId id="256" r:id="rId2"/>
    <p:sldId id="276" r:id="rId3"/>
    <p:sldId id="257" r:id="rId4"/>
    <p:sldId id="258" r:id="rId5"/>
    <p:sldId id="259" r:id="rId6"/>
    <p:sldId id="260" r:id="rId7"/>
    <p:sldId id="261" r:id="rId8"/>
    <p:sldId id="263" r:id="rId9"/>
    <p:sldId id="262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7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348"/>
    <p:restoredTop sz="96489" autoAdjust="0"/>
  </p:normalViewPr>
  <p:slideViewPr>
    <p:cSldViewPr snapToGrid="0">
      <p:cViewPr varScale="1">
        <p:scale>
          <a:sx n="85" d="100"/>
          <a:sy n="85" d="100"/>
        </p:scale>
        <p:origin x="84" y="23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490CB10-0298-4CDD-B96D-ABA862E1ACBD}" type="datetimeFigureOut">
              <a:rPr lang="en-US" smtClean="0"/>
              <a:t>3/19/2025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94BB539-68D7-45DA-B25C-C41122A0E7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774568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94BB539-68D7-45DA-B25C-C41122A0E79B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06486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1511300" y="1114425"/>
            <a:ext cx="9448800" cy="1280160"/>
          </a:xfrm>
        </p:spPr>
        <p:txBody>
          <a:bodyPr anchor="t" anchorCtr="0"/>
          <a:lstStyle>
            <a:lvl1pPr algn="r">
              <a:defRPr sz="3200">
                <a:solidFill>
                  <a:schemeClr val="tx1"/>
                </a:solidFill>
              </a:defRPr>
            </a:lvl1pPr>
          </a:lstStyle>
          <a:p>
            <a:r>
              <a:rPr kumimoji="0" lang="en-US"/>
              <a:t>Click to edit Master title style</a:t>
            </a:r>
            <a:endParaRPr kumimoji="0" lang="en-US" dirty="0"/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1524000" y="3124200"/>
            <a:ext cx="9436100" cy="762000"/>
          </a:xfrm>
        </p:spPr>
        <p:txBody>
          <a:bodyPr/>
          <a:lstStyle>
            <a:lvl1pPr marL="0" indent="0" algn="r">
              <a:buNone/>
              <a:defRPr sz="2000">
                <a:solidFill>
                  <a:schemeClr val="tx2"/>
                </a:solidFill>
                <a:latin typeface="Candara" panose="020E0502030303020204" pitchFamily="34" charset="0"/>
                <a:ea typeface="+mj-ea"/>
                <a:cs typeface="+mj-cs"/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/>
              <a:t>Click to edit Master subtitle style</a:t>
            </a:r>
            <a:endParaRPr kumimoji="0" lang="en-US" dirty="0"/>
          </a:p>
        </p:txBody>
      </p:sp>
      <p:sp>
        <p:nvSpPr>
          <p:cNvPr id="21" name="Rectangle 20"/>
          <p:cNvSpPr/>
          <p:nvPr/>
        </p:nvSpPr>
        <p:spPr>
          <a:xfrm>
            <a:off x="1206500" y="1114425"/>
            <a:ext cx="9753600" cy="1280160"/>
          </a:xfrm>
          <a:prstGeom prst="rect">
            <a:avLst/>
          </a:prstGeom>
          <a:noFill/>
          <a:ln w="6350" cap="rnd" cmpd="sng" algn="ctr">
            <a:solidFill>
              <a:schemeClr val="accent1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33" name="Rectangle 32"/>
          <p:cNvSpPr/>
          <p:nvPr/>
        </p:nvSpPr>
        <p:spPr>
          <a:xfrm>
            <a:off x="1219200" y="3124200"/>
            <a:ext cx="9753600" cy="762000"/>
          </a:xfrm>
          <a:prstGeom prst="rect">
            <a:avLst/>
          </a:prstGeom>
          <a:noFill/>
          <a:ln w="6350" cap="rnd" cmpd="sng" algn="ctr">
            <a:solidFill>
              <a:schemeClr val="accent2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22" name="Rectangle 21"/>
          <p:cNvSpPr/>
          <p:nvPr/>
        </p:nvSpPr>
        <p:spPr>
          <a:xfrm>
            <a:off x="1206500" y="1114425"/>
            <a:ext cx="304800" cy="1280160"/>
          </a:xfrm>
          <a:prstGeom prst="rect">
            <a:avLst/>
          </a:prstGeom>
          <a:solidFill>
            <a:schemeClr val="accent1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32" name="Rectangle 31"/>
          <p:cNvSpPr/>
          <p:nvPr/>
        </p:nvSpPr>
        <p:spPr>
          <a:xfrm>
            <a:off x="1219200" y="3124200"/>
            <a:ext cx="304800" cy="762000"/>
          </a:xfrm>
          <a:prstGeom prst="rect">
            <a:avLst/>
          </a:prstGeom>
          <a:solidFill>
            <a:schemeClr val="accent2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15" name="Date Placeholder 27">
            <a:extLst>
              <a:ext uri="{FF2B5EF4-FFF2-40B4-BE49-F238E27FC236}">
                <a16:creationId xmlns:a16="http://schemas.microsoft.com/office/drawing/2014/main" id="{BCE0B330-C09A-8B4E-AA0B-69C4967F3F7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820050" y="6365810"/>
            <a:ext cx="2551899" cy="365760"/>
          </a:xfrm>
          <a:prstGeom prst="rect">
            <a:avLst/>
          </a:prstGeom>
        </p:spPr>
        <p:txBody>
          <a:bodyPr/>
          <a:lstStyle>
            <a:lvl1pPr algn="ctr">
              <a:defRPr sz="1800"/>
            </a:lvl1pPr>
          </a:lstStyle>
          <a:p>
            <a:fld id="{9C6D7FAD-5A05-5E4D-B8E9-53FB00C64228}" type="datetimeFigureOut">
              <a:rPr lang="en-US" smtClean="0"/>
              <a:t>3/19/2025</a:t>
            </a:fld>
            <a:endParaRPr lang="en-US"/>
          </a:p>
        </p:txBody>
      </p:sp>
      <p:pic>
        <p:nvPicPr>
          <p:cNvPr id="17" name="Picture 16" descr="A picture containing object, clock, screen, room&#10;&#10;Description automatically generated">
            <a:extLst>
              <a:ext uri="{FF2B5EF4-FFF2-40B4-BE49-F238E27FC236}">
                <a16:creationId xmlns:a16="http://schemas.microsoft.com/office/drawing/2014/main" id="{CDD5D102-CB1C-F145-B6F8-B83F3880C7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09128" y="5797598"/>
            <a:ext cx="3315392" cy="10441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26290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816610"/>
          </a:xfrm>
        </p:spPr>
        <p:txBody>
          <a:bodyPr/>
          <a:lstStyle/>
          <a:p>
            <a:r>
              <a:rPr kumimoji="0" lang="en-US"/>
              <a:t>Click to edit Master title style</a:t>
            </a:r>
            <a:endParaRPr kumimoji="0"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86950" y="6338389"/>
            <a:ext cx="1261164" cy="365760"/>
          </a:xfrm>
          <a:prstGeom prst="rect">
            <a:avLst/>
          </a:prstGeom>
        </p:spPr>
        <p:txBody>
          <a:bodyPr/>
          <a:lstStyle/>
          <a:p>
            <a:fld id="{AAE9D7F5-2D48-9647-949A-F5F108C3F42F}" type="slidenum">
              <a:rPr lang="en-US" smtClean="0"/>
              <a:t>‹#›</a:t>
            </a:fld>
            <a:endParaRPr lang="en-US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157507" y="1032691"/>
            <a:ext cx="11508922" cy="4792617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 dirty="0"/>
          </a:p>
        </p:txBody>
      </p:sp>
      <p:sp>
        <p:nvSpPr>
          <p:cNvPr id="14" name="Date Placeholder 27"/>
          <p:cNvSpPr>
            <a:spLocks noGrp="1"/>
          </p:cNvSpPr>
          <p:nvPr>
            <p:ph type="dt" sz="half" idx="10"/>
          </p:nvPr>
        </p:nvSpPr>
        <p:spPr>
          <a:xfrm>
            <a:off x="4820050" y="6365810"/>
            <a:ext cx="2551899" cy="365760"/>
          </a:xfrm>
          <a:prstGeom prst="rect">
            <a:avLst/>
          </a:prstGeom>
        </p:spPr>
        <p:txBody>
          <a:bodyPr/>
          <a:lstStyle>
            <a:lvl1pPr algn="ctr">
              <a:defRPr sz="1800">
                <a:latin typeface="Candara" panose="020E0502030303020204" pitchFamily="34" charset="0"/>
              </a:defRPr>
            </a:lvl1pPr>
          </a:lstStyle>
          <a:p>
            <a:fld id="{9C6D7FAD-5A05-5E4D-B8E9-53FB00C64228}" type="datetimeFigureOut">
              <a:rPr lang="en-US" smtClean="0"/>
              <a:t>3/19/2025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53622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4000" y="1066800"/>
            <a:ext cx="9448800" cy="1280160"/>
          </a:xfrm>
        </p:spPr>
        <p:txBody>
          <a:bodyPr anchor="t" anchorCtr="0"/>
          <a:lstStyle>
            <a:lvl1pPr algn="r">
              <a:buNone/>
              <a:defRPr sz="3200" b="0" cap="none" baseline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kumimoji="0" lang="en-US"/>
              <a:t>Click to edit Master title style</a:t>
            </a:r>
            <a:endParaRPr kumimoji="0"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27200" y="2895600"/>
            <a:ext cx="9042400" cy="1143000"/>
          </a:xfrm>
        </p:spPr>
        <p:txBody>
          <a:bodyPr anchor="t" anchorCtr="0"/>
          <a:lstStyle>
            <a:lvl1pPr marL="0" indent="0" algn="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7" name="Rectangle 6"/>
          <p:cNvSpPr/>
          <p:nvPr/>
        </p:nvSpPr>
        <p:spPr>
          <a:xfrm>
            <a:off x="1219200" y="1066800"/>
            <a:ext cx="9753600" cy="1280160"/>
          </a:xfrm>
          <a:prstGeom prst="rect">
            <a:avLst/>
          </a:prstGeom>
          <a:noFill/>
          <a:ln w="6350" cap="rnd" cmpd="sng" algn="ctr">
            <a:solidFill>
              <a:schemeClr val="accent1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8" name="Rectangle 7"/>
          <p:cNvSpPr/>
          <p:nvPr/>
        </p:nvSpPr>
        <p:spPr>
          <a:xfrm>
            <a:off x="1219200" y="1066800"/>
            <a:ext cx="304800" cy="1280160"/>
          </a:xfrm>
          <a:prstGeom prst="rect">
            <a:avLst/>
          </a:prstGeom>
          <a:solidFill>
            <a:schemeClr val="accent1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15" name="Date Placeholder 27">
            <a:extLst>
              <a:ext uri="{FF2B5EF4-FFF2-40B4-BE49-F238E27FC236}">
                <a16:creationId xmlns:a16="http://schemas.microsoft.com/office/drawing/2014/main" id="{8092CCAB-AB79-FF48-BB64-9B731D39FE9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820050" y="6365810"/>
            <a:ext cx="2551899" cy="365760"/>
          </a:xfrm>
          <a:prstGeom prst="rect">
            <a:avLst/>
          </a:prstGeom>
        </p:spPr>
        <p:txBody>
          <a:bodyPr/>
          <a:lstStyle>
            <a:lvl1pPr algn="ctr">
              <a:defRPr sz="1800"/>
            </a:lvl1pPr>
          </a:lstStyle>
          <a:p>
            <a:fld id="{9C6D7FAD-5A05-5E4D-B8E9-53FB00C64228}" type="datetimeFigureOut">
              <a:rPr lang="en-US" smtClean="0"/>
              <a:t>3/19/2025</a:t>
            </a:fld>
            <a:endParaRPr lang="en-US"/>
          </a:p>
        </p:txBody>
      </p:sp>
      <p:pic>
        <p:nvPicPr>
          <p:cNvPr id="18" name="Picture 17" descr="A picture containing object, clock, screen, room&#10;&#10;Description automatically generated">
            <a:extLst>
              <a:ext uri="{FF2B5EF4-FFF2-40B4-BE49-F238E27FC236}">
                <a16:creationId xmlns:a16="http://schemas.microsoft.com/office/drawing/2014/main" id="{3A78478A-CCF5-A64D-882E-20C5BAD069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09128" y="5797598"/>
            <a:ext cx="3315392" cy="10441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069144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885371"/>
          </a:xfrm>
        </p:spPr>
        <p:txBody>
          <a:bodyPr/>
          <a:lstStyle/>
          <a:p>
            <a:r>
              <a:rPr kumimoji="0" lang="en-US"/>
              <a:t>Click to edit Master title style</a:t>
            </a:r>
            <a:endParaRPr kumimoji="0" lang="en-US" dirty="0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336550" y="1007758"/>
            <a:ext cx="5388864" cy="493776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 dirty="0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6231297" y="1048793"/>
            <a:ext cx="5388864" cy="493776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 dirty="0"/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16864" y="6356350"/>
            <a:ext cx="1723136" cy="365760"/>
          </a:xfrm>
          <a:prstGeom prst="rect">
            <a:avLst/>
          </a:prstGeom>
        </p:spPr>
        <p:txBody>
          <a:bodyPr/>
          <a:lstStyle/>
          <a:p>
            <a:fld id="{AAE9D7F5-2D48-9647-949A-F5F108C3F42F}" type="slidenum">
              <a:rPr lang="en-US" smtClean="0"/>
              <a:t>‹#›</a:t>
            </a:fld>
            <a:endParaRPr lang="en-US"/>
          </a:p>
        </p:txBody>
      </p:sp>
      <p:sp>
        <p:nvSpPr>
          <p:cNvPr id="16" name="Date Placeholder 27">
            <a:extLst>
              <a:ext uri="{FF2B5EF4-FFF2-40B4-BE49-F238E27FC236}">
                <a16:creationId xmlns:a16="http://schemas.microsoft.com/office/drawing/2014/main" id="{AF625E83-E07C-2D4D-BD0C-10946C3C975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820050" y="6365810"/>
            <a:ext cx="2551899" cy="365760"/>
          </a:xfrm>
          <a:prstGeom prst="rect">
            <a:avLst/>
          </a:prstGeom>
        </p:spPr>
        <p:txBody>
          <a:bodyPr/>
          <a:lstStyle>
            <a:lvl1pPr algn="ctr">
              <a:defRPr sz="1800"/>
            </a:lvl1pPr>
          </a:lstStyle>
          <a:p>
            <a:fld id="{9C6D7FAD-5A05-5E4D-B8E9-53FB00C64228}" type="datetimeFigureOut">
              <a:rPr lang="en-US" smtClean="0"/>
              <a:t>3/19/2025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49820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870857"/>
          </a:xfrm>
        </p:spPr>
        <p:txBody>
          <a:bodyPr anchor="ctr"/>
          <a:lstStyle>
            <a:lvl1pPr>
              <a:defRPr/>
            </a:lvl1pPr>
          </a:lstStyle>
          <a:p>
            <a:r>
              <a:rPr kumimoji="0" lang="en-US"/>
              <a:t>Click to edit Master title style</a:t>
            </a:r>
            <a:endParaRPr kumimoji="0"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285875"/>
            <a:ext cx="5386917" cy="685800"/>
          </a:xfrm>
          <a:noFill/>
          <a:ln>
            <a:noFill/>
          </a:ln>
        </p:spPr>
        <p:txBody>
          <a:bodyPr lIns="91440" anchor="b" anchorCtr="0">
            <a:noAutofit/>
          </a:bodyPr>
          <a:lstStyle>
            <a:lvl1pPr marL="0" indent="0">
              <a:buNone/>
              <a:defRPr sz="2400" b="1">
                <a:solidFill>
                  <a:schemeClr val="accent2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6197601" y="1295400"/>
            <a:ext cx="5389033" cy="685800"/>
          </a:xfrm>
          <a:noFill/>
          <a:ln>
            <a:noFill/>
          </a:ln>
        </p:spPr>
        <p:txBody>
          <a:bodyPr lIns="91440" anchor="b" anchorCtr="0"/>
          <a:lstStyle>
            <a:lvl1pPr marL="0" indent="0">
              <a:buNone/>
              <a:defRPr sz="2400" b="1">
                <a:solidFill>
                  <a:schemeClr val="accent2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609600" y="2133600"/>
            <a:ext cx="5384800" cy="40386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 dirty="0"/>
          </a:p>
        </p:txBody>
      </p:sp>
      <p:sp>
        <p:nvSpPr>
          <p:cNvPr id="13" name="Content Placeholder 12"/>
          <p:cNvSpPr>
            <a:spLocks noGrp="1"/>
          </p:cNvSpPr>
          <p:nvPr>
            <p:ph sz="quarter" idx="4"/>
          </p:nvPr>
        </p:nvSpPr>
        <p:spPr>
          <a:xfrm>
            <a:off x="6197600" y="2133600"/>
            <a:ext cx="5384800" cy="40386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 dirty="0"/>
          </a:p>
        </p:txBody>
      </p:sp>
      <p:sp>
        <p:nvSpPr>
          <p:cNvPr id="10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16864" y="6356350"/>
            <a:ext cx="1723136" cy="365760"/>
          </a:xfrm>
          <a:prstGeom prst="rect">
            <a:avLst/>
          </a:prstGeom>
        </p:spPr>
        <p:txBody>
          <a:bodyPr/>
          <a:lstStyle/>
          <a:p>
            <a:fld id="{AAE9D7F5-2D48-9647-949A-F5F108C3F42F}" type="slidenum">
              <a:rPr lang="en-US" smtClean="0"/>
              <a:t>‹#›</a:t>
            </a:fld>
            <a:endParaRPr lang="en-US"/>
          </a:p>
        </p:txBody>
      </p:sp>
      <p:sp>
        <p:nvSpPr>
          <p:cNvPr id="18" name="Date Placeholder 27">
            <a:extLst>
              <a:ext uri="{FF2B5EF4-FFF2-40B4-BE49-F238E27FC236}">
                <a16:creationId xmlns:a16="http://schemas.microsoft.com/office/drawing/2014/main" id="{E7970657-EC88-024C-8290-A7B6534FF31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820050" y="6365810"/>
            <a:ext cx="2551899" cy="365760"/>
          </a:xfrm>
          <a:prstGeom prst="rect">
            <a:avLst/>
          </a:prstGeom>
        </p:spPr>
        <p:txBody>
          <a:bodyPr/>
          <a:lstStyle>
            <a:lvl1pPr algn="ctr">
              <a:defRPr sz="1800"/>
            </a:lvl1pPr>
          </a:lstStyle>
          <a:p>
            <a:fld id="{9C6D7FAD-5A05-5E4D-B8E9-53FB00C64228}" type="datetimeFigureOut">
              <a:rPr lang="en-US" smtClean="0"/>
              <a:t>3/19/2025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94136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885371"/>
          </a:xfrm>
        </p:spPr>
        <p:txBody>
          <a:bodyPr/>
          <a:lstStyle/>
          <a:p>
            <a:r>
              <a:rPr kumimoji="0" lang="en-US"/>
              <a:t>Click to edit Master title style</a:t>
            </a:r>
            <a:endParaRPr kumimoji="0" lang="en-US" dirty="0"/>
          </a:p>
        </p:txBody>
      </p:sp>
      <p:sp>
        <p:nvSpPr>
          <p:cNvPr id="6" name="Isosceles Triangle 5"/>
          <p:cNvSpPr>
            <a:spLocks noChangeAspect="1"/>
          </p:cNvSpPr>
          <p:nvPr/>
        </p:nvSpPr>
        <p:spPr>
          <a:xfrm rot="5400000">
            <a:off x="590609" y="6447423"/>
            <a:ext cx="190849" cy="160419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16864" y="6356350"/>
            <a:ext cx="1723136" cy="365760"/>
          </a:xfrm>
          <a:prstGeom prst="rect">
            <a:avLst/>
          </a:prstGeom>
        </p:spPr>
        <p:txBody>
          <a:bodyPr/>
          <a:lstStyle/>
          <a:p>
            <a:fld id="{AAE9D7F5-2D48-9647-949A-F5F108C3F42F}" type="slidenum">
              <a:rPr lang="en-US" smtClean="0"/>
              <a:t>‹#›</a:t>
            </a:fld>
            <a:endParaRPr lang="en-US"/>
          </a:p>
        </p:txBody>
      </p:sp>
      <p:sp>
        <p:nvSpPr>
          <p:cNvPr id="13" name="Date Placeholder 27">
            <a:extLst>
              <a:ext uri="{FF2B5EF4-FFF2-40B4-BE49-F238E27FC236}">
                <a16:creationId xmlns:a16="http://schemas.microsoft.com/office/drawing/2014/main" id="{CAF2259C-C183-3640-A509-F39E34FA1F7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820050" y="6365810"/>
            <a:ext cx="2551899" cy="365760"/>
          </a:xfrm>
          <a:prstGeom prst="rect">
            <a:avLst/>
          </a:prstGeom>
        </p:spPr>
        <p:txBody>
          <a:bodyPr/>
          <a:lstStyle>
            <a:lvl1pPr algn="ctr">
              <a:defRPr sz="1800"/>
            </a:lvl1pPr>
          </a:lstStyle>
          <a:p>
            <a:fld id="{9C6D7FAD-5A05-5E4D-B8E9-53FB00C64228}" type="datetimeFigureOut">
              <a:rPr lang="en-US" smtClean="0"/>
              <a:t>3/19/2025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17757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traight Connector 4"/>
          <p:cNvSpPr>
            <a:spLocks noChangeShapeType="1"/>
          </p:cNvSpPr>
          <p:nvPr/>
        </p:nvSpPr>
        <p:spPr bwMode="auto">
          <a:xfrm>
            <a:off x="609600" y="6353175"/>
            <a:ext cx="109728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sz="1800"/>
          </a:p>
        </p:txBody>
      </p:sp>
      <p:sp>
        <p:nvSpPr>
          <p:cNvPr id="6" name="Isosceles Triangle 5"/>
          <p:cNvSpPr>
            <a:spLocks noChangeAspect="1"/>
          </p:cNvSpPr>
          <p:nvPr/>
        </p:nvSpPr>
        <p:spPr>
          <a:xfrm rot="5400000">
            <a:off x="590609" y="6447423"/>
            <a:ext cx="190849" cy="160419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16864" y="6356350"/>
            <a:ext cx="1723136" cy="365760"/>
          </a:xfrm>
          <a:prstGeom prst="rect">
            <a:avLst/>
          </a:prstGeom>
        </p:spPr>
        <p:txBody>
          <a:bodyPr/>
          <a:lstStyle/>
          <a:p>
            <a:fld id="{AAE9D7F5-2D48-9647-949A-F5F108C3F42F}" type="slidenum">
              <a:rPr lang="en-US" smtClean="0"/>
              <a:t>‹#›</a:t>
            </a:fld>
            <a:endParaRPr lang="en-US"/>
          </a:p>
        </p:txBody>
      </p:sp>
      <p:sp>
        <p:nvSpPr>
          <p:cNvPr id="13" name="Date Placeholder 27">
            <a:extLst>
              <a:ext uri="{FF2B5EF4-FFF2-40B4-BE49-F238E27FC236}">
                <a16:creationId xmlns:a16="http://schemas.microsoft.com/office/drawing/2014/main" id="{483D13DE-6015-8A4F-BDFC-71BF62E8204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820050" y="6365810"/>
            <a:ext cx="2551899" cy="365760"/>
          </a:xfrm>
          <a:prstGeom prst="rect">
            <a:avLst/>
          </a:prstGeom>
        </p:spPr>
        <p:txBody>
          <a:bodyPr/>
          <a:lstStyle>
            <a:lvl1pPr algn="ctr">
              <a:defRPr sz="1800"/>
            </a:lvl1pPr>
          </a:lstStyle>
          <a:p>
            <a:fld id="{9C6D7FAD-5A05-5E4D-B8E9-53FB00C64228}" type="datetimeFigureOut">
              <a:rPr lang="en-US" smtClean="0"/>
              <a:t>3/19/2025</a:t>
            </a:fld>
            <a:endParaRPr lang="en-US"/>
          </a:p>
        </p:txBody>
      </p:sp>
      <p:pic>
        <p:nvPicPr>
          <p:cNvPr id="16" name="Picture 15" descr="A picture containing object, clock, screen, room&#10;&#10;Description automatically generated">
            <a:extLst>
              <a:ext uri="{FF2B5EF4-FFF2-40B4-BE49-F238E27FC236}">
                <a16:creationId xmlns:a16="http://schemas.microsoft.com/office/drawing/2014/main" id="{29EBD462-D640-5448-9ABD-588D241C24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09128" y="5797598"/>
            <a:ext cx="3315392" cy="10441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45602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32800" y="304800"/>
            <a:ext cx="3352800" cy="838200"/>
          </a:xfrm>
        </p:spPr>
        <p:txBody>
          <a:bodyPr anchor="b" anchorCtr="0">
            <a:noAutofit/>
          </a:bodyPr>
          <a:lstStyle>
            <a:lvl1pPr algn="l">
              <a:buNone/>
              <a:defRPr sz="2000" b="1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kumimoji="0" lang="en-US"/>
              <a:t>Click to edit Master title style</a:t>
            </a:r>
            <a:endParaRPr kumimoji="0"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8432800" y="1219201"/>
            <a:ext cx="3352800" cy="4843463"/>
          </a:xfrm>
        </p:spPr>
        <p:txBody>
          <a:bodyPr/>
          <a:lstStyle>
            <a:lvl1pPr marL="0" indent="0">
              <a:lnSpc>
                <a:spcPts val="2200"/>
              </a:lnSpc>
              <a:spcAft>
                <a:spcPts val="1000"/>
              </a:spcAft>
              <a:buNone/>
              <a:defRPr sz="1600">
                <a:solidFill>
                  <a:schemeClr val="tx2"/>
                </a:solidFill>
              </a:defRPr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8" name="Straight Connector 7"/>
          <p:cNvSpPr>
            <a:spLocks noChangeShapeType="1"/>
          </p:cNvSpPr>
          <p:nvPr/>
        </p:nvSpPr>
        <p:spPr bwMode="auto">
          <a:xfrm>
            <a:off x="609600" y="6353175"/>
            <a:ext cx="109728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sz="1800"/>
          </a:p>
        </p:txBody>
      </p:sp>
      <p:sp>
        <p:nvSpPr>
          <p:cNvPr id="10" name="Straight Connector 9"/>
          <p:cNvSpPr>
            <a:spLocks noChangeShapeType="1"/>
          </p:cNvSpPr>
          <p:nvPr/>
        </p:nvSpPr>
        <p:spPr bwMode="auto">
          <a:xfrm rot="5400000">
            <a:off x="5220033" y="3324225"/>
            <a:ext cx="603504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sz="1800" dirty="0"/>
          </a:p>
        </p:txBody>
      </p:sp>
      <p:sp>
        <p:nvSpPr>
          <p:cNvPr id="9" name="Isosceles Triangle 8"/>
          <p:cNvSpPr>
            <a:spLocks noChangeAspect="1"/>
          </p:cNvSpPr>
          <p:nvPr/>
        </p:nvSpPr>
        <p:spPr>
          <a:xfrm rot="5400000">
            <a:off x="590609" y="6447423"/>
            <a:ext cx="190849" cy="160419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12" name="Content Placeholder 11"/>
          <p:cNvSpPr>
            <a:spLocks noGrp="1"/>
          </p:cNvSpPr>
          <p:nvPr>
            <p:ph sz="quarter" idx="1"/>
          </p:nvPr>
        </p:nvSpPr>
        <p:spPr>
          <a:xfrm>
            <a:off x="406400" y="304800"/>
            <a:ext cx="7620000" cy="57150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16864" y="6356350"/>
            <a:ext cx="1723136" cy="365760"/>
          </a:xfrm>
          <a:prstGeom prst="rect">
            <a:avLst/>
          </a:prstGeom>
        </p:spPr>
        <p:txBody>
          <a:bodyPr/>
          <a:lstStyle/>
          <a:p>
            <a:fld id="{AAE9D7F5-2D48-9647-949A-F5F108C3F42F}" type="slidenum">
              <a:rPr lang="en-US" smtClean="0"/>
              <a:t>‹#›</a:t>
            </a:fld>
            <a:endParaRPr lang="en-US"/>
          </a:p>
        </p:txBody>
      </p:sp>
      <p:sp>
        <p:nvSpPr>
          <p:cNvPr id="19" name="TextBox 18"/>
          <p:cNvSpPr txBox="1"/>
          <p:nvPr/>
        </p:nvSpPr>
        <p:spPr>
          <a:xfrm>
            <a:off x="5234432" y="6353175"/>
            <a:ext cx="172313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0" lang="en-US" sz="1600" kern="1200" dirty="0" err="1">
                <a:solidFill>
                  <a:srgbClr val="0808C0"/>
                </a:solidFill>
                <a:latin typeface="Candara" panose="020E0502030303020204" pitchFamily="34" charset="0"/>
                <a:ea typeface="+mn-ea"/>
                <a:cs typeface="+mn-cs"/>
              </a:rPr>
              <a:t>aviral.lab.asu.edu</a:t>
            </a:r>
            <a:endParaRPr kumimoji="0" lang="en-US" sz="1600" kern="1200" dirty="0">
              <a:solidFill>
                <a:srgbClr val="0808C0"/>
              </a:solidFill>
              <a:latin typeface="Candara" panose="020E0502030303020204" pitchFamily="34" charset="0"/>
              <a:ea typeface="+mn-ea"/>
              <a:cs typeface="+mn-cs"/>
            </a:endParaRPr>
          </a:p>
        </p:txBody>
      </p:sp>
      <p:pic>
        <p:nvPicPr>
          <p:cNvPr id="18" name="Picture 17" descr="A picture containing object, clock, screen, room&#10;&#10;Description automatically generated">
            <a:extLst>
              <a:ext uri="{FF2B5EF4-FFF2-40B4-BE49-F238E27FC236}">
                <a16:creationId xmlns:a16="http://schemas.microsoft.com/office/drawing/2014/main" id="{732FA9EB-AFF4-3F4C-84AF-EC57F8F874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09128" y="5797598"/>
            <a:ext cx="3315392" cy="10441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96920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500856"/>
            <a:ext cx="10972800" cy="674688"/>
          </a:xfrm>
          <a:ln>
            <a:solidFill>
              <a:schemeClr val="accent1"/>
            </a:solidFill>
          </a:ln>
        </p:spPr>
        <p:txBody>
          <a:bodyPr lIns="274320" anchor="ctr"/>
          <a:lstStyle>
            <a:lvl1pPr algn="r">
              <a:buNone/>
              <a:defRPr sz="2000" b="0">
                <a:solidFill>
                  <a:schemeClr val="tx1"/>
                </a:solidFill>
              </a:defRPr>
            </a:lvl1pPr>
          </a:lstStyle>
          <a:p>
            <a:r>
              <a:rPr kumimoji="0" lang="en-US"/>
              <a:t>Click to edit Master title style</a:t>
            </a:r>
            <a:endParaRPr kumimoji="0"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609600" y="1905000"/>
            <a:ext cx="10972800" cy="4270248"/>
          </a:xfrm>
          <a:solidFill>
            <a:schemeClr val="tx1">
              <a:shade val="50000"/>
            </a:schemeClr>
          </a:solidFill>
          <a:ln>
            <a:noFill/>
          </a:ln>
          <a:effectLst/>
        </p:spPr>
        <p:txBody>
          <a:bodyPr/>
          <a:lstStyle>
            <a:lvl1pPr marL="0" indent="0">
              <a:spcBef>
                <a:spcPts val="600"/>
              </a:spcBef>
              <a:buNone/>
              <a:defRPr sz="3200"/>
            </a:lvl1pPr>
          </a:lstStyle>
          <a:p>
            <a:r>
              <a:rPr kumimoji="0" lang="en-US"/>
              <a:t>Click icon to add picture</a:t>
            </a:r>
            <a:endParaRPr kumimoji="0"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0" y="1219200"/>
            <a:ext cx="10972800" cy="533400"/>
          </a:xfrm>
        </p:spPr>
        <p:txBody>
          <a:bodyPr anchor="ctr" anchorCtr="0"/>
          <a:lstStyle>
            <a:lvl1pPr marL="0" indent="0" algn="l">
              <a:buFontTx/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8" name="Straight Connector 7"/>
          <p:cNvSpPr>
            <a:spLocks noChangeShapeType="1"/>
          </p:cNvSpPr>
          <p:nvPr/>
        </p:nvSpPr>
        <p:spPr bwMode="auto">
          <a:xfrm>
            <a:off x="609600" y="6353175"/>
            <a:ext cx="109728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sz="1800"/>
          </a:p>
        </p:txBody>
      </p:sp>
      <p:sp>
        <p:nvSpPr>
          <p:cNvPr id="9" name="Isosceles Triangle 8"/>
          <p:cNvSpPr>
            <a:spLocks noChangeAspect="1"/>
          </p:cNvSpPr>
          <p:nvPr/>
        </p:nvSpPr>
        <p:spPr>
          <a:xfrm rot="5400000">
            <a:off x="590609" y="6447423"/>
            <a:ext cx="190849" cy="160419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10" name="Rectangle 9"/>
          <p:cNvSpPr/>
          <p:nvPr/>
        </p:nvSpPr>
        <p:spPr>
          <a:xfrm>
            <a:off x="609600" y="500856"/>
            <a:ext cx="243840" cy="685800"/>
          </a:xfrm>
          <a:prstGeom prst="rect">
            <a:avLst/>
          </a:prstGeom>
          <a:solidFill>
            <a:schemeClr val="accent1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16864" y="6356350"/>
            <a:ext cx="1723136" cy="365760"/>
          </a:xfrm>
          <a:prstGeom prst="rect">
            <a:avLst/>
          </a:prstGeom>
        </p:spPr>
        <p:txBody>
          <a:bodyPr/>
          <a:lstStyle/>
          <a:p>
            <a:fld id="{AAE9D7F5-2D48-9647-949A-F5F108C3F42F}" type="slidenum">
              <a:rPr lang="en-US" smtClean="0"/>
              <a:t>‹#›</a:t>
            </a:fld>
            <a:endParaRPr lang="en-US"/>
          </a:p>
        </p:txBody>
      </p:sp>
      <p:grpSp>
        <p:nvGrpSpPr>
          <p:cNvPr id="12" name="Group 13"/>
          <p:cNvGrpSpPr>
            <a:grpSpLocks/>
          </p:cNvGrpSpPr>
          <p:nvPr/>
        </p:nvGrpSpPr>
        <p:grpSpPr bwMode="auto">
          <a:xfrm>
            <a:off x="10570634" y="5932488"/>
            <a:ext cx="1722966" cy="1008062"/>
            <a:chOff x="4850" y="3497"/>
            <a:chExt cx="814" cy="635"/>
          </a:xfrm>
        </p:grpSpPr>
        <p:sp>
          <p:nvSpPr>
            <p:cNvPr id="13" name="Text Box 8"/>
            <p:cNvSpPr txBox="1">
              <a:spLocks noChangeAspect="1" noChangeArrowheads="1"/>
            </p:cNvSpPr>
            <p:nvPr/>
          </p:nvSpPr>
          <p:spPr bwMode="auto">
            <a:xfrm>
              <a:off x="4850" y="3634"/>
              <a:ext cx="298" cy="49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lIns="92075" tIns="46038" rIns="92075" bIns="46038">
              <a:spAutoFit/>
            </a:bodyPr>
            <a:lstStyle/>
            <a:p>
              <a:pPr algn="r" fontAlgn="auto">
                <a:lnSpc>
                  <a:spcPct val="93000"/>
                </a:lnSpc>
                <a:spcBef>
                  <a:spcPct val="30000"/>
                </a:spcBef>
                <a:spcAft>
                  <a:spcPts val="0"/>
                </a:spcAft>
                <a:buClr>
                  <a:schemeClr val="tx1"/>
                </a:buClr>
                <a:buSzPct val="56000"/>
                <a:buFont typeface="Wingdings" pitchFamily="2" charset="2"/>
                <a:buNone/>
                <a:defRPr/>
              </a:pPr>
              <a:r>
                <a:rPr lang="en-US" sz="4800" b="1" dirty="0">
                  <a:solidFill>
                    <a:srgbClr val="0000FF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itchFamily="18" charset="0"/>
                  <a:cs typeface="+mn-cs"/>
                </a:rPr>
                <a:t>C</a:t>
              </a:r>
            </a:p>
          </p:txBody>
        </p:sp>
        <p:sp>
          <p:nvSpPr>
            <p:cNvPr id="14" name="Text Box 9"/>
            <p:cNvSpPr txBox="1">
              <a:spLocks noChangeAspect="1" noChangeArrowheads="1"/>
            </p:cNvSpPr>
            <p:nvPr/>
          </p:nvSpPr>
          <p:spPr bwMode="auto">
            <a:xfrm>
              <a:off x="5089" y="3497"/>
              <a:ext cx="362" cy="49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lIns="92075" tIns="46038" rIns="92075" bIns="46038">
              <a:spAutoFit/>
            </a:bodyPr>
            <a:lstStyle/>
            <a:p>
              <a:pPr algn="r" fontAlgn="auto">
                <a:lnSpc>
                  <a:spcPct val="93000"/>
                </a:lnSpc>
                <a:spcBef>
                  <a:spcPct val="30000"/>
                </a:spcBef>
                <a:spcAft>
                  <a:spcPts val="0"/>
                </a:spcAft>
                <a:buClr>
                  <a:schemeClr val="tx1"/>
                </a:buClr>
                <a:buSzPct val="56000"/>
                <a:buFont typeface="Wingdings" pitchFamily="2" charset="2"/>
                <a:buNone/>
                <a:defRPr/>
              </a:pPr>
              <a:r>
                <a:rPr lang="en-US" sz="4800" b="1" dirty="0">
                  <a:solidFill>
                    <a:srgbClr val="0000FF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itchFamily="18" charset="0"/>
                  <a:cs typeface="+mn-cs"/>
                </a:rPr>
                <a:t>M</a:t>
              </a:r>
            </a:p>
          </p:txBody>
        </p:sp>
        <p:sp>
          <p:nvSpPr>
            <p:cNvPr id="15" name="Text Box 10"/>
            <p:cNvSpPr txBox="1">
              <a:spLocks noChangeAspect="1" noChangeArrowheads="1"/>
            </p:cNvSpPr>
            <p:nvPr/>
          </p:nvSpPr>
          <p:spPr bwMode="auto">
            <a:xfrm>
              <a:off x="5382" y="3641"/>
              <a:ext cx="282" cy="49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lIns="92075" tIns="46038" rIns="92075" bIns="46038">
              <a:spAutoFit/>
            </a:bodyPr>
            <a:lstStyle/>
            <a:p>
              <a:pPr algn="r" fontAlgn="auto">
                <a:lnSpc>
                  <a:spcPct val="93000"/>
                </a:lnSpc>
                <a:spcBef>
                  <a:spcPct val="30000"/>
                </a:spcBef>
                <a:spcAft>
                  <a:spcPts val="0"/>
                </a:spcAft>
                <a:buClr>
                  <a:schemeClr val="tx1"/>
                </a:buClr>
                <a:buSzPct val="56000"/>
                <a:buFont typeface="Wingdings" pitchFamily="2" charset="2"/>
                <a:buNone/>
                <a:defRPr/>
              </a:pPr>
              <a:r>
                <a:rPr lang="en-US" sz="4800" b="1" dirty="0">
                  <a:solidFill>
                    <a:srgbClr val="0000FF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itchFamily="18" charset="0"/>
                  <a:cs typeface="+mn-cs"/>
                </a:rPr>
                <a:t>L</a:t>
              </a:r>
            </a:p>
          </p:txBody>
        </p:sp>
      </p:grpSp>
      <p:sp>
        <p:nvSpPr>
          <p:cNvPr id="16" name="Date Placeholder 27"/>
          <p:cNvSpPr>
            <a:spLocks noGrp="1"/>
          </p:cNvSpPr>
          <p:nvPr>
            <p:ph type="dt" sz="half" idx="10"/>
          </p:nvPr>
        </p:nvSpPr>
        <p:spPr>
          <a:xfrm>
            <a:off x="7209536" y="6355080"/>
            <a:ext cx="3048000" cy="365760"/>
          </a:xfrm>
          <a:prstGeom prst="rect">
            <a:avLst/>
          </a:prstGeom>
        </p:spPr>
        <p:txBody>
          <a:bodyPr/>
          <a:lstStyle>
            <a:lvl1pPr algn="ctr">
              <a:defRPr sz="1400"/>
            </a:lvl1pPr>
          </a:lstStyle>
          <a:p>
            <a:fld id="{9C6D7FAD-5A05-5E4D-B8E9-53FB00C64228}" type="datetimeFigureOut">
              <a:rPr lang="en-US" smtClean="0"/>
              <a:t>3/19/2025</a:t>
            </a:fld>
            <a:endParaRPr lang="en-US"/>
          </a:p>
        </p:txBody>
      </p:sp>
      <p:sp>
        <p:nvSpPr>
          <p:cNvPr id="18" name="TextBox 17"/>
          <p:cNvSpPr txBox="1"/>
          <p:nvPr/>
        </p:nvSpPr>
        <p:spPr>
          <a:xfrm>
            <a:off x="2540000" y="6397824"/>
            <a:ext cx="45720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0" lang="en-US" sz="1400" kern="1200" dirty="0">
                <a:solidFill>
                  <a:schemeClr val="tx1"/>
                </a:solidFill>
                <a:latin typeface="Comic Sans MS" pitchFamily="66" charset="0"/>
                <a:ea typeface="+mn-ea"/>
                <a:cs typeface="+mn-cs"/>
              </a:rPr>
              <a:t>Web page:  aviral.lab.asu.edu</a:t>
            </a:r>
          </a:p>
        </p:txBody>
      </p:sp>
    </p:spTree>
    <p:extLst>
      <p:ext uri="{BB962C8B-B14F-4D97-AF65-F5344CB8AC3E}">
        <p14:creationId xmlns:p14="http://schemas.microsoft.com/office/powerpoint/2010/main" val="267751401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  <a:endParaRPr kumimoji="0"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16864" y="6356350"/>
            <a:ext cx="1723136" cy="365760"/>
          </a:xfrm>
          <a:prstGeom prst="rect">
            <a:avLst/>
          </a:prstGeom>
        </p:spPr>
        <p:txBody>
          <a:bodyPr/>
          <a:lstStyle/>
          <a:p>
            <a:fld id="{AAE9D7F5-2D48-9647-949A-F5F108C3F42F}" type="slidenum">
              <a:rPr lang="en-US" smtClean="0"/>
              <a:t>‹#›</a:t>
            </a:fld>
            <a:endParaRPr lang="en-US"/>
          </a:p>
        </p:txBody>
      </p:sp>
      <p:grpSp>
        <p:nvGrpSpPr>
          <p:cNvPr id="8" name="Group 13"/>
          <p:cNvGrpSpPr>
            <a:grpSpLocks/>
          </p:cNvGrpSpPr>
          <p:nvPr/>
        </p:nvGrpSpPr>
        <p:grpSpPr bwMode="auto">
          <a:xfrm>
            <a:off x="10570634" y="5932488"/>
            <a:ext cx="1722966" cy="1008062"/>
            <a:chOff x="4850" y="3497"/>
            <a:chExt cx="814" cy="635"/>
          </a:xfrm>
        </p:grpSpPr>
        <p:sp>
          <p:nvSpPr>
            <p:cNvPr id="9" name="Text Box 8"/>
            <p:cNvSpPr txBox="1">
              <a:spLocks noChangeAspect="1" noChangeArrowheads="1"/>
            </p:cNvSpPr>
            <p:nvPr/>
          </p:nvSpPr>
          <p:spPr bwMode="auto">
            <a:xfrm>
              <a:off x="4850" y="3634"/>
              <a:ext cx="298" cy="49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lIns="92075" tIns="46038" rIns="92075" bIns="46038">
              <a:spAutoFit/>
            </a:bodyPr>
            <a:lstStyle/>
            <a:p>
              <a:pPr algn="r" fontAlgn="auto">
                <a:lnSpc>
                  <a:spcPct val="93000"/>
                </a:lnSpc>
                <a:spcBef>
                  <a:spcPct val="30000"/>
                </a:spcBef>
                <a:spcAft>
                  <a:spcPts val="0"/>
                </a:spcAft>
                <a:buClr>
                  <a:schemeClr val="tx1"/>
                </a:buClr>
                <a:buSzPct val="56000"/>
                <a:buFont typeface="Wingdings" pitchFamily="2" charset="2"/>
                <a:buNone/>
                <a:defRPr/>
              </a:pPr>
              <a:r>
                <a:rPr lang="en-US" sz="4800" b="1" dirty="0">
                  <a:solidFill>
                    <a:srgbClr val="0000FF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itchFamily="18" charset="0"/>
                  <a:cs typeface="+mn-cs"/>
                </a:rPr>
                <a:t>C</a:t>
              </a:r>
            </a:p>
          </p:txBody>
        </p:sp>
        <p:sp>
          <p:nvSpPr>
            <p:cNvPr id="10" name="Text Box 9"/>
            <p:cNvSpPr txBox="1">
              <a:spLocks noChangeAspect="1" noChangeArrowheads="1"/>
            </p:cNvSpPr>
            <p:nvPr/>
          </p:nvSpPr>
          <p:spPr bwMode="auto">
            <a:xfrm>
              <a:off x="5089" y="3497"/>
              <a:ext cx="362" cy="49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lIns="92075" tIns="46038" rIns="92075" bIns="46038">
              <a:spAutoFit/>
            </a:bodyPr>
            <a:lstStyle/>
            <a:p>
              <a:pPr algn="r" fontAlgn="auto">
                <a:lnSpc>
                  <a:spcPct val="93000"/>
                </a:lnSpc>
                <a:spcBef>
                  <a:spcPct val="30000"/>
                </a:spcBef>
                <a:spcAft>
                  <a:spcPts val="0"/>
                </a:spcAft>
                <a:buClr>
                  <a:schemeClr val="tx1"/>
                </a:buClr>
                <a:buSzPct val="56000"/>
                <a:buFont typeface="Wingdings" pitchFamily="2" charset="2"/>
                <a:buNone/>
                <a:defRPr/>
              </a:pPr>
              <a:r>
                <a:rPr lang="en-US" sz="4800" b="1" dirty="0">
                  <a:solidFill>
                    <a:srgbClr val="0000FF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itchFamily="18" charset="0"/>
                  <a:cs typeface="+mn-cs"/>
                </a:rPr>
                <a:t>M</a:t>
              </a:r>
            </a:p>
          </p:txBody>
        </p:sp>
        <p:sp>
          <p:nvSpPr>
            <p:cNvPr id="11" name="Text Box 10"/>
            <p:cNvSpPr txBox="1">
              <a:spLocks noChangeAspect="1" noChangeArrowheads="1"/>
            </p:cNvSpPr>
            <p:nvPr/>
          </p:nvSpPr>
          <p:spPr bwMode="auto">
            <a:xfrm>
              <a:off x="5382" y="3641"/>
              <a:ext cx="282" cy="49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lIns="92075" tIns="46038" rIns="92075" bIns="46038">
              <a:spAutoFit/>
            </a:bodyPr>
            <a:lstStyle/>
            <a:p>
              <a:pPr algn="r" fontAlgn="auto">
                <a:lnSpc>
                  <a:spcPct val="93000"/>
                </a:lnSpc>
                <a:spcBef>
                  <a:spcPct val="30000"/>
                </a:spcBef>
                <a:spcAft>
                  <a:spcPts val="0"/>
                </a:spcAft>
                <a:buClr>
                  <a:schemeClr val="tx1"/>
                </a:buClr>
                <a:buSzPct val="56000"/>
                <a:buFont typeface="Wingdings" pitchFamily="2" charset="2"/>
                <a:buNone/>
                <a:defRPr/>
              </a:pPr>
              <a:r>
                <a:rPr lang="en-US" sz="4800" b="1" dirty="0">
                  <a:solidFill>
                    <a:srgbClr val="0000FF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itchFamily="18" charset="0"/>
                  <a:cs typeface="+mn-cs"/>
                </a:rPr>
                <a:t>L</a:t>
              </a:r>
            </a:p>
          </p:txBody>
        </p:sp>
      </p:grpSp>
      <p:sp>
        <p:nvSpPr>
          <p:cNvPr id="12" name="Date Placeholder 27"/>
          <p:cNvSpPr>
            <a:spLocks noGrp="1"/>
          </p:cNvSpPr>
          <p:nvPr>
            <p:ph type="dt" sz="half" idx="10"/>
          </p:nvPr>
        </p:nvSpPr>
        <p:spPr>
          <a:xfrm>
            <a:off x="7209536" y="6355080"/>
            <a:ext cx="3048000" cy="365760"/>
          </a:xfrm>
          <a:prstGeom prst="rect">
            <a:avLst/>
          </a:prstGeom>
        </p:spPr>
        <p:txBody>
          <a:bodyPr/>
          <a:lstStyle>
            <a:lvl1pPr algn="ctr">
              <a:defRPr sz="1400"/>
            </a:lvl1pPr>
          </a:lstStyle>
          <a:p>
            <a:fld id="{9C6D7FAD-5A05-5E4D-B8E9-53FB00C64228}" type="datetimeFigureOut">
              <a:rPr lang="en-US" smtClean="0"/>
              <a:t>3/19/2025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17062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kumimoji="0" lang="en-US"/>
              <a:t>Click to edit Master title style</a:t>
            </a:r>
            <a:endParaRPr kumimoji="0"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7" name="Straight Connector 6"/>
          <p:cNvSpPr>
            <a:spLocks noChangeShapeType="1"/>
          </p:cNvSpPr>
          <p:nvPr/>
        </p:nvSpPr>
        <p:spPr bwMode="auto">
          <a:xfrm>
            <a:off x="609600" y="6353175"/>
            <a:ext cx="109728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sz="1800"/>
          </a:p>
        </p:txBody>
      </p:sp>
      <p:sp>
        <p:nvSpPr>
          <p:cNvPr id="8" name="Isosceles Triangle 7"/>
          <p:cNvSpPr>
            <a:spLocks noChangeAspect="1"/>
          </p:cNvSpPr>
          <p:nvPr/>
        </p:nvSpPr>
        <p:spPr>
          <a:xfrm rot="5400000">
            <a:off x="590609" y="6447423"/>
            <a:ext cx="190849" cy="160419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9" name="Straight Connector 8"/>
          <p:cNvSpPr>
            <a:spLocks noChangeShapeType="1"/>
          </p:cNvSpPr>
          <p:nvPr/>
        </p:nvSpPr>
        <p:spPr bwMode="auto">
          <a:xfrm rot="5400000">
            <a:off x="5814836" y="3201952"/>
            <a:ext cx="585216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sz="1800"/>
          </a:p>
        </p:txBody>
      </p:sp>
      <p:sp>
        <p:nvSpPr>
          <p:cNvPr id="10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16864" y="6356350"/>
            <a:ext cx="1723136" cy="365760"/>
          </a:xfrm>
          <a:prstGeom prst="rect">
            <a:avLst/>
          </a:prstGeom>
        </p:spPr>
        <p:txBody>
          <a:bodyPr/>
          <a:lstStyle/>
          <a:p>
            <a:fld id="{AAE9D7F5-2D48-9647-949A-F5F108C3F42F}" type="slidenum">
              <a:rPr lang="en-US" smtClean="0"/>
              <a:t>‹#›</a:t>
            </a:fld>
            <a:endParaRPr lang="en-US"/>
          </a:p>
        </p:txBody>
      </p:sp>
      <p:grpSp>
        <p:nvGrpSpPr>
          <p:cNvPr id="11" name="Group 13"/>
          <p:cNvGrpSpPr>
            <a:grpSpLocks/>
          </p:cNvGrpSpPr>
          <p:nvPr/>
        </p:nvGrpSpPr>
        <p:grpSpPr bwMode="auto">
          <a:xfrm>
            <a:off x="10570634" y="5932488"/>
            <a:ext cx="1722966" cy="1008062"/>
            <a:chOff x="4850" y="3497"/>
            <a:chExt cx="814" cy="635"/>
          </a:xfrm>
        </p:grpSpPr>
        <p:sp>
          <p:nvSpPr>
            <p:cNvPr id="12" name="Text Box 8"/>
            <p:cNvSpPr txBox="1">
              <a:spLocks noChangeAspect="1" noChangeArrowheads="1"/>
            </p:cNvSpPr>
            <p:nvPr/>
          </p:nvSpPr>
          <p:spPr bwMode="auto">
            <a:xfrm>
              <a:off x="4850" y="3634"/>
              <a:ext cx="298" cy="49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lIns="92075" tIns="46038" rIns="92075" bIns="46038">
              <a:spAutoFit/>
            </a:bodyPr>
            <a:lstStyle/>
            <a:p>
              <a:pPr algn="r" fontAlgn="auto">
                <a:lnSpc>
                  <a:spcPct val="93000"/>
                </a:lnSpc>
                <a:spcBef>
                  <a:spcPct val="30000"/>
                </a:spcBef>
                <a:spcAft>
                  <a:spcPts val="0"/>
                </a:spcAft>
                <a:buClr>
                  <a:schemeClr val="tx1"/>
                </a:buClr>
                <a:buSzPct val="56000"/>
                <a:buFont typeface="Wingdings" pitchFamily="2" charset="2"/>
                <a:buNone/>
                <a:defRPr/>
              </a:pPr>
              <a:r>
                <a:rPr lang="en-US" sz="4800" b="1" dirty="0">
                  <a:solidFill>
                    <a:srgbClr val="0000FF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itchFamily="18" charset="0"/>
                  <a:cs typeface="+mn-cs"/>
                </a:rPr>
                <a:t>C</a:t>
              </a:r>
            </a:p>
          </p:txBody>
        </p:sp>
        <p:sp>
          <p:nvSpPr>
            <p:cNvPr id="13" name="Text Box 9"/>
            <p:cNvSpPr txBox="1">
              <a:spLocks noChangeAspect="1" noChangeArrowheads="1"/>
            </p:cNvSpPr>
            <p:nvPr/>
          </p:nvSpPr>
          <p:spPr bwMode="auto">
            <a:xfrm>
              <a:off x="5089" y="3497"/>
              <a:ext cx="362" cy="49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lIns="92075" tIns="46038" rIns="92075" bIns="46038">
              <a:spAutoFit/>
            </a:bodyPr>
            <a:lstStyle/>
            <a:p>
              <a:pPr algn="r" fontAlgn="auto">
                <a:lnSpc>
                  <a:spcPct val="93000"/>
                </a:lnSpc>
                <a:spcBef>
                  <a:spcPct val="30000"/>
                </a:spcBef>
                <a:spcAft>
                  <a:spcPts val="0"/>
                </a:spcAft>
                <a:buClr>
                  <a:schemeClr val="tx1"/>
                </a:buClr>
                <a:buSzPct val="56000"/>
                <a:buFont typeface="Wingdings" pitchFamily="2" charset="2"/>
                <a:buNone/>
                <a:defRPr/>
              </a:pPr>
              <a:r>
                <a:rPr lang="en-US" sz="4800" b="1" dirty="0">
                  <a:solidFill>
                    <a:srgbClr val="0000FF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itchFamily="18" charset="0"/>
                  <a:cs typeface="+mn-cs"/>
                </a:rPr>
                <a:t>M</a:t>
              </a:r>
            </a:p>
          </p:txBody>
        </p:sp>
        <p:sp>
          <p:nvSpPr>
            <p:cNvPr id="14" name="Text Box 10"/>
            <p:cNvSpPr txBox="1">
              <a:spLocks noChangeAspect="1" noChangeArrowheads="1"/>
            </p:cNvSpPr>
            <p:nvPr/>
          </p:nvSpPr>
          <p:spPr bwMode="auto">
            <a:xfrm>
              <a:off x="5382" y="3641"/>
              <a:ext cx="282" cy="49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lIns="92075" tIns="46038" rIns="92075" bIns="46038">
              <a:spAutoFit/>
            </a:bodyPr>
            <a:lstStyle/>
            <a:p>
              <a:pPr algn="r" fontAlgn="auto">
                <a:lnSpc>
                  <a:spcPct val="93000"/>
                </a:lnSpc>
                <a:spcBef>
                  <a:spcPct val="30000"/>
                </a:spcBef>
                <a:spcAft>
                  <a:spcPts val="0"/>
                </a:spcAft>
                <a:buClr>
                  <a:schemeClr val="tx1"/>
                </a:buClr>
                <a:buSzPct val="56000"/>
                <a:buFont typeface="Wingdings" pitchFamily="2" charset="2"/>
                <a:buNone/>
                <a:defRPr/>
              </a:pPr>
              <a:r>
                <a:rPr lang="en-US" sz="4800" b="1" dirty="0">
                  <a:solidFill>
                    <a:srgbClr val="0000FF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itchFamily="18" charset="0"/>
                  <a:cs typeface="+mn-cs"/>
                </a:rPr>
                <a:t>L</a:t>
              </a:r>
            </a:p>
          </p:txBody>
        </p:sp>
      </p:grpSp>
      <p:sp>
        <p:nvSpPr>
          <p:cNvPr id="15" name="Date Placeholder 27"/>
          <p:cNvSpPr>
            <a:spLocks noGrp="1"/>
          </p:cNvSpPr>
          <p:nvPr>
            <p:ph type="dt" sz="half" idx="10"/>
          </p:nvPr>
        </p:nvSpPr>
        <p:spPr>
          <a:xfrm>
            <a:off x="7209536" y="6355080"/>
            <a:ext cx="3048000" cy="365760"/>
          </a:xfrm>
          <a:prstGeom prst="rect">
            <a:avLst/>
          </a:prstGeom>
        </p:spPr>
        <p:txBody>
          <a:bodyPr/>
          <a:lstStyle>
            <a:lvl1pPr algn="ctr">
              <a:defRPr sz="1400"/>
            </a:lvl1pPr>
          </a:lstStyle>
          <a:p>
            <a:fld id="{9C6D7FAD-5A05-5E4D-B8E9-53FB00C64228}" type="datetimeFigureOut">
              <a:rPr lang="en-US" smtClean="0"/>
              <a:t>3/19/2025</a:t>
            </a:fld>
            <a:endParaRPr lang="en-US"/>
          </a:p>
        </p:txBody>
      </p:sp>
      <p:sp>
        <p:nvSpPr>
          <p:cNvPr id="17" name="TextBox 16"/>
          <p:cNvSpPr txBox="1"/>
          <p:nvPr/>
        </p:nvSpPr>
        <p:spPr>
          <a:xfrm>
            <a:off x="2540000" y="6397824"/>
            <a:ext cx="45720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0" lang="en-US" sz="1400" kern="1200" dirty="0">
                <a:solidFill>
                  <a:srgbClr val="0808C0"/>
                </a:solidFill>
                <a:latin typeface="Comic Sans MS" pitchFamily="66" charset="0"/>
                <a:ea typeface="+mn-ea"/>
                <a:cs typeface="+mn-cs"/>
              </a:rPr>
              <a:t>Web page:  aviral.lab.asu.edu</a:t>
            </a:r>
          </a:p>
        </p:txBody>
      </p:sp>
    </p:spTree>
    <p:extLst>
      <p:ext uri="{BB962C8B-B14F-4D97-AF65-F5344CB8AC3E}">
        <p14:creationId xmlns:p14="http://schemas.microsoft.com/office/powerpoint/2010/main" val="14612322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838200"/>
          </a:xfrm>
          <a:prstGeom prst="rect">
            <a:avLst/>
          </a:prstGeom>
        </p:spPr>
        <p:txBody>
          <a:bodyPr vert="horz" anchor="b" anchorCtr="0">
            <a:noAutofit/>
          </a:bodyPr>
          <a:lstStyle/>
          <a:p>
            <a:r>
              <a:rPr kumimoji="0" lang="en-US"/>
              <a:t>Click to edit Master title style</a:t>
            </a:r>
            <a:endParaRPr kumimoji="0" lang="en-US" dirty="0"/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203201" y="990600"/>
            <a:ext cx="11696700" cy="5257800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/>
              <a:t>Click to edit Master text styles</a:t>
            </a:r>
          </a:p>
          <a:p>
            <a:pPr lvl="1" eaLnBrk="1" latinLnBrk="0" hangingPunct="1"/>
            <a:r>
              <a:rPr kumimoji="0" lang="en-US"/>
              <a:t>Second level</a:t>
            </a:r>
          </a:p>
          <a:p>
            <a:pPr lvl="2" eaLnBrk="1" latinLnBrk="0" hangingPunct="1"/>
            <a:r>
              <a:rPr kumimoji="0" lang="en-US"/>
              <a:t>Third level</a:t>
            </a:r>
          </a:p>
          <a:p>
            <a:pPr lvl="3" eaLnBrk="1" latinLnBrk="0" hangingPunct="1"/>
            <a:r>
              <a:rPr kumimoji="0" lang="en-US"/>
              <a:t>Fourth level</a:t>
            </a:r>
          </a:p>
          <a:p>
            <a:pPr lvl="4" eaLnBrk="1" latinLnBrk="0" hangingPunct="1"/>
            <a:r>
              <a:rPr kumimoji="0" lang="en-US"/>
              <a:t>Fifth level</a:t>
            </a:r>
            <a:endParaRPr kumimoji="0" lang="en-US" dirty="0"/>
          </a:p>
        </p:txBody>
      </p:sp>
      <p:sp>
        <p:nvSpPr>
          <p:cNvPr id="28" name="Straight Connector 27"/>
          <p:cNvSpPr>
            <a:spLocks noChangeShapeType="1"/>
          </p:cNvSpPr>
          <p:nvPr/>
        </p:nvSpPr>
        <p:spPr bwMode="auto">
          <a:xfrm>
            <a:off x="609600" y="6353174"/>
            <a:ext cx="8803340" cy="12636"/>
          </a:xfrm>
          <a:prstGeom prst="line">
            <a:avLst/>
          </a:prstGeom>
          <a:noFill/>
          <a:ln w="12700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sz="1800"/>
          </a:p>
        </p:txBody>
      </p:sp>
      <p:sp>
        <p:nvSpPr>
          <p:cNvPr id="29" name="Straight Connector 28"/>
          <p:cNvSpPr>
            <a:spLocks noChangeShapeType="1"/>
          </p:cNvSpPr>
          <p:nvPr/>
        </p:nvSpPr>
        <p:spPr bwMode="auto">
          <a:xfrm>
            <a:off x="0" y="838200"/>
            <a:ext cx="12192000" cy="0"/>
          </a:xfrm>
          <a:prstGeom prst="line">
            <a:avLst/>
          </a:prstGeom>
          <a:noFill/>
          <a:ln w="63500" cap="flat" cmpd="sng" algn="ctr">
            <a:gradFill flip="none" rotWithShape="1">
              <a:gsLst>
                <a:gs pos="0">
                  <a:srgbClr val="0808C0"/>
                </a:gs>
                <a:gs pos="50000">
                  <a:schemeClr val="accent1">
                    <a:tint val="44500"/>
                    <a:satMod val="160000"/>
                  </a:schemeClr>
                </a:gs>
                <a:gs pos="100000">
                  <a:schemeClr val="accent1">
                    <a:tint val="23500"/>
                    <a:satMod val="160000"/>
                  </a:schemeClr>
                </a:gs>
              </a:gsLst>
              <a:lin ang="0" scaled="1"/>
              <a:tileRect/>
            </a:gra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sz="1800"/>
          </a:p>
        </p:txBody>
      </p:sp>
      <p:sp>
        <p:nvSpPr>
          <p:cNvPr id="10" name="Isosceles Triangle 9"/>
          <p:cNvSpPr>
            <a:spLocks noChangeAspect="1"/>
          </p:cNvSpPr>
          <p:nvPr/>
        </p:nvSpPr>
        <p:spPr>
          <a:xfrm rot="5400000">
            <a:off x="590609" y="6447423"/>
            <a:ext cx="190849" cy="160419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11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16864" y="6356350"/>
            <a:ext cx="1723136" cy="365760"/>
          </a:xfrm>
          <a:prstGeom prst="rect">
            <a:avLst/>
          </a:prstGeom>
        </p:spPr>
        <p:txBody>
          <a:bodyPr/>
          <a:lstStyle>
            <a:lvl1pPr>
              <a:defRPr sz="2000">
                <a:latin typeface="Candara" panose="020E0502030303020204" pitchFamily="34" charset="0"/>
              </a:defRPr>
            </a:lvl1pPr>
          </a:lstStyle>
          <a:p>
            <a:fld id="{AAE9D7F5-2D48-9647-949A-F5F108C3F42F}" type="slidenum">
              <a:rPr lang="en-US" smtClean="0"/>
              <a:t>‹#›</a:t>
            </a:fld>
            <a:endParaRPr lang="en-US"/>
          </a:p>
        </p:txBody>
      </p:sp>
      <p:pic>
        <p:nvPicPr>
          <p:cNvPr id="3" name="Picture 2" descr="A picture containing object, clock, screen, room&#10;&#10;Description automatically generated">
            <a:extLst>
              <a:ext uri="{FF2B5EF4-FFF2-40B4-BE49-F238E27FC236}">
                <a16:creationId xmlns:a16="http://schemas.microsoft.com/office/drawing/2014/main" id="{08BFDCC2-5E3C-F64F-A838-CACDA0738A6A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9412940" y="5888912"/>
            <a:ext cx="2911579" cy="916939"/>
          </a:xfrm>
          <a:prstGeom prst="rect">
            <a:avLst/>
          </a:prstGeom>
        </p:spPr>
      </p:pic>
      <p:sp>
        <p:nvSpPr>
          <p:cNvPr id="21" name="Date Placeholder 27">
            <a:extLst>
              <a:ext uri="{FF2B5EF4-FFF2-40B4-BE49-F238E27FC236}">
                <a16:creationId xmlns:a16="http://schemas.microsoft.com/office/drawing/2014/main" id="{301C601F-B298-1347-BC11-1F805E41861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820050" y="6365810"/>
            <a:ext cx="2551899" cy="365760"/>
          </a:xfrm>
          <a:prstGeom prst="rect">
            <a:avLst/>
          </a:prstGeom>
        </p:spPr>
        <p:txBody>
          <a:bodyPr/>
          <a:lstStyle>
            <a:lvl1pPr algn="ctr">
              <a:defRPr sz="1800"/>
            </a:lvl1pPr>
          </a:lstStyle>
          <a:p>
            <a:fld id="{9C6D7FAD-5A05-5E4D-B8E9-53FB00C64228}" type="datetimeFigureOut">
              <a:rPr lang="en-US" smtClean="0"/>
              <a:t>3/19/2025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81501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rtl="0" eaLnBrk="1" latinLnBrk="0" hangingPunct="1">
        <a:spcBef>
          <a:spcPct val="0"/>
        </a:spcBef>
        <a:buNone/>
        <a:defRPr kumimoji="0" sz="4400" b="1" kern="1200">
          <a:solidFill>
            <a:srgbClr val="000066"/>
          </a:solidFill>
          <a:effectLst>
            <a:outerShdw blurRad="38100" dist="38100" dir="2700000" algn="tl">
              <a:srgbClr val="000000">
                <a:alpha val="43137"/>
              </a:srgbClr>
            </a:outerShdw>
          </a:effectLst>
          <a:latin typeface="Candara" pitchFamily="34" charset="0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ts val="600"/>
        </a:spcBef>
        <a:buClr>
          <a:schemeClr val="accent1"/>
        </a:buClr>
        <a:buSzPct val="76000"/>
        <a:buFont typeface="Wingdings 3"/>
        <a:buChar char=""/>
        <a:defRPr kumimoji="0" sz="2800" kern="1200">
          <a:solidFill>
            <a:schemeClr val="tx1"/>
          </a:solidFill>
          <a:latin typeface="Candara" pitchFamily="34" charset="0"/>
          <a:ea typeface="+mn-ea"/>
          <a:cs typeface="+mn-cs"/>
        </a:defRPr>
      </a:lvl1pPr>
      <a:lvl2pPr marL="548640" indent="-274320" algn="l" rtl="0" eaLnBrk="1" latinLnBrk="0" hangingPunct="1">
        <a:spcBef>
          <a:spcPts val="500"/>
        </a:spcBef>
        <a:buClr>
          <a:schemeClr val="accent2"/>
        </a:buClr>
        <a:buSzPct val="76000"/>
        <a:buFont typeface="Wingdings 3"/>
        <a:buChar char=""/>
        <a:defRPr kumimoji="0" sz="2400" kern="1200">
          <a:solidFill>
            <a:srgbClr val="002060"/>
          </a:solidFill>
          <a:latin typeface="Candara" pitchFamily="34" charset="0"/>
          <a:ea typeface="+mn-ea"/>
          <a:cs typeface="+mn-cs"/>
        </a:defRPr>
      </a:lvl2pPr>
      <a:lvl3pPr marL="822960" indent="-228600" algn="l" rtl="0" eaLnBrk="1" latinLnBrk="0" hangingPunct="1">
        <a:spcBef>
          <a:spcPts val="500"/>
        </a:spcBef>
        <a:buClr>
          <a:schemeClr val="bg1">
            <a:shade val="50000"/>
          </a:schemeClr>
        </a:buClr>
        <a:buSzPct val="76000"/>
        <a:buFont typeface="Wingdings 3"/>
        <a:buChar char=""/>
        <a:defRPr kumimoji="0" sz="2400" kern="1200">
          <a:solidFill>
            <a:srgbClr val="006600"/>
          </a:solidFill>
          <a:latin typeface="Candara" pitchFamily="34" charset="0"/>
          <a:ea typeface="+mn-ea"/>
          <a:cs typeface="+mn-cs"/>
        </a:defRPr>
      </a:lvl3pPr>
      <a:lvl4pPr marL="1097280" indent="-228600" algn="l" rtl="0" eaLnBrk="1" latinLnBrk="0" hangingPunct="1">
        <a:spcBef>
          <a:spcPts val="400"/>
        </a:spcBef>
        <a:buClr>
          <a:schemeClr val="accent2">
            <a:shade val="75000"/>
          </a:schemeClr>
        </a:buClr>
        <a:buSzPct val="70000"/>
        <a:buFont typeface="Wingdings"/>
        <a:buChar char=""/>
        <a:defRPr kumimoji="0" sz="2000" kern="1200">
          <a:solidFill>
            <a:schemeClr val="tx1"/>
          </a:solidFill>
          <a:latin typeface="Candara" pitchFamily="34" charset="0"/>
          <a:ea typeface="+mn-ea"/>
          <a:cs typeface="+mn-cs"/>
        </a:defRPr>
      </a:lvl4pPr>
      <a:lvl5pPr marL="1371600" indent="-228600" algn="l" rtl="0" eaLnBrk="1" latinLnBrk="0" hangingPunct="1">
        <a:spcBef>
          <a:spcPts val="300"/>
        </a:spcBef>
        <a:buClr>
          <a:schemeClr val="accent2"/>
        </a:buClr>
        <a:buSzPct val="70000"/>
        <a:buFont typeface="Wingdings"/>
        <a:buChar char=""/>
        <a:defRPr kumimoji="0" sz="1800" kern="1200">
          <a:solidFill>
            <a:schemeClr val="tx1"/>
          </a:solidFill>
          <a:latin typeface="Candara" pitchFamily="34" charset="0"/>
          <a:ea typeface="+mn-ea"/>
          <a:cs typeface="+mn-cs"/>
        </a:defRPr>
      </a:lvl5pPr>
      <a:lvl6pPr marL="1645920" indent="-182880" algn="l" rtl="0" eaLnBrk="1" latinLnBrk="0" hangingPunct="1">
        <a:spcBef>
          <a:spcPts val="300"/>
        </a:spcBef>
        <a:buClr>
          <a:srgbClr val="9FB8CD">
            <a:shade val="75000"/>
          </a:srgbClr>
        </a:buClr>
        <a:buSzPct val="75000"/>
        <a:buFont typeface="Wingdings 3"/>
        <a:buChar char=""/>
        <a:defRPr kumimoji="0" lang="en-US" sz="1600" kern="1200" smtClean="0">
          <a:solidFill>
            <a:schemeClr val="tx1"/>
          </a:solidFill>
          <a:latin typeface="+mn-lt"/>
          <a:ea typeface="+mn-ea"/>
          <a:cs typeface="+mn-cs"/>
        </a:defRPr>
      </a:lvl6pPr>
      <a:lvl7pPr marL="1828800" indent="-182880" algn="l" rtl="0" eaLnBrk="1" latinLnBrk="0" hangingPunct="1">
        <a:spcBef>
          <a:spcPts val="300"/>
        </a:spcBef>
        <a:buClr>
          <a:srgbClr val="727CA3">
            <a:shade val="75000"/>
          </a:srgbClr>
        </a:buClr>
        <a:buSzPct val="75000"/>
        <a:buFont typeface="Wingdings 3"/>
        <a:buChar char=""/>
        <a:defRPr kumimoji="0" lang="en-US" sz="1400" kern="1200" smtClean="0">
          <a:solidFill>
            <a:schemeClr val="tx1"/>
          </a:solidFill>
          <a:latin typeface="+mn-lt"/>
          <a:ea typeface="+mn-ea"/>
          <a:cs typeface="+mn-cs"/>
        </a:defRPr>
      </a:lvl7pPr>
      <a:lvl8pPr marL="2011680" indent="-182880" algn="l" rtl="0" eaLnBrk="1" latinLnBrk="0" hangingPunct="1">
        <a:spcBef>
          <a:spcPts val="300"/>
        </a:spcBef>
        <a:buClr>
          <a:prstClr val="white">
            <a:shade val="50000"/>
          </a:prstClr>
        </a:buClr>
        <a:buSzPct val="75000"/>
        <a:buFont typeface="Wingdings 3"/>
        <a:buChar char=""/>
        <a:defRPr kumimoji="0" lang="en-US" sz="1400" kern="1200" smtClean="0">
          <a:solidFill>
            <a:schemeClr val="tx1"/>
          </a:solidFill>
          <a:latin typeface="+mn-lt"/>
          <a:ea typeface="+mn-ea"/>
          <a:cs typeface="+mn-cs"/>
        </a:defRPr>
      </a:lvl8pPr>
      <a:lvl9pPr marL="2194560" indent="-182880" algn="l" rtl="0" eaLnBrk="1" latinLnBrk="0" hangingPunct="1">
        <a:spcBef>
          <a:spcPts val="300"/>
        </a:spcBef>
        <a:buClr>
          <a:srgbClr val="9FB8CD"/>
        </a:buClr>
        <a:buSzPct val="75000"/>
        <a:buFont typeface="Wingdings 3"/>
        <a:buChar char=""/>
        <a:defRPr kumimoji="0" lang="en-US" sz="1200" kern="1200" smtClean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9.png"/><Relationship Id="rId3" Type="http://schemas.openxmlformats.org/officeDocument/2006/relationships/image" Target="../media/image164.png"/><Relationship Id="rId7" Type="http://schemas.openxmlformats.org/officeDocument/2006/relationships/image" Target="../media/image168.png"/><Relationship Id="rId2" Type="http://schemas.openxmlformats.org/officeDocument/2006/relationships/image" Target="../media/image16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7.png"/><Relationship Id="rId5" Type="http://schemas.openxmlformats.org/officeDocument/2006/relationships/image" Target="../media/image166.png"/><Relationship Id="rId4" Type="http://schemas.openxmlformats.org/officeDocument/2006/relationships/image" Target="../media/image165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4.png"/><Relationship Id="rId7" Type="http://schemas.openxmlformats.org/officeDocument/2006/relationships/image" Target="../media/image7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6.png"/><Relationship Id="rId5" Type="http://schemas.openxmlformats.org/officeDocument/2006/relationships/image" Target="../media/image6.png"/><Relationship Id="rId4" Type="http://schemas.openxmlformats.org/officeDocument/2006/relationships/image" Target="../media/image5.png"/><Relationship Id="rId9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10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60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3" Type="http://schemas.openxmlformats.org/officeDocument/2006/relationships/image" Target="../media/image20.png"/><Relationship Id="rId7" Type="http://schemas.openxmlformats.org/officeDocument/2006/relationships/image" Target="../media/image24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png"/><Relationship Id="rId3" Type="http://schemas.openxmlformats.org/officeDocument/2006/relationships/image" Target="../media/image27.png"/><Relationship Id="rId7" Type="http://schemas.openxmlformats.org/officeDocument/2006/relationships/image" Target="../media/image31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0.png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.png"/><Relationship Id="rId13" Type="http://schemas.openxmlformats.org/officeDocument/2006/relationships/image" Target="../media/image42.png"/><Relationship Id="rId18" Type="http://schemas.openxmlformats.org/officeDocument/2006/relationships/image" Target="../media/image47.png"/><Relationship Id="rId26" Type="http://schemas.openxmlformats.org/officeDocument/2006/relationships/image" Target="../media/image55.png"/><Relationship Id="rId21" Type="http://schemas.openxmlformats.org/officeDocument/2006/relationships/image" Target="../media/image50.png"/><Relationship Id="rId7" Type="http://schemas.openxmlformats.org/officeDocument/2006/relationships/image" Target="../media/image36.png"/><Relationship Id="rId12" Type="http://schemas.openxmlformats.org/officeDocument/2006/relationships/image" Target="../media/image41.png"/><Relationship Id="rId17" Type="http://schemas.openxmlformats.org/officeDocument/2006/relationships/image" Target="../media/image46.png"/><Relationship Id="rId25" Type="http://schemas.openxmlformats.org/officeDocument/2006/relationships/image" Target="../media/image54.png"/><Relationship Id="rId16" Type="http://schemas.openxmlformats.org/officeDocument/2006/relationships/image" Target="../media/image45.png"/><Relationship Id="rId20" Type="http://schemas.openxmlformats.org/officeDocument/2006/relationships/image" Target="../media/image49.png"/><Relationship Id="rId29" Type="http://schemas.openxmlformats.org/officeDocument/2006/relationships/image" Target="../media/image5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5.png"/><Relationship Id="rId11" Type="http://schemas.openxmlformats.org/officeDocument/2006/relationships/image" Target="../media/image40.png"/><Relationship Id="rId24" Type="http://schemas.openxmlformats.org/officeDocument/2006/relationships/image" Target="../media/image53.png"/><Relationship Id="rId5" Type="http://schemas.openxmlformats.org/officeDocument/2006/relationships/image" Target="../media/image510.png"/><Relationship Id="rId15" Type="http://schemas.openxmlformats.org/officeDocument/2006/relationships/image" Target="../media/image44.png"/><Relationship Id="rId23" Type="http://schemas.openxmlformats.org/officeDocument/2006/relationships/image" Target="../media/image52.png"/><Relationship Id="rId28" Type="http://schemas.openxmlformats.org/officeDocument/2006/relationships/image" Target="../media/image57.png"/><Relationship Id="rId10" Type="http://schemas.openxmlformats.org/officeDocument/2006/relationships/image" Target="../media/image39.png"/><Relationship Id="rId19" Type="http://schemas.openxmlformats.org/officeDocument/2006/relationships/image" Target="../media/image48.png"/><Relationship Id="rId4" Type="http://schemas.openxmlformats.org/officeDocument/2006/relationships/image" Target="../media/image410.png"/><Relationship Id="rId9" Type="http://schemas.openxmlformats.org/officeDocument/2006/relationships/image" Target="../media/image38.png"/><Relationship Id="rId14" Type="http://schemas.openxmlformats.org/officeDocument/2006/relationships/image" Target="../media/image43.png"/><Relationship Id="rId22" Type="http://schemas.openxmlformats.org/officeDocument/2006/relationships/image" Target="../media/image51.png"/><Relationship Id="rId27" Type="http://schemas.openxmlformats.org/officeDocument/2006/relationships/image" Target="../media/image5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3.png"/><Relationship Id="rId5" Type="http://schemas.openxmlformats.org/officeDocument/2006/relationships/image" Target="../media/image62.png"/><Relationship Id="rId4" Type="http://schemas.openxmlformats.org/officeDocument/2006/relationships/image" Target="../media/image6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svg"/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8.png"/><Relationship Id="rId5" Type="http://schemas.openxmlformats.org/officeDocument/2006/relationships/image" Target="../media/image67.svg"/><Relationship Id="rId4" Type="http://schemas.openxmlformats.org/officeDocument/2006/relationships/image" Target="../media/image66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png"/><Relationship Id="rId7" Type="http://schemas.openxmlformats.org/officeDocument/2006/relationships/image" Target="../media/image74.png"/><Relationship Id="rId2" Type="http://schemas.openxmlformats.org/officeDocument/2006/relationships/image" Target="../media/image6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3.png"/><Relationship Id="rId5" Type="http://schemas.openxmlformats.org/officeDocument/2006/relationships/image" Target="../media/image72.png"/><Relationship Id="rId4" Type="http://schemas.openxmlformats.org/officeDocument/2006/relationships/image" Target="../media/image7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6.png"/><Relationship Id="rId7" Type="http://schemas.openxmlformats.org/officeDocument/2006/relationships/image" Target="../media/image80.png"/><Relationship Id="rId2" Type="http://schemas.openxmlformats.org/officeDocument/2006/relationships/image" Target="../media/image7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9.png"/><Relationship Id="rId5" Type="http://schemas.openxmlformats.org/officeDocument/2006/relationships/image" Target="../media/image78.png"/><Relationship Id="rId4" Type="http://schemas.openxmlformats.org/officeDocument/2006/relationships/image" Target="../media/image77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87.svg"/><Relationship Id="rId3" Type="http://schemas.openxmlformats.org/officeDocument/2006/relationships/image" Target="../media/image82.png"/><Relationship Id="rId7" Type="http://schemas.openxmlformats.org/officeDocument/2006/relationships/image" Target="../media/image86.png"/><Relationship Id="rId2" Type="http://schemas.openxmlformats.org/officeDocument/2006/relationships/image" Target="../media/image8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5.png"/><Relationship Id="rId5" Type="http://schemas.openxmlformats.org/officeDocument/2006/relationships/image" Target="../media/image84.png"/><Relationship Id="rId4" Type="http://schemas.openxmlformats.org/officeDocument/2006/relationships/image" Target="../media/image83.png"/><Relationship Id="rId9" Type="http://schemas.openxmlformats.org/officeDocument/2006/relationships/image" Target="../media/image88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93.png"/><Relationship Id="rId3" Type="http://schemas.openxmlformats.org/officeDocument/2006/relationships/image" Target="../media/image90.png"/><Relationship Id="rId7" Type="http://schemas.openxmlformats.org/officeDocument/2006/relationships/image" Target="../media/image87.svg"/><Relationship Id="rId2" Type="http://schemas.openxmlformats.org/officeDocument/2006/relationships/image" Target="../media/image8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6.png"/><Relationship Id="rId11" Type="http://schemas.openxmlformats.org/officeDocument/2006/relationships/image" Target="../media/image96.png"/><Relationship Id="rId5" Type="http://schemas.openxmlformats.org/officeDocument/2006/relationships/image" Target="../media/image92.png"/><Relationship Id="rId10" Type="http://schemas.openxmlformats.org/officeDocument/2006/relationships/image" Target="../media/image95.png"/><Relationship Id="rId4" Type="http://schemas.openxmlformats.org/officeDocument/2006/relationships/image" Target="../media/image91.png"/><Relationship Id="rId9" Type="http://schemas.openxmlformats.org/officeDocument/2006/relationships/image" Target="../media/image94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3.png"/><Relationship Id="rId13" Type="http://schemas.openxmlformats.org/officeDocument/2006/relationships/image" Target="../media/image108.png"/><Relationship Id="rId3" Type="http://schemas.openxmlformats.org/officeDocument/2006/relationships/image" Target="../media/image98.png"/><Relationship Id="rId7" Type="http://schemas.openxmlformats.org/officeDocument/2006/relationships/image" Target="../media/image102.png"/><Relationship Id="rId12" Type="http://schemas.openxmlformats.org/officeDocument/2006/relationships/image" Target="../media/image107.png"/><Relationship Id="rId2" Type="http://schemas.openxmlformats.org/officeDocument/2006/relationships/image" Target="../media/image9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1.png"/><Relationship Id="rId11" Type="http://schemas.openxmlformats.org/officeDocument/2006/relationships/image" Target="../media/image106.png"/><Relationship Id="rId5" Type="http://schemas.openxmlformats.org/officeDocument/2006/relationships/image" Target="../media/image100.png"/><Relationship Id="rId10" Type="http://schemas.openxmlformats.org/officeDocument/2006/relationships/image" Target="../media/image105.png"/><Relationship Id="rId4" Type="http://schemas.openxmlformats.org/officeDocument/2006/relationships/image" Target="../media/image99.png"/><Relationship Id="rId9" Type="http://schemas.openxmlformats.org/officeDocument/2006/relationships/image" Target="../media/image104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5.png"/><Relationship Id="rId3" Type="http://schemas.openxmlformats.org/officeDocument/2006/relationships/image" Target="../media/image110.png"/><Relationship Id="rId7" Type="http://schemas.openxmlformats.org/officeDocument/2006/relationships/image" Target="../media/image114.png"/><Relationship Id="rId2" Type="http://schemas.openxmlformats.org/officeDocument/2006/relationships/image" Target="../media/image10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3.png"/><Relationship Id="rId5" Type="http://schemas.openxmlformats.org/officeDocument/2006/relationships/image" Target="../media/image112.png"/><Relationship Id="rId4" Type="http://schemas.openxmlformats.org/officeDocument/2006/relationships/image" Target="../media/image111.png"/><Relationship Id="rId9" Type="http://schemas.openxmlformats.org/officeDocument/2006/relationships/image" Target="../media/image116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C30C70-F63B-C5AA-E9B0-D6514742438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Quantum Gates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852C192-287B-DA7C-CFD2-6C3C6ACB12C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Aviral Shrivastava</a:t>
            </a:r>
          </a:p>
        </p:txBody>
      </p:sp>
    </p:spTree>
    <p:extLst>
      <p:ext uri="{BB962C8B-B14F-4D97-AF65-F5344CB8AC3E}">
        <p14:creationId xmlns:p14="http://schemas.microsoft.com/office/powerpoint/2010/main" val="116237283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06940C-744D-1B97-34C3-9478B11283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Quantum Gates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10933C9-6F7C-7ECF-F9FA-A8DDA738EAC0}"/>
                  </a:ext>
                </a:extLst>
              </p:cNvPr>
              <p:cNvSpPr>
                <a:spLocks noGrp="1"/>
              </p:cNvSpPr>
              <p:nvPr>
                <p:ph sz="quarter" idx="1"/>
              </p:nvPr>
            </p:nvSpPr>
            <p:spPr>
              <a:xfrm>
                <a:off x="157507" y="1004836"/>
                <a:ext cx="5801166" cy="5305529"/>
              </a:xfrm>
            </p:spPr>
            <p:txBody>
              <a:bodyPr>
                <a:normAutofit fontScale="55000" lnSpcReduction="20000"/>
              </a:bodyPr>
              <a:lstStyle/>
              <a:p>
                <a:r>
                  <a:rPr lang="en-US" dirty="0"/>
                  <a:t>A quantum gate takes a qubit in some state and transforms its state into a new state.</a:t>
                </a:r>
              </a:p>
              <a:p>
                <a:pPr lvl="1"/>
                <a:r>
                  <a:rPr lang="en-US" dirty="0"/>
                  <a:t>State is represented as a vector or a </a:t>
                </a:r>
                <a:r>
                  <a:rPr lang="en-US" dirty="0" err="1"/>
                  <a:t>ket</a:t>
                </a:r>
                <a:r>
                  <a:rPr lang="en-US" dirty="0"/>
                  <a:t>.</a:t>
                </a:r>
              </a:p>
              <a:p>
                <a:pPr lvl="1"/>
                <a:r>
                  <a:rPr lang="en-US" dirty="0"/>
                  <a:t>Transformation is a Unitary matrix.</a:t>
                </a:r>
              </a:p>
              <a:p>
                <a:r>
                  <a:rPr lang="en-US" b="0" dirty="0"/>
                  <a:t>Not Gate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lang="en-US" dirty="0"/>
                  <a:t> 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𝑋</m:t>
                    </m:r>
                    <m:d>
                      <m:dPr>
                        <m:begChr m:val="|"/>
                        <m:endChr m:val="⟩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</m:m>
                      </m:e>
                    </m:d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</m:m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</m:m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=|1⟩</m:t>
                    </m:r>
                  </m:oMath>
                </a14:m>
                <a:endParaRPr lang="en-US" dirty="0"/>
              </a:p>
              <a:p>
                <a:pPr lvl="1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𝑋</m:t>
                    </m:r>
                    <m:d>
                      <m:dPr>
                        <m:begChr m:val="|"/>
                        <m:endChr m:val="⟩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</m:m>
                      </m:e>
                    </m:d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</m:m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</m:m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=|0⟩</m:t>
                    </m:r>
                  </m:oMath>
                </a14:m>
                <a:endParaRPr lang="en-US" b="1" dirty="0"/>
              </a:p>
              <a:p>
                <a:pPr lvl="1"/>
                <a:r>
                  <a:rPr lang="en-US" b="0" dirty="0"/>
                  <a:t>For any general state,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⟩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𝜓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𝛼</m:t>
                              </m:r>
                            </m:e>
                          </m:mr>
                          <m:m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𝛽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lang="en-US" dirty="0"/>
                  <a:t>,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𝑋</m:t>
                    </m:r>
                    <m:d>
                      <m:dPr>
                        <m:begChr m:val="|"/>
                        <m:endChr m:val="⟩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𝜓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</m:m>
                      </m:e>
                    </m:d>
                    <m:d>
                      <m:dPr>
                        <m:begChr m:val="["/>
                        <m:endChr m:val="]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𝛼</m:t>
                              </m:r>
                            </m:e>
                          </m:mr>
                          <m:m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𝛽</m:t>
                              </m:r>
                            </m:e>
                          </m:mr>
                        </m:m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𝛽</m:t>
                              </m:r>
                            </m:e>
                          </m:mr>
                          <m:m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𝛼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lang="en-US" dirty="0"/>
              </a:p>
              <a:p>
                <a:r>
                  <a:rPr lang="en-US" dirty="0"/>
                  <a:t>Is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n-US" dirty="0"/>
                  <a:t> a Unitary transformation?</a:t>
                </a:r>
              </a:p>
              <a:p>
                <a:endParaRPr lang="en-US" dirty="0"/>
              </a:p>
              <a:p>
                <a:r>
                  <a:rPr lang="en-US" dirty="0"/>
                  <a:t>Phase flip gate -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𝑍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lang="en-US" dirty="0"/>
              </a:p>
              <a:p>
                <a:pPr lvl="1"/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Z</m:t>
                    </m:r>
                    <m:d>
                      <m:dPr>
                        <m:begChr m:val="|"/>
                        <m:endChr m:val="⟩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e>
                          </m:mr>
                        </m:m>
                      </m:e>
                    </m:d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</m:m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</m:m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=|0⟩</m:t>
                    </m:r>
                  </m:oMath>
                </a14:m>
                <a:endParaRPr lang="en-US" dirty="0"/>
              </a:p>
              <a:p>
                <a:pPr lvl="1"/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Z</m:t>
                    </m:r>
                    <m:d>
                      <m:dPr>
                        <m:begChr m:val="|"/>
                        <m:endChr m:val="⟩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e>
                          </m:mr>
                        </m:m>
                      </m:e>
                    </m:d>
                    <m:d>
                      <m:dPr>
                        <m:begChr m:val="["/>
                        <m:endChr m:val="]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</m:m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e>
                          </m:mr>
                        </m:m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=−1.</m:t>
                    </m:r>
                    <m:d>
                      <m:dPr>
                        <m:begChr m:val="["/>
                        <m:endChr m:val="]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</m:m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=−|1⟩</m:t>
                    </m:r>
                  </m:oMath>
                </a14:m>
                <a:endParaRPr lang="en-US" b="1" dirty="0"/>
              </a:p>
              <a:p>
                <a:pPr lvl="1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𝑍</m:t>
                    </m:r>
                    <m:d>
                      <m:dPr>
                        <m:begChr m:val="|"/>
                        <m:endChr m:val="⟩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𝜓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e>
                          </m:mr>
                        </m:m>
                      </m:e>
                    </m:d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𝛼</m:t>
                              </m:r>
                            </m:e>
                          </m:mr>
                          <m:m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𝛽</m:t>
                              </m:r>
                            </m:e>
                          </m:mr>
                        </m:m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𝛼</m:t>
                              </m:r>
                            </m:e>
                          </m:mr>
                          <m:m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𝛽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lang="en-US" dirty="0"/>
                  <a:t>, where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⟩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𝜓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𝛼</m:t>
                              </m:r>
                            </m:e>
                          </m:mr>
                          <m:m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𝛽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lang="en-US" dirty="0"/>
                  <a:t>.</a:t>
                </a:r>
              </a:p>
              <a:p>
                <a:pPr lvl="1"/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Z</m:t>
                    </m:r>
                    <m:d>
                      <m:dPr>
                        <m:begChr m:val="|"/>
                        <m:endChr m:val="⟩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e>
                          </m:mr>
                        </m:m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.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den>
                    </m:f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</m:m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den>
                    </m:f>
                    <m:d>
                      <m:dPr>
                        <m:begChr m:val="["/>
                        <m:endChr m:val="]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e>
                          </m:mr>
                        </m:m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=|−⟩</m:t>
                    </m:r>
                  </m:oMath>
                </a14:m>
                <a:endParaRPr lang="en-US" dirty="0"/>
              </a:p>
              <a:p>
                <a:pPr lvl="1"/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Z</m:t>
                    </m:r>
                    <m:d>
                      <m:dPr>
                        <m:begChr m:val="|"/>
                        <m:endChr m:val="⟩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e>
                          </m:mr>
                        </m:m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.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den>
                    </m:f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e>
                          </m:mr>
                        </m:m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den>
                    </m:f>
                    <m:d>
                      <m:dPr>
                        <m:begChr m:val="["/>
                        <m:endChr m:val="]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</m:m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=|+⟩</m:t>
                    </m:r>
                  </m:oMath>
                </a14:m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10933C9-6F7C-7ECF-F9FA-A8DDA738EAC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xfrm>
                <a:off x="157507" y="1004836"/>
                <a:ext cx="5801166" cy="5305529"/>
              </a:xfrm>
              <a:blipFill>
                <a:blip r:embed="rId2"/>
                <a:stretch>
                  <a:fillRect t="-92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3" name="Group 12">
            <a:extLst>
              <a:ext uri="{FF2B5EF4-FFF2-40B4-BE49-F238E27FC236}">
                <a16:creationId xmlns:a16="http://schemas.microsoft.com/office/drawing/2014/main" id="{99B15938-0176-0A82-BB67-1E868745F813}"/>
              </a:ext>
            </a:extLst>
          </p:cNvPr>
          <p:cNvGrpSpPr/>
          <p:nvPr/>
        </p:nvGrpSpPr>
        <p:grpSpPr>
          <a:xfrm>
            <a:off x="8643174" y="1100072"/>
            <a:ext cx="3165231" cy="847201"/>
            <a:chOff x="8902839" y="1108550"/>
            <a:chExt cx="3165231" cy="847201"/>
          </a:xfrm>
        </p:grpSpPr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7CCB5C57-BEB5-13EE-8A12-CE0955F69723}"/>
                </a:ext>
              </a:extLst>
            </p:cNvPr>
            <p:cNvSpPr/>
            <p:nvPr/>
          </p:nvSpPr>
          <p:spPr>
            <a:xfrm>
              <a:off x="10078496" y="1139141"/>
              <a:ext cx="803868" cy="816610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U</a:t>
              </a:r>
            </a:p>
          </p:txBody>
        </p:sp>
        <p:cxnSp>
          <p:nvCxnSpPr>
            <p:cNvPr id="6" name="Straight Arrow Connector 5">
              <a:extLst>
                <a:ext uri="{FF2B5EF4-FFF2-40B4-BE49-F238E27FC236}">
                  <a16:creationId xmlns:a16="http://schemas.microsoft.com/office/drawing/2014/main" id="{80F05A1B-5E32-BA5E-B4F5-66F0E510A28D}"/>
                </a:ext>
              </a:extLst>
            </p:cNvPr>
            <p:cNvCxnSpPr>
              <a:cxnSpLocks/>
              <a:endCxn id="4" idx="1"/>
            </p:cNvCxnSpPr>
            <p:nvPr/>
          </p:nvCxnSpPr>
          <p:spPr>
            <a:xfrm>
              <a:off x="8902839" y="1547446"/>
              <a:ext cx="1175657" cy="0"/>
            </a:xfrm>
            <a:prstGeom prst="straightConnector1">
              <a:avLst/>
            </a:prstGeom>
            <a:ln>
              <a:solidFill>
                <a:srgbClr val="00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Arrow Connector 7">
              <a:extLst>
                <a:ext uri="{FF2B5EF4-FFF2-40B4-BE49-F238E27FC236}">
                  <a16:creationId xmlns:a16="http://schemas.microsoft.com/office/drawing/2014/main" id="{B9DCB13F-5F43-CE39-B9CE-18B931ED1A83}"/>
                </a:ext>
              </a:extLst>
            </p:cNvPr>
            <p:cNvCxnSpPr>
              <a:cxnSpLocks/>
              <a:stCxn id="4" idx="3"/>
            </p:cNvCxnSpPr>
            <p:nvPr/>
          </p:nvCxnSpPr>
          <p:spPr>
            <a:xfrm>
              <a:off x="10882364" y="1547446"/>
              <a:ext cx="1185706" cy="0"/>
            </a:xfrm>
            <a:prstGeom prst="straightConnector1">
              <a:avLst/>
            </a:prstGeom>
            <a:ln>
              <a:solidFill>
                <a:srgbClr val="00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" name="TextBox 10">
                  <a:extLst>
                    <a:ext uri="{FF2B5EF4-FFF2-40B4-BE49-F238E27FC236}">
                      <a16:creationId xmlns:a16="http://schemas.microsoft.com/office/drawing/2014/main" id="{C4E62544-175D-5EC7-124E-EBCEE221FA07}"/>
                    </a:ext>
                  </a:extLst>
                </p:cNvPr>
                <p:cNvSpPr txBox="1"/>
                <p:nvPr/>
              </p:nvSpPr>
              <p:spPr>
                <a:xfrm>
                  <a:off x="9103806" y="1139141"/>
                  <a:ext cx="542611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𝜓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⟩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1" name="TextBox 10">
                  <a:extLst>
                    <a:ext uri="{FF2B5EF4-FFF2-40B4-BE49-F238E27FC236}">
                      <a16:creationId xmlns:a16="http://schemas.microsoft.com/office/drawing/2014/main" id="{C4E62544-175D-5EC7-124E-EBCEE221FA0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103806" y="1139141"/>
                  <a:ext cx="542611" cy="369332"/>
                </a:xfrm>
                <a:prstGeom prst="rect">
                  <a:avLst/>
                </a:prstGeom>
                <a:blipFill>
                  <a:blip r:embed="rId3"/>
                  <a:stretch>
                    <a:fillRect b="-14754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" name="TextBox 11">
                  <a:extLst>
                    <a:ext uri="{FF2B5EF4-FFF2-40B4-BE49-F238E27FC236}">
                      <a16:creationId xmlns:a16="http://schemas.microsoft.com/office/drawing/2014/main" id="{F482685B-83ED-5D9B-6CF1-794EAFDD07D2}"/>
                    </a:ext>
                  </a:extLst>
                </p:cNvPr>
                <p:cNvSpPr txBox="1"/>
                <p:nvPr/>
              </p:nvSpPr>
              <p:spPr>
                <a:xfrm>
                  <a:off x="11314443" y="1108550"/>
                  <a:ext cx="542611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𝑈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𝜓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⟩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2" name="TextBox 11">
                  <a:extLst>
                    <a:ext uri="{FF2B5EF4-FFF2-40B4-BE49-F238E27FC236}">
                      <a16:creationId xmlns:a16="http://schemas.microsoft.com/office/drawing/2014/main" id="{F482685B-83ED-5D9B-6CF1-794EAFDD07D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314443" y="1108550"/>
                  <a:ext cx="542611" cy="369332"/>
                </a:xfrm>
                <a:prstGeom prst="rect">
                  <a:avLst/>
                </a:prstGeom>
                <a:blipFill>
                  <a:blip r:embed="rId4"/>
                  <a:stretch>
                    <a:fillRect r="-26966" b="-14754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C113BCC7-DE5C-3243-C968-A77699AA66C1}"/>
              </a:ext>
            </a:extLst>
          </p:cNvPr>
          <p:cNvGrpSpPr/>
          <p:nvPr/>
        </p:nvGrpSpPr>
        <p:grpSpPr>
          <a:xfrm>
            <a:off x="8135734" y="2890921"/>
            <a:ext cx="3898759" cy="816610"/>
            <a:chOff x="8135734" y="2464986"/>
            <a:chExt cx="3898759" cy="816610"/>
          </a:xfrm>
        </p:grpSpPr>
        <p:sp>
          <p:nvSpPr>
            <p:cNvPr id="15" name="Rectangle: Rounded Corners 14">
              <a:extLst>
                <a:ext uri="{FF2B5EF4-FFF2-40B4-BE49-F238E27FC236}">
                  <a16:creationId xmlns:a16="http://schemas.microsoft.com/office/drawing/2014/main" id="{521F69A0-53B2-74D4-BB24-2DB8C2005D96}"/>
                </a:ext>
              </a:extLst>
            </p:cNvPr>
            <p:cNvSpPr/>
            <p:nvPr/>
          </p:nvSpPr>
          <p:spPr>
            <a:xfrm>
              <a:off x="9823856" y="2464986"/>
              <a:ext cx="803868" cy="816610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X</a:t>
              </a:r>
            </a:p>
          </p:txBody>
        </p:sp>
        <p:cxnSp>
          <p:nvCxnSpPr>
            <p:cNvPr id="16" name="Straight Arrow Connector 15">
              <a:extLst>
                <a:ext uri="{FF2B5EF4-FFF2-40B4-BE49-F238E27FC236}">
                  <a16:creationId xmlns:a16="http://schemas.microsoft.com/office/drawing/2014/main" id="{6F6C1039-40E0-F85C-78E2-F4AC3511E5CF}"/>
                </a:ext>
              </a:extLst>
            </p:cNvPr>
            <p:cNvCxnSpPr>
              <a:cxnSpLocks/>
              <a:endCxn id="15" idx="1"/>
            </p:cNvCxnSpPr>
            <p:nvPr/>
          </p:nvCxnSpPr>
          <p:spPr>
            <a:xfrm>
              <a:off x="8648199" y="2873291"/>
              <a:ext cx="1175657" cy="0"/>
            </a:xfrm>
            <a:prstGeom prst="straightConnector1">
              <a:avLst/>
            </a:prstGeom>
            <a:ln>
              <a:solidFill>
                <a:srgbClr val="00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Arrow Connector 16">
              <a:extLst>
                <a:ext uri="{FF2B5EF4-FFF2-40B4-BE49-F238E27FC236}">
                  <a16:creationId xmlns:a16="http://schemas.microsoft.com/office/drawing/2014/main" id="{523BBDF9-BD79-22F3-470D-A21BB06065A8}"/>
                </a:ext>
              </a:extLst>
            </p:cNvPr>
            <p:cNvCxnSpPr>
              <a:cxnSpLocks/>
              <a:stCxn id="15" idx="3"/>
            </p:cNvCxnSpPr>
            <p:nvPr/>
          </p:nvCxnSpPr>
          <p:spPr>
            <a:xfrm>
              <a:off x="10627724" y="2873291"/>
              <a:ext cx="1185706" cy="0"/>
            </a:xfrm>
            <a:prstGeom prst="straightConnector1">
              <a:avLst/>
            </a:prstGeom>
            <a:ln>
              <a:solidFill>
                <a:srgbClr val="00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" name="TextBox 17">
                  <a:extLst>
                    <a:ext uri="{FF2B5EF4-FFF2-40B4-BE49-F238E27FC236}">
                      <a16:creationId xmlns:a16="http://schemas.microsoft.com/office/drawing/2014/main" id="{D41B84E7-C2DF-0708-CBD6-B52B7C08109F}"/>
                    </a:ext>
                  </a:extLst>
                </p:cNvPr>
                <p:cNvSpPr txBox="1"/>
                <p:nvPr/>
              </p:nvSpPr>
              <p:spPr>
                <a:xfrm>
                  <a:off x="8135734" y="2464986"/>
                  <a:ext cx="1457010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𝛼</m:t>
                        </m:r>
                        <m:d>
                          <m:dPr>
                            <m:begChr m:val="|"/>
                            <m:endChr m:val="⟩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e>
                        </m:d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𝛽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|1⟩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8" name="TextBox 17">
                  <a:extLst>
                    <a:ext uri="{FF2B5EF4-FFF2-40B4-BE49-F238E27FC236}">
                      <a16:creationId xmlns:a16="http://schemas.microsoft.com/office/drawing/2014/main" id="{D41B84E7-C2DF-0708-CBD6-B52B7C08109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135734" y="2464986"/>
                  <a:ext cx="1457010" cy="369332"/>
                </a:xfrm>
                <a:prstGeom prst="rect">
                  <a:avLst/>
                </a:prstGeom>
                <a:blipFill>
                  <a:blip r:embed="rId5"/>
                  <a:stretch>
                    <a:fillRect b="-14754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" name="TextBox 19">
                  <a:extLst>
                    <a:ext uri="{FF2B5EF4-FFF2-40B4-BE49-F238E27FC236}">
                      <a16:creationId xmlns:a16="http://schemas.microsoft.com/office/drawing/2014/main" id="{C7D67014-2B8B-3002-18BB-57A85E5AEA7C}"/>
                    </a:ext>
                  </a:extLst>
                </p:cNvPr>
                <p:cNvSpPr txBox="1"/>
                <p:nvPr/>
              </p:nvSpPr>
              <p:spPr>
                <a:xfrm>
                  <a:off x="10577483" y="2464986"/>
                  <a:ext cx="1457010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𝛽</m:t>
                        </m:r>
                        <m:d>
                          <m:dPr>
                            <m:begChr m:val="|"/>
                            <m:endChr m:val="⟩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e>
                        </m:d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𝛼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|1⟩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20" name="TextBox 19">
                  <a:extLst>
                    <a:ext uri="{FF2B5EF4-FFF2-40B4-BE49-F238E27FC236}">
                      <a16:creationId xmlns:a16="http://schemas.microsoft.com/office/drawing/2014/main" id="{C7D67014-2B8B-3002-18BB-57A85E5AEA7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577483" y="2464986"/>
                  <a:ext cx="1457010" cy="369332"/>
                </a:xfrm>
                <a:prstGeom prst="rect">
                  <a:avLst/>
                </a:prstGeom>
                <a:blipFill>
                  <a:blip r:embed="rId6"/>
                  <a:stretch>
                    <a:fillRect b="-14754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4E3B627A-70A0-4B65-EC32-060E9DEAA123}"/>
              </a:ext>
            </a:extLst>
          </p:cNvPr>
          <p:cNvGrpSpPr/>
          <p:nvPr/>
        </p:nvGrpSpPr>
        <p:grpSpPr>
          <a:xfrm>
            <a:off x="8135734" y="4729127"/>
            <a:ext cx="3898759" cy="816610"/>
            <a:chOff x="8135734" y="2464986"/>
            <a:chExt cx="3898759" cy="816610"/>
          </a:xfrm>
        </p:grpSpPr>
        <p:sp>
          <p:nvSpPr>
            <p:cNvPr id="23" name="Rectangle: Rounded Corners 22">
              <a:extLst>
                <a:ext uri="{FF2B5EF4-FFF2-40B4-BE49-F238E27FC236}">
                  <a16:creationId xmlns:a16="http://schemas.microsoft.com/office/drawing/2014/main" id="{DBCC4916-2562-14F8-5945-96B0686A0293}"/>
                </a:ext>
              </a:extLst>
            </p:cNvPr>
            <p:cNvSpPr/>
            <p:nvPr/>
          </p:nvSpPr>
          <p:spPr>
            <a:xfrm>
              <a:off x="9823856" y="2464986"/>
              <a:ext cx="803868" cy="816610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Z</a:t>
              </a:r>
            </a:p>
          </p:txBody>
        </p:sp>
        <p:cxnSp>
          <p:nvCxnSpPr>
            <p:cNvPr id="24" name="Straight Arrow Connector 23">
              <a:extLst>
                <a:ext uri="{FF2B5EF4-FFF2-40B4-BE49-F238E27FC236}">
                  <a16:creationId xmlns:a16="http://schemas.microsoft.com/office/drawing/2014/main" id="{889385AB-F484-25D7-C19D-F8182012590D}"/>
                </a:ext>
              </a:extLst>
            </p:cNvPr>
            <p:cNvCxnSpPr>
              <a:cxnSpLocks/>
              <a:endCxn id="23" idx="1"/>
            </p:cNvCxnSpPr>
            <p:nvPr/>
          </p:nvCxnSpPr>
          <p:spPr>
            <a:xfrm>
              <a:off x="8648199" y="2873291"/>
              <a:ext cx="1175657" cy="0"/>
            </a:xfrm>
            <a:prstGeom prst="straightConnector1">
              <a:avLst/>
            </a:prstGeom>
            <a:ln>
              <a:solidFill>
                <a:srgbClr val="00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Arrow Connector 24">
              <a:extLst>
                <a:ext uri="{FF2B5EF4-FFF2-40B4-BE49-F238E27FC236}">
                  <a16:creationId xmlns:a16="http://schemas.microsoft.com/office/drawing/2014/main" id="{B95EA551-334F-3DE2-620E-6A01FB536530}"/>
                </a:ext>
              </a:extLst>
            </p:cNvPr>
            <p:cNvCxnSpPr>
              <a:cxnSpLocks/>
              <a:stCxn id="23" idx="3"/>
            </p:cNvCxnSpPr>
            <p:nvPr/>
          </p:nvCxnSpPr>
          <p:spPr>
            <a:xfrm>
              <a:off x="10627724" y="2873291"/>
              <a:ext cx="1185706" cy="0"/>
            </a:xfrm>
            <a:prstGeom prst="straightConnector1">
              <a:avLst/>
            </a:prstGeom>
            <a:ln>
              <a:solidFill>
                <a:srgbClr val="00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6" name="TextBox 25">
                  <a:extLst>
                    <a:ext uri="{FF2B5EF4-FFF2-40B4-BE49-F238E27FC236}">
                      <a16:creationId xmlns:a16="http://schemas.microsoft.com/office/drawing/2014/main" id="{4C98889B-7C8D-20AB-5208-D3DB4E7C0EE3}"/>
                    </a:ext>
                  </a:extLst>
                </p:cNvPr>
                <p:cNvSpPr txBox="1"/>
                <p:nvPr/>
              </p:nvSpPr>
              <p:spPr>
                <a:xfrm>
                  <a:off x="8135734" y="2464986"/>
                  <a:ext cx="1457010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𝛼</m:t>
                        </m:r>
                        <m:d>
                          <m:dPr>
                            <m:begChr m:val="|"/>
                            <m:endChr m:val="⟩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e>
                        </m:d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𝛽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|1⟩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26" name="TextBox 25">
                  <a:extLst>
                    <a:ext uri="{FF2B5EF4-FFF2-40B4-BE49-F238E27FC236}">
                      <a16:creationId xmlns:a16="http://schemas.microsoft.com/office/drawing/2014/main" id="{4C98889B-7C8D-20AB-5208-D3DB4E7C0EE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135734" y="2464986"/>
                  <a:ext cx="1457010" cy="369332"/>
                </a:xfrm>
                <a:prstGeom prst="rect">
                  <a:avLst/>
                </a:prstGeom>
                <a:blipFill>
                  <a:blip r:embed="rId7"/>
                  <a:stretch>
                    <a:fillRect b="-150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7" name="TextBox 26">
                  <a:extLst>
                    <a:ext uri="{FF2B5EF4-FFF2-40B4-BE49-F238E27FC236}">
                      <a16:creationId xmlns:a16="http://schemas.microsoft.com/office/drawing/2014/main" id="{76F9C5EC-7AFA-1C07-5DA8-19589D4DEAF4}"/>
                    </a:ext>
                  </a:extLst>
                </p:cNvPr>
                <p:cNvSpPr txBox="1"/>
                <p:nvPr/>
              </p:nvSpPr>
              <p:spPr>
                <a:xfrm>
                  <a:off x="10577483" y="2464986"/>
                  <a:ext cx="1457010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𝛼</m:t>
                        </m:r>
                        <m:d>
                          <m:dPr>
                            <m:begChr m:val="|"/>
                            <m:endChr m:val="⟩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e>
                        </m:d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𝛽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|1⟩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27" name="TextBox 26">
                  <a:extLst>
                    <a:ext uri="{FF2B5EF4-FFF2-40B4-BE49-F238E27FC236}">
                      <a16:creationId xmlns:a16="http://schemas.microsoft.com/office/drawing/2014/main" id="{76F9C5EC-7AFA-1C07-5DA8-19589D4DEAF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577483" y="2464986"/>
                  <a:ext cx="1457010" cy="369332"/>
                </a:xfrm>
                <a:prstGeom prst="rect">
                  <a:avLst/>
                </a:prstGeom>
                <a:blipFill>
                  <a:blip r:embed="rId8"/>
                  <a:stretch>
                    <a:fillRect b="-150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27443945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D4633B-D983-39C4-F86B-3942B31745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Hadamard Transform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6F1AD68-09A5-0CB5-B541-73AE5CA668DA}"/>
                  </a:ext>
                </a:extLst>
              </p:cNvPr>
              <p:cNvSpPr>
                <a:spLocks noGrp="1"/>
              </p:cNvSpPr>
              <p:nvPr>
                <p:ph sz="quarter" idx="1"/>
              </p:nvPr>
            </p:nvSpPr>
            <p:spPr>
              <a:xfrm>
                <a:off x="157506" y="1032691"/>
                <a:ext cx="7991707" cy="5290615"/>
              </a:xfrm>
            </p:spPr>
            <p:txBody>
              <a:bodyPr>
                <a:normAutofit fontScale="77500" lnSpcReduction="20000"/>
              </a:bodyPr>
              <a:lstStyle/>
              <a:p>
                <a:r>
                  <a:rPr lang="en-US" b="0" dirty="0"/>
                  <a:t>Hadamard Gate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𝐻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den>
                    </m:f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lang="en-US" dirty="0"/>
                  <a:t> 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𝐻</m:t>
                    </m:r>
                    <m:d>
                      <m:dPr>
                        <m:begChr m:val="|"/>
                        <m:endChr m:val="⟩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den>
                    </m:f>
                    <m:d>
                      <m:dPr>
                        <m:begChr m:val="["/>
                        <m:endChr m:val="]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e>
                          </m:mr>
                        </m:m>
                      </m:e>
                    </m:d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</m:m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den>
                    </m:f>
                    <m:d>
                      <m:dPr>
                        <m:begChr m:val="["/>
                        <m:endChr m:val="]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</m:m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=|+⟩</m:t>
                    </m:r>
                  </m:oMath>
                </a14:m>
                <a:endParaRPr lang="en-US" dirty="0"/>
              </a:p>
              <a:p>
                <a:pPr lvl="1"/>
                <a:r>
                  <a:rPr lang="en-US" b="0" dirty="0"/>
                  <a:t>H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⟩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den>
                    </m:f>
                    <m:d>
                      <m:dPr>
                        <m:begChr m:val="["/>
                        <m:endChr m:val="]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e>
                          </m:mr>
                        </m:m>
                      </m:e>
                    </m:d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</m:m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den>
                    </m:f>
                    <m:d>
                      <m:dPr>
                        <m:begChr m:val="["/>
                        <m:endChr m:val="]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e>
                          </m:mr>
                        </m:m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=|−⟩</m:t>
                    </m:r>
                  </m:oMath>
                </a14:m>
                <a:endParaRPr lang="en-US" b="1" dirty="0"/>
              </a:p>
              <a:p>
                <a:pPr lvl="1"/>
                <a:r>
                  <a:rPr lang="en-US" b="0" dirty="0"/>
                  <a:t>If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⟩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𝜓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𝛼</m:t>
                              </m:r>
                            </m:e>
                          </m:mr>
                          <m:m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𝛽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lang="en-US" i="1" dirty="0">
                    <a:latin typeface="Cambria Math" panose="02040503050406030204" pitchFamily="18" charset="0"/>
                  </a:rPr>
                  <a:t>, </a:t>
                </a:r>
                <a:r>
                  <a:rPr lang="en-US" dirty="0">
                    <a:latin typeface="Cambria Math" panose="02040503050406030204" pitchFamily="18" charset="0"/>
                  </a:rPr>
                  <a:t>then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𝐻</m:t>
                    </m:r>
                    <m:d>
                      <m:dPr>
                        <m:begChr m:val="|"/>
                        <m:endChr m:val="⟩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𝜓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den>
                    </m:f>
                    <m:d>
                      <m:dPr>
                        <m:begChr m:val="["/>
                        <m:endChr m:val="]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e>
                          </m:mr>
                        </m:m>
                      </m:e>
                    </m:d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𝛼</m:t>
                              </m:r>
                            </m:e>
                          </m:mr>
                          <m:m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𝛽</m:t>
                              </m:r>
                            </m:e>
                          </m:mr>
                        </m:m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den>
                    </m:f>
                    <m:d>
                      <m:dPr>
                        <m:begChr m:val="["/>
                        <m:endChr m:val="]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𝛼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𝛽</m:t>
                              </m:r>
                            </m:e>
                          </m:mr>
                          <m:m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𝛼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𝛽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Is H a Unitary gate?</a:t>
                </a:r>
              </a:p>
              <a:p>
                <a:endParaRPr lang="en-US" b="0" i="1" dirty="0"/>
              </a:p>
              <a:p>
                <a:r>
                  <a:rPr lang="en-US" b="0" i="1" dirty="0"/>
                  <a:t>H </a:t>
                </a:r>
                <a:r>
                  <a:rPr lang="en-US" b="0" dirty="0"/>
                  <a:t>is inverse of itself</a:t>
                </a:r>
                <a:endParaRPr lang="en-US" b="0" i="1" dirty="0"/>
              </a:p>
              <a:p>
                <a:pPr lvl="1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𝐻</m:t>
                    </m:r>
                    <m:d>
                      <m:dPr>
                        <m:begChr m:val="|"/>
                        <m:endChr m:val="⟩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=|+⟩</m:t>
                    </m:r>
                  </m:oMath>
                </a14:m>
                <a:r>
                  <a:rPr lang="en-US" dirty="0"/>
                  <a:t>, and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𝐻</m:t>
                    </m:r>
                    <m:d>
                      <m:dPr>
                        <m:begChr m:val="|"/>
                        <m:endChr m:val="⟩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=|0⟩</m:t>
                    </m:r>
                  </m:oMath>
                </a14:m>
                <a:endParaRPr lang="en-US" dirty="0"/>
              </a:p>
              <a:p>
                <a:pPr lvl="1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𝐻</m:t>
                    </m:r>
                    <m:d>
                      <m:dPr>
                        <m:begChr m:val="|"/>
                        <m:endChr m:val="⟩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=|−⟩</m:t>
                    </m:r>
                  </m:oMath>
                </a14:m>
                <a:r>
                  <a:rPr lang="en-US" dirty="0"/>
                  <a:t>, and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𝐻</m:t>
                    </m:r>
                    <m:d>
                      <m:dPr>
                        <m:begChr m:val="|"/>
                        <m:endChr m:val="⟩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=|1⟩</m:t>
                    </m:r>
                  </m:oMath>
                </a14:m>
                <a:endParaRPr lang="en-US" dirty="0"/>
              </a:p>
              <a:p>
                <a:pPr lvl="1"/>
                <a:endParaRPr lang="en-US" dirty="0"/>
              </a:p>
              <a:p>
                <a:r>
                  <a:rPr lang="en-US" dirty="0"/>
                  <a:t>If measure the state after applying the H gate on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|0⟩</m:t>
                    </m:r>
                  </m:oMath>
                </a14:m>
                <a:r>
                  <a:rPr lang="en-US" dirty="0"/>
                  <a:t> or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⟩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You will get the same probabilities of reading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|0⟩</m:t>
                    </m:r>
                  </m:oMath>
                </a14:m>
                <a:r>
                  <a:rPr lang="en-US" dirty="0"/>
                  <a:t> or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⟩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The probabilities of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|0⟩</m:t>
                    </m:r>
                  </m:oMath>
                </a14:m>
                <a:r>
                  <a:rPr lang="en-US" dirty="0"/>
                  <a:t> or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⟩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</m:oMath>
                </a14:m>
                <a:r>
                  <a:rPr lang="en-US" dirty="0"/>
                  <a:t> when reading state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|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⟩</m:t>
                    </m:r>
                  </m:oMath>
                </a14:m>
                <a:r>
                  <a:rPr lang="en-US" dirty="0"/>
                  <a:t> or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⟩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</m:t>
                        </m:r>
                      </m:e>
                    </m:d>
                  </m:oMath>
                </a14:m>
                <a:r>
                  <a:rPr lang="en-US" dirty="0"/>
                  <a:t> are same</a:t>
                </a:r>
              </a:p>
              <a:p>
                <a:pPr lvl="1"/>
                <a:r>
                  <a:rPr lang="en-US" dirty="0"/>
                  <a:t>But you can recover the exact state by applying H again.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6F1AD68-09A5-0CB5-B541-73AE5CA668D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xfrm>
                <a:off x="157506" y="1032691"/>
                <a:ext cx="7991707" cy="5290615"/>
              </a:xfrm>
              <a:blipFill>
                <a:blip r:embed="rId2"/>
                <a:stretch>
                  <a:fillRect l="-317" t="-95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2" name="Group 31">
            <a:extLst>
              <a:ext uri="{FF2B5EF4-FFF2-40B4-BE49-F238E27FC236}">
                <a16:creationId xmlns:a16="http://schemas.microsoft.com/office/drawing/2014/main" id="{75EEC61A-3964-D594-DC21-BF8EAAEA2B93}"/>
              </a:ext>
            </a:extLst>
          </p:cNvPr>
          <p:cNvGrpSpPr/>
          <p:nvPr/>
        </p:nvGrpSpPr>
        <p:grpSpPr>
          <a:xfrm>
            <a:off x="7867860" y="1160457"/>
            <a:ext cx="4089677" cy="1080416"/>
            <a:chOff x="7867860" y="1160457"/>
            <a:chExt cx="4089677" cy="1080416"/>
          </a:xfrm>
        </p:grpSpPr>
        <p:sp>
          <p:nvSpPr>
            <p:cNvPr id="5" name="Rectangle: Rounded Corners 14">
              <a:extLst>
                <a:ext uri="{FF2B5EF4-FFF2-40B4-BE49-F238E27FC236}">
                  <a16:creationId xmlns:a16="http://schemas.microsoft.com/office/drawing/2014/main" id="{DCE33979-71C0-DE72-4D0F-A58DC5DE2274}"/>
                </a:ext>
              </a:extLst>
            </p:cNvPr>
            <p:cNvSpPr/>
            <p:nvPr/>
          </p:nvSpPr>
          <p:spPr>
            <a:xfrm>
              <a:off x="9555982" y="1424263"/>
              <a:ext cx="803868" cy="816610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H</a:t>
              </a:r>
            </a:p>
          </p:txBody>
        </p:sp>
        <p:cxnSp>
          <p:nvCxnSpPr>
            <p:cNvPr id="6" name="Straight Arrow Connector 5">
              <a:extLst>
                <a:ext uri="{FF2B5EF4-FFF2-40B4-BE49-F238E27FC236}">
                  <a16:creationId xmlns:a16="http://schemas.microsoft.com/office/drawing/2014/main" id="{20B1682C-793D-1147-87CD-F5D1A7BE6544}"/>
                </a:ext>
              </a:extLst>
            </p:cNvPr>
            <p:cNvCxnSpPr>
              <a:cxnSpLocks/>
              <a:endCxn id="5" idx="1"/>
            </p:cNvCxnSpPr>
            <p:nvPr/>
          </p:nvCxnSpPr>
          <p:spPr>
            <a:xfrm>
              <a:off x="8380325" y="1832568"/>
              <a:ext cx="1175657" cy="0"/>
            </a:xfrm>
            <a:prstGeom prst="straightConnector1">
              <a:avLst/>
            </a:prstGeom>
            <a:ln>
              <a:solidFill>
                <a:srgbClr val="00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Straight Arrow Connector 6">
              <a:extLst>
                <a:ext uri="{FF2B5EF4-FFF2-40B4-BE49-F238E27FC236}">
                  <a16:creationId xmlns:a16="http://schemas.microsoft.com/office/drawing/2014/main" id="{1E1477FE-4BBF-B5C7-6B22-E800F3A3D2BE}"/>
                </a:ext>
              </a:extLst>
            </p:cNvPr>
            <p:cNvCxnSpPr>
              <a:cxnSpLocks/>
              <a:stCxn id="5" idx="3"/>
            </p:cNvCxnSpPr>
            <p:nvPr/>
          </p:nvCxnSpPr>
          <p:spPr>
            <a:xfrm>
              <a:off x="10359850" y="1832568"/>
              <a:ext cx="1185706" cy="0"/>
            </a:xfrm>
            <a:prstGeom prst="straightConnector1">
              <a:avLst/>
            </a:prstGeom>
            <a:ln>
              <a:solidFill>
                <a:srgbClr val="00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TextBox 7">
                  <a:extLst>
                    <a:ext uri="{FF2B5EF4-FFF2-40B4-BE49-F238E27FC236}">
                      <a16:creationId xmlns:a16="http://schemas.microsoft.com/office/drawing/2014/main" id="{68684D57-5FF3-9633-1F6E-8646A03FAE2A}"/>
                    </a:ext>
                  </a:extLst>
                </p:cNvPr>
                <p:cNvSpPr txBox="1"/>
                <p:nvPr/>
              </p:nvSpPr>
              <p:spPr>
                <a:xfrm>
                  <a:off x="7867860" y="1424263"/>
                  <a:ext cx="1457010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𝛼</m:t>
                        </m:r>
                        <m:d>
                          <m:dPr>
                            <m:begChr m:val="|"/>
                            <m:endChr m:val="⟩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e>
                        </m:d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𝛽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|1⟩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8" name="TextBox 7">
                  <a:extLst>
                    <a:ext uri="{FF2B5EF4-FFF2-40B4-BE49-F238E27FC236}">
                      <a16:creationId xmlns:a16="http://schemas.microsoft.com/office/drawing/2014/main" id="{68684D57-5FF3-9633-1F6E-8646A03FAE2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867860" y="1424263"/>
                  <a:ext cx="1457010" cy="369332"/>
                </a:xfrm>
                <a:prstGeom prst="rect">
                  <a:avLst/>
                </a:prstGeom>
                <a:blipFill>
                  <a:blip r:embed="rId3"/>
                  <a:stretch>
                    <a:fillRect b="-1333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" name="TextBox 8">
                  <a:extLst>
                    <a:ext uri="{FF2B5EF4-FFF2-40B4-BE49-F238E27FC236}">
                      <a16:creationId xmlns:a16="http://schemas.microsoft.com/office/drawing/2014/main" id="{5C57E5E5-CFDC-98BA-DD67-CEE4F4FE3C91}"/>
                    </a:ext>
                  </a:extLst>
                </p:cNvPr>
                <p:cNvSpPr txBox="1"/>
                <p:nvPr/>
              </p:nvSpPr>
              <p:spPr>
                <a:xfrm>
                  <a:off x="10500527" y="1160457"/>
                  <a:ext cx="1457010" cy="639983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𝛼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𝛽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)</m:t>
                        </m:r>
                        <m:d>
                          <m:dPr>
                            <m:begChr m:val="|"/>
                            <m:endChr m:val="⟩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e>
                        </m:d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+(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𝛼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𝛽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)|1⟩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9" name="TextBox 8">
                  <a:extLst>
                    <a:ext uri="{FF2B5EF4-FFF2-40B4-BE49-F238E27FC236}">
                      <a16:creationId xmlns:a16="http://schemas.microsoft.com/office/drawing/2014/main" id="{5C57E5E5-CFDC-98BA-DD67-CEE4F4FE3C9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500527" y="1160457"/>
                  <a:ext cx="1457010" cy="639983"/>
                </a:xfrm>
                <a:prstGeom prst="rect">
                  <a:avLst/>
                </a:prstGeom>
                <a:blipFill>
                  <a:blip r:embed="rId4"/>
                  <a:stretch>
                    <a:fillRect l="-870" r="-870" b="-784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02C8415B-53D2-96B4-48EC-53B4CB3CBBF2}"/>
              </a:ext>
            </a:extLst>
          </p:cNvPr>
          <p:cNvGrpSpPr/>
          <p:nvPr/>
        </p:nvGrpSpPr>
        <p:grpSpPr>
          <a:xfrm>
            <a:off x="9067945" y="2697348"/>
            <a:ext cx="2865164" cy="2736389"/>
            <a:chOff x="5637938" y="2939111"/>
            <a:chExt cx="2865164" cy="2736389"/>
          </a:xfrm>
        </p:grpSpPr>
        <p:cxnSp>
          <p:nvCxnSpPr>
            <p:cNvPr id="11" name="Straight Arrow Connector 10">
              <a:extLst>
                <a:ext uri="{FF2B5EF4-FFF2-40B4-BE49-F238E27FC236}">
                  <a16:creationId xmlns:a16="http://schemas.microsoft.com/office/drawing/2014/main" id="{11708C98-CE15-D776-41D4-DB6BE2AE29E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832990" y="4493642"/>
              <a:ext cx="1195053" cy="27904"/>
            </a:xfrm>
            <a:prstGeom prst="straightConnector1">
              <a:avLst/>
            </a:prstGeom>
            <a:ln>
              <a:solidFill>
                <a:srgbClr val="00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Arrow Connector 11">
              <a:extLst>
                <a:ext uri="{FF2B5EF4-FFF2-40B4-BE49-F238E27FC236}">
                  <a16:creationId xmlns:a16="http://schemas.microsoft.com/office/drawing/2014/main" id="{5A0B384E-6EC7-7D1B-042F-8C787B96EB01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819800" y="3311785"/>
              <a:ext cx="6595" cy="1209761"/>
            </a:xfrm>
            <a:prstGeom prst="straightConnector1">
              <a:avLst/>
            </a:prstGeom>
            <a:ln>
              <a:solidFill>
                <a:srgbClr val="00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4A547E40-B00C-805F-CAFA-25AC604EDF98}"/>
                </a:ext>
              </a:extLst>
            </p:cNvPr>
            <p:cNvSpPr/>
            <p:nvPr/>
          </p:nvSpPr>
          <p:spPr>
            <a:xfrm>
              <a:off x="5637938" y="3311785"/>
              <a:ext cx="2390105" cy="2363715"/>
            </a:xfrm>
            <a:prstGeom prst="ellipse">
              <a:avLst/>
            </a:prstGeom>
            <a:noFill/>
            <a:ln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" name="TextBox 13">
                  <a:extLst>
                    <a:ext uri="{FF2B5EF4-FFF2-40B4-BE49-F238E27FC236}">
                      <a16:creationId xmlns:a16="http://schemas.microsoft.com/office/drawing/2014/main" id="{ACEE4598-9D38-3D54-05B6-30555999FA21}"/>
                    </a:ext>
                  </a:extLst>
                </p:cNvPr>
                <p:cNvSpPr txBox="1"/>
                <p:nvPr/>
              </p:nvSpPr>
              <p:spPr>
                <a:xfrm>
                  <a:off x="7955030" y="4330494"/>
                  <a:ext cx="548072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begChr m:val="|"/>
                            <m:endChr m:val="⟩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e>
                        </m:d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4" name="TextBox 13">
                  <a:extLst>
                    <a:ext uri="{FF2B5EF4-FFF2-40B4-BE49-F238E27FC236}">
                      <a16:creationId xmlns:a16="http://schemas.microsoft.com/office/drawing/2014/main" id="{ACEE4598-9D38-3D54-05B6-30555999FA2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955030" y="4330494"/>
                  <a:ext cx="548072" cy="369332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" name="TextBox 14">
                  <a:extLst>
                    <a:ext uri="{FF2B5EF4-FFF2-40B4-BE49-F238E27FC236}">
                      <a16:creationId xmlns:a16="http://schemas.microsoft.com/office/drawing/2014/main" id="{DE54C8A0-AC13-34FE-2D63-689397C3311E}"/>
                    </a:ext>
                  </a:extLst>
                </p:cNvPr>
                <p:cNvSpPr txBox="1"/>
                <p:nvPr/>
              </p:nvSpPr>
              <p:spPr>
                <a:xfrm>
                  <a:off x="6605804" y="2939111"/>
                  <a:ext cx="548072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begChr m:val="|"/>
                            <m:endChr m:val="⟩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d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56" name="TextBox 55">
                  <a:extLst>
                    <a:ext uri="{FF2B5EF4-FFF2-40B4-BE49-F238E27FC236}">
                      <a16:creationId xmlns:a16="http://schemas.microsoft.com/office/drawing/2014/main" id="{2F1CBAC1-1A12-F761-8911-B56A95DFD9C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605804" y="2939111"/>
                  <a:ext cx="548072" cy="369332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0FDD30E7-2E21-F010-19E4-615D6F908DA2}"/>
              </a:ext>
            </a:extLst>
          </p:cNvPr>
          <p:cNvCxnSpPr>
            <a:cxnSpLocks/>
          </p:cNvCxnSpPr>
          <p:nvPr/>
        </p:nvCxnSpPr>
        <p:spPr>
          <a:xfrm flipV="1">
            <a:off x="10262997" y="3305001"/>
            <a:ext cx="842419" cy="974782"/>
          </a:xfrm>
          <a:prstGeom prst="straightConnector1">
            <a:avLst/>
          </a:prstGeom>
          <a:ln w="28575">
            <a:solidFill>
              <a:srgbClr val="0070C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9EF8F441-1EBE-D65B-010D-2F3BB50D4BA4}"/>
              </a:ext>
            </a:extLst>
          </p:cNvPr>
          <p:cNvCxnSpPr>
            <a:cxnSpLocks/>
          </p:cNvCxnSpPr>
          <p:nvPr/>
        </p:nvCxnSpPr>
        <p:spPr>
          <a:xfrm>
            <a:off x="10262997" y="4279783"/>
            <a:ext cx="842419" cy="832793"/>
          </a:xfrm>
          <a:prstGeom prst="straightConnector1">
            <a:avLst/>
          </a:prstGeom>
          <a:ln w="28575">
            <a:solidFill>
              <a:srgbClr val="0070C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14E546F9-2A62-7C91-6626-B1F73E04C8A7}"/>
                  </a:ext>
                </a:extLst>
              </p:cNvPr>
              <p:cNvSpPr txBox="1"/>
              <p:nvPr/>
            </p:nvSpPr>
            <p:spPr>
              <a:xfrm>
                <a:off x="10962058" y="3085613"/>
                <a:ext cx="548072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|"/>
                          <m:endChr m:val="⟩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14E546F9-2A62-7C91-6626-B1F73E04C8A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962058" y="3085613"/>
                <a:ext cx="548072" cy="36933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61F18DC1-49B8-8825-52EC-52A749C00C6D}"/>
                  </a:ext>
                </a:extLst>
              </p:cNvPr>
              <p:cNvSpPr txBox="1"/>
              <p:nvPr/>
            </p:nvSpPr>
            <p:spPr>
              <a:xfrm>
                <a:off x="11082821" y="5005674"/>
                <a:ext cx="548072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|"/>
                          <m:endChr m:val="⟩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61F18DC1-49B8-8825-52EC-52A749C00C6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082821" y="5005674"/>
                <a:ext cx="548072" cy="369332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C0006DC0-8569-FE35-D291-B49F42E97FC6}"/>
              </a:ext>
            </a:extLst>
          </p:cNvPr>
          <p:cNvCxnSpPr>
            <a:cxnSpLocks/>
          </p:cNvCxnSpPr>
          <p:nvPr/>
        </p:nvCxnSpPr>
        <p:spPr>
          <a:xfrm flipV="1">
            <a:off x="8601559" y="3493917"/>
            <a:ext cx="3432935" cy="1531515"/>
          </a:xfrm>
          <a:prstGeom prst="straightConnector1">
            <a:avLst/>
          </a:prstGeom>
          <a:ln w="28575">
            <a:solidFill>
              <a:srgbClr val="FF0000"/>
            </a:solidFill>
            <a:prstDash val="dash"/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4833B1C3-127C-E342-331C-AA0437AA18E7}"/>
                  </a:ext>
                </a:extLst>
              </p:cNvPr>
              <p:cNvSpPr txBox="1"/>
              <p:nvPr/>
            </p:nvSpPr>
            <p:spPr>
              <a:xfrm>
                <a:off x="8439833" y="5143600"/>
                <a:ext cx="1061837" cy="9233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Rotation around </a:t>
                </a:r>
                <a14:m>
                  <m:oMath xmlns:m="http://schemas.openxmlformats.org/officeDocument/2006/math">
                    <m:f>
                      <m:fPr>
                        <m:type m:val="skw"/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𝜋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8</m:t>
                        </m:r>
                      </m:den>
                    </m:f>
                  </m:oMath>
                </a14:m>
                <a:r>
                  <a:rPr lang="en-US" dirty="0"/>
                  <a:t> axis.</a:t>
                </a:r>
              </a:p>
            </p:txBody>
          </p:sp>
        </mc:Choice>
        <mc:Fallback xmlns="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4833B1C3-127C-E342-331C-AA0437AA18E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39833" y="5143600"/>
                <a:ext cx="1061837" cy="923329"/>
              </a:xfrm>
              <a:prstGeom prst="rect">
                <a:avLst/>
              </a:prstGeom>
              <a:blipFill>
                <a:blip r:embed="rId9"/>
                <a:stretch>
                  <a:fillRect l="-20000" t="-4110" r="-3529" b="-6986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1855898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64550B-22D5-63BF-D2F2-3A704712B1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Relationship between XZH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63DF39C-E706-C85C-A6FC-A323847D7A33}"/>
                  </a:ext>
                </a:extLst>
              </p:cNvPr>
              <p:cNvSpPr>
                <a:spLocks noGrp="1"/>
              </p:cNvSpPr>
              <p:nvPr>
                <p:ph sz="quarter" idx="1"/>
              </p:nvPr>
            </p:nvSpPr>
            <p:spPr>
              <a:xfrm>
                <a:off x="68190" y="2888675"/>
                <a:ext cx="6259874" cy="3368542"/>
              </a:xfrm>
            </p:spPr>
            <p:txBody>
              <a:bodyPr>
                <a:normAutofit/>
              </a:bodyPr>
              <a:lstStyle/>
              <a:p>
                <a14:m>
                  <m:oMath xmlns:m="http://schemas.openxmlformats.org/officeDocument/2006/math">
                    <m:r>
                      <a:rPr lang="en-US" sz="1800" i="1" dirty="0" smtClean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sz="1800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800" i="1" dirty="0" smtClean="0">
                        <a:latin typeface="Cambria Math" panose="02040503050406030204" pitchFamily="18" charset="0"/>
                      </a:rPr>
                      <m:t>𝐻𝑍𝐻</m:t>
                    </m:r>
                  </m:oMath>
                </a14:m>
                <a:endParaRPr lang="en-US" sz="1800" dirty="0"/>
              </a:p>
              <a:p>
                <a:pPr lvl="1"/>
                <a14:m>
                  <m:oMath xmlns:m="http://schemas.openxmlformats.org/officeDocument/2006/math"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𝐻𝑍𝐻</m:t>
                    </m:r>
                    <m:d>
                      <m:dPr>
                        <m:endChr m:val="⟩"/>
                        <m:ctrlPr>
                          <a:rPr lang="en-US" sz="16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𝛽</m:t>
                    </m:r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|1⟩)=</m:t>
                    </m:r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𝐻𝑍</m:t>
                    </m:r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(</m:t>
                    </m:r>
                    <m:d>
                      <m:dPr>
                        <m:ctrlPr>
                          <a:rPr lang="en-US" sz="16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𝛼</m:t>
                        </m:r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</m:d>
                    <m:d>
                      <m:dPr>
                        <m:begChr m:val="|"/>
                        <m:endChr m:val="⟩"/>
                        <m:ctrlPr>
                          <a:rPr lang="en-US" sz="16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+(</m:t>
                    </m:r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𝛼</m:t>
                    </m:r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𝛽</m:t>
                    </m:r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)|1⟩)</m:t>
                    </m:r>
                  </m:oMath>
                </a14:m>
                <a:endParaRPr lang="en-US" sz="1600" b="0" i="1" dirty="0">
                  <a:latin typeface="Cambria Math" panose="02040503050406030204" pitchFamily="18" charset="0"/>
                </a:endParaRPr>
              </a:p>
              <a:p>
                <a:pPr lvl="1"/>
                <a14:m>
                  <m:oMath xmlns:m="http://schemas.openxmlformats.org/officeDocument/2006/math"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𝐻</m:t>
                    </m:r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(</m:t>
                    </m:r>
                    <m:d>
                      <m:dPr>
                        <m:ctrlPr>
                          <a:rPr lang="en-US" sz="16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𝛼</m:t>
                        </m:r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</m:d>
                    <m:d>
                      <m:dPr>
                        <m:begChr m:val="|"/>
                        <m:endChr m:val="⟩"/>
                        <m:ctrlPr>
                          <a:rPr lang="en-US" sz="16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160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𝛽</m:t>
                    </m:r>
                    <m:r>
                      <a:rPr lang="en-US" sz="1600" i="1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𝛼</m:t>
                    </m:r>
                    <m:r>
                      <a:rPr lang="en-US" sz="1600" i="1">
                        <a:latin typeface="Cambria Math" panose="02040503050406030204" pitchFamily="18" charset="0"/>
                      </a:rPr>
                      <m:t>)|1⟩</m:t>
                    </m:r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1600" b="0" i="1" dirty="0">
                  <a:latin typeface="Cambria Math" panose="02040503050406030204" pitchFamily="18" charset="0"/>
                </a:endParaRPr>
              </a:p>
              <a:p>
                <a:pPr lvl="1"/>
                <a14:m>
                  <m:oMath xmlns:m="http://schemas.openxmlformats.org/officeDocument/2006/math"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sz="16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𝛼</m:t>
                        </m:r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𝛽</m:t>
                        </m:r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𝛽</m:t>
                        </m:r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</m:d>
                    <m:d>
                      <m:dPr>
                        <m:begChr m:val="|"/>
                        <m:endChr m:val="⟩"/>
                        <m:ctrlPr>
                          <a:rPr lang="en-US" sz="16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+</m:t>
                    </m:r>
                    <m:d>
                      <m:dPr>
                        <m:ctrlPr>
                          <a:rPr lang="en-US" sz="16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𝛼</m:t>
                        </m:r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𝛽</m:t>
                        </m:r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𝛽</m:t>
                        </m:r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</m:d>
                    <m:d>
                      <m:dPr>
                        <m:begChr m:val="|"/>
                        <m:endChr m:val="⟩"/>
                        <m:ctrlPr>
                          <a:rPr lang="en-US" sz="16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𝛽</m:t>
                    </m:r>
                    <m:d>
                      <m:dPr>
                        <m:begChr m:val="|"/>
                        <m:endChr m:val="⟩"/>
                        <m:ctrlPr>
                          <a:rPr lang="en-US" sz="16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𝛼</m:t>
                    </m:r>
                    <m:d>
                      <m:dPr>
                        <m:begChr m:val="|"/>
                        <m:endChr m:val="⟩"/>
                        <m:ctrlPr>
                          <a:rPr lang="en-US" sz="16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</m:oMath>
                </a14:m>
                <a:endParaRPr lang="en-US" sz="1600" b="0" i="1" dirty="0">
                  <a:latin typeface="Cambria Math" panose="02040503050406030204" pitchFamily="18" charset="0"/>
                </a:endParaRPr>
              </a:p>
              <a:p>
                <a:pPr lvl="1"/>
                <a14:m>
                  <m:oMath xmlns:m="http://schemas.openxmlformats.org/officeDocument/2006/math"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= </m:t>
                    </m:r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𝑋</m:t>
                    </m:r>
                    <m:d>
                      <m:dPr>
                        <m:endChr m:val="⟩"/>
                        <m:ctrlPr>
                          <a:rPr lang="en-US" sz="16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  <m:e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  <m:r>
                      <a:rPr lang="en-US" sz="1600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1600" i="1">
                        <a:latin typeface="Cambria Math" panose="02040503050406030204" pitchFamily="18" charset="0"/>
                      </a:rPr>
                      <m:t>𝛽</m:t>
                    </m:r>
                    <m:r>
                      <a:rPr lang="en-US" sz="1600" i="1">
                        <a:latin typeface="Cambria Math" panose="02040503050406030204" pitchFamily="18" charset="0"/>
                      </a:rPr>
                      <m:t>|1⟩)=</m:t>
                    </m:r>
                    <m:r>
                      <a:rPr lang="en-US" sz="1600" i="1">
                        <a:latin typeface="Cambria Math" panose="02040503050406030204" pitchFamily="18" charset="0"/>
                      </a:rPr>
                      <m:t>𝛽</m:t>
                    </m:r>
                    <m:d>
                      <m:dPr>
                        <m:begChr m:val="|"/>
                        <m:endChr m:val="⟩"/>
                        <m:ctrlPr>
                          <a:rPr lang="en-US" sz="16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  <m:r>
                      <a:rPr lang="en-US" sz="1600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1600" i="1">
                        <a:latin typeface="Cambria Math" panose="02040503050406030204" pitchFamily="18" charset="0"/>
                      </a:rPr>
                      <m:t>𝛼</m:t>
                    </m:r>
                    <m:d>
                      <m:dPr>
                        <m:begChr m:val="|"/>
                        <m:endChr m:val="⟩"/>
                        <m:ctrlPr>
                          <a:rPr lang="en-US" sz="16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</m:oMath>
                </a14:m>
                <a:endParaRPr lang="en-US" sz="1600" dirty="0"/>
              </a:p>
              <a:p>
                <a14:m>
                  <m:oMath xmlns:m="http://schemas.openxmlformats.org/officeDocument/2006/math">
                    <m:r>
                      <a:rPr lang="en-US" sz="1800" i="1" dirty="0" smtClean="0">
                        <a:latin typeface="Cambria Math" panose="02040503050406030204" pitchFamily="18" charset="0"/>
                      </a:rPr>
                      <m:t>𝑍</m:t>
                    </m:r>
                    <m:r>
                      <a:rPr lang="en-US" sz="1800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800" i="1" dirty="0" smtClean="0">
                        <a:latin typeface="Cambria Math" panose="02040503050406030204" pitchFamily="18" charset="0"/>
                      </a:rPr>
                      <m:t>𝐻𝑋𝐻</m:t>
                    </m:r>
                  </m:oMath>
                </a14:m>
                <a:endParaRPr lang="en-US" sz="1800" dirty="0"/>
              </a:p>
              <a:p>
                <a:pPr lvl="1"/>
                <a14:m>
                  <m:oMath xmlns:m="http://schemas.openxmlformats.org/officeDocument/2006/math"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𝐻𝑋𝐻</m:t>
                    </m:r>
                    <m:d>
                      <m:dPr>
                        <m:endChr m:val="⟩"/>
                        <m:ctrlPr>
                          <a:rPr lang="en-US" sz="16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𝛽</m:t>
                    </m:r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|1⟩)=</m:t>
                    </m:r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𝐻𝑋</m:t>
                    </m:r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(</m:t>
                    </m:r>
                    <m:d>
                      <m:dPr>
                        <m:ctrlPr>
                          <a:rPr lang="en-US" sz="16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𝛼</m:t>
                        </m:r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</m:d>
                    <m:d>
                      <m:dPr>
                        <m:begChr m:val="|"/>
                        <m:endChr m:val="⟩"/>
                        <m:ctrlPr>
                          <a:rPr lang="en-US" sz="16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+(</m:t>
                    </m:r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𝛼</m:t>
                    </m:r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𝛽</m:t>
                    </m:r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)|1⟩)</m:t>
                    </m:r>
                  </m:oMath>
                </a14:m>
                <a:endParaRPr lang="en-US" sz="1600" b="0" i="1" dirty="0">
                  <a:latin typeface="Cambria Math" panose="02040503050406030204" pitchFamily="18" charset="0"/>
                </a:endParaRPr>
              </a:p>
              <a:p>
                <a:pPr lvl="1"/>
                <a14:m>
                  <m:oMath xmlns:m="http://schemas.openxmlformats.org/officeDocument/2006/math"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𝐻</m:t>
                    </m:r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(</m:t>
                    </m:r>
                    <m:d>
                      <m:dPr>
                        <m:ctrlPr>
                          <a:rPr lang="en-US" sz="16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𝛼</m:t>
                        </m:r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</m:d>
                    <m:d>
                      <m:dPr>
                        <m:begChr m:val="|"/>
                        <m:endChr m:val="⟩"/>
                        <m:ctrlPr>
                          <a:rPr lang="en-US" sz="16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160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𝛼</m:t>
                    </m:r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𝛽</m:t>
                    </m:r>
                    <m:r>
                      <a:rPr lang="en-US" sz="1600" i="1">
                        <a:latin typeface="Cambria Math" panose="02040503050406030204" pitchFamily="18" charset="0"/>
                      </a:rPr>
                      <m:t>)|1⟩</m:t>
                    </m:r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1600" b="0" i="1" dirty="0">
                  <a:latin typeface="Cambria Math" panose="02040503050406030204" pitchFamily="18" charset="0"/>
                </a:endParaRPr>
              </a:p>
              <a:p>
                <a:pPr lvl="1"/>
                <a14:m>
                  <m:oMath xmlns:m="http://schemas.openxmlformats.org/officeDocument/2006/math"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sz="16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𝛼</m:t>
                        </m:r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𝛽</m:t>
                        </m:r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𝛼</m:t>
                        </m:r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</m:d>
                    <m:d>
                      <m:dPr>
                        <m:begChr m:val="|"/>
                        <m:endChr m:val="⟩"/>
                        <m:ctrlPr>
                          <a:rPr lang="en-US" sz="16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+</m:t>
                    </m:r>
                    <m:d>
                      <m:dPr>
                        <m:ctrlPr>
                          <a:rPr lang="en-US" sz="16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𝛼</m:t>
                        </m:r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𝛽</m:t>
                        </m:r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𝛼</m:t>
                        </m:r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</m:d>
                    <m:d>
                      <m:dPr>
                        <m:begChr m:val="|"/>
                        <m:endChr m:val="⟩"/>
                        <m:ctrlPr>
                          <a:rPr lang="en-US" sz="16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𝛼</m:t>
                    </m:r>
                    <m:d>
                      <m:dPr>
                        <m:begChr m:val="|"/>
                        <m:endChr m:val="⟩"/>
                        <m:ctrlPr>
                          <a:rPr lang="en-US" sz="16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𝛽</m:t>
                    </m:r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|1⟩</m:t>
                    </m:r>
                  </m:oMath>
                </a14:m>
                <a:endParaRPr lang="en-US" sz="1600" b="0" i="1" dirty="0">
                  <a:latin typeface="Cambria Math" panose="02040503050406030204" pitchFamily="18" charset="0"/>
                </a:endParaRPr>
              </a:p>
              <a:p>
                <a:pPr lvl="1"/>
                <a14:m>
                  <m:oMath xmlns:m="http://schemas.openxmlformats.org/officeDocument/2006/math"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𝑍</m:t>
                    </m:r>
                    <m:d>
                      <m:dPr>
                        <m:endChr m:val="⟩"/>
                        <m:ctrlPr>
                          <a:rPr lang="en-US" sz="16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  <m:e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  <m:r>
                      <a:rPr lang="en-US" sz="1600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1600" i="1">
                        <a:latin typeface="Cambria Math" panose="02040503050406030204" pitchFamily="18" charset="0"/>
                      </a:rPr>
                      <m:t>𝛽</m:t>
                    </m:r>
                    <m:r>
                      <a:rPr lang="en-US" sz="1600" i="1">
                        <a:latin typeface="Cambria Math" panose="02040503050406030204" pitchFamily="18" charset="0"/>
                      </a:rPr>
                      <m:t>|1⟩)=</m:t>
                    </m:r>
                    <m:r>
                      <a:rPr lang="en-US" sz="1600" i="1">
                        <a:latin typeface="Cambria Math" panose="02040503050406030204" pitchFamily="18" charset="0"/>
                      </a:rPr>
                      <m:t>𝛼</m:t>
                    </m:r>
                    <m:d>
                      <m:dPr>
                        <m:begChr m:val="|"/>
                        <m:endChr m:val="⟩"/>
                        <m:ctrlPr>
                          <a:rPr lang="en-US" sz="16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  <m:r>
                      <a:rPr lang="en-US" sz="1600" i="1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sz="1600" i="1">
                        <a:latin typeface="Cambria Math" panose="02040503050406030204" pitchFamily="18" charset="0"/>
                      </a:rPr>
                      <m:t>𝛽</m:t>
                    </m:r>
                    <m:r>
                      <a:rPr lang="en-US" sz="1600" i="1">
                        <a:latin typeface="Cambria Math" panose="02040503050406030204" pitchFamily="18" charset="0"/>
                      </a:rPr>
                      <m:t>|1⟩</m:t>
                    </m:r>
                  </m:oMath>
                </a14:m>
                <a:endParaRPr lang="en-US" sz="16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63DF39C-E706-C85C-A6FC-A323847D7A3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xfrm>
                <a:off x="68190" y="2888675"/>
                <a:ext cx="6259874" cy="3368542"/>
              </a:xfrm>
              <a:blipFill>
                <a:blip r:embed="rId3"/>
                <a:stretch>
                  <a:fillRect l="-20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9" name="Group 8">
            <a:extLst>
              <a:ext uri="{FF2B5EF4-FFF2-40B4-BE49-F238E27FC236}">
                <a16:creationId xmlns:a16="http://schemas.microsoft.com/office/drawing/2014/main" id="{4687A172-B18F-0E6E-B81F-0926F38F673C}"/>
              </a:ext>
            </a:extLst>
          </p:cNvPr>
          <p:cNvGrpSpPr/>
          <p:nvPr/>
        </p:nvGrpSpPr>
        <p:grpSpPr>
          <a:xfrm>
            <a:off x="7976554" y="4852240"/>
            <a:ext cx="3963972" cy="1048254"/>
            <a:chOff x="7867860" y="1192619"/>
            <a:chExt cx="3963972" cy="1048254"/>
          </a:xfrm>
        </p:grpSpPr>
        <p:sp>
          <p:nvSpPr>
            <p:cNvPr id="10" name="Rectangle: Rounded Corners 14">
              <a:extLst>
                <a:ext uri="{FF2B5EF4-FFF2-40B4-BE49-F238E27FC236}">
                  <a16:creationId xmlns:a16="http://schemas.microsoft.com/office/drawing/2014/main" id="{0DE26FD3-26B8-ED14-12C9-69D3D28465A5}"/>
                </a:ext>
              </a:extLst>
            </p:cNvPr>
            <p:cNvSpPr/>
            <p:nvPr/>
          </p:nvSpPr>
          <p:spPr>
            <a:xfrm>
              <a:off x="9555982" y="1424263"/>
              <a:ext cx="803868" cy="816610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H</a:t>
              </a:r>
            </a:p>
          </p:txBody>
        </p:sp>
        <p:cxnSp>
          <p:nvCxnSpPr>
            <p:cNvPr id="11" name="Straight Arrow Connector 10">
              <a:extLst>
                <a:ext uri="{FF2B5EF4-FFF2-40B4-BE49-F238E27FC236}">
                  <a16:creationId xmlns:a16="http://schemas.microsoft.com/office/drawing/2014/main" id="{3B9F9D2E-75AB-B230-B55A-EF40E9A2E8B1}"/>
                </a:ext>
              </a:extLst>
            </p:cNvPr>
            <p:cNvCxnSpPr>
              <a:cxnSpLocks/>
              <a:endCxn id="10" idx="1"/>
            </p:cNvCxnSpPr>
            <p:nvPr/>
          </p:nvCxnSpPr>
          <p:spPr>
            <a:xfrm>
              <a:off x="8380325" y="1832568"/>
              <a:ext cx="1175657" cy="0"/>
            </a:xfrm>
            <a:prstGeom prst="straightConnector1">
              <a:avLst/>
            </a:prstGeom>
            <a:ln>
              <a:solidFill>
                <a:srgbClr val="00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Arrow Connector 11">
              <a:extLst>
                <a:ext uri="{FF2B5EF4-FFF2-40B4-BE49-F238E27FC236}">
                  <a16:creationId xmlns:a16="http://schemas.microsoft.com/office/drawing/2014/main" id="{ECE28F1E-0FED-7F15-4677-A0F3700786C6}"/>
                </a:ext>
              </a:extLst>
            </p:cNvPr>
            <p:cNvCxnSpPr>
              <a:cxnSpLocks/>
              <a:stCxn id="10" idx="3"/>
            </p:cNvCxnSpPr>
            <p:nvPr/>
          </p:nvCxnSpPr>
          <p:spPr>
            <a:xfrm>
              <a:off x="10359850" y="1832568"/>
              <a:ext cx="1185706" cy="0"/>
            </a:xfrm>
            <a:prstGeom prst="straightConnector1">
              <a:avLst/>
            </a:prstGeom>
            <a:ln>
              <a:solidFill>
                <a:srgbClr val="00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" name="TextBox 12">
                  <a:extLst>
                    <a:ext uri="{FF2B5EF4-FFF2-40B4-BE49-F238E27FC236}">
                      <a16:creationId xmlns:a16="http://schemas.microsoft.com/office/drawing/2014/main" id="{0A4BC075-07FE-5398-5B3C-3D1C72BB6E64}"/>
                    </a:ext>
                  </a:extLst>
                </p:cNvPr>
                <p:cNvSpPr txBox="1"/>
                <p:nvPr/>
              </p:nvSpPr>
              <p:spPr>
                <a:xfrm>
                  <a:off x="7867860" y="1424263"/>
                  <a:ext cx="1457010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𝛼</m:t>
                        </m:r>
                        <m:d>
                          <m:dPr>
                            <m:begChr m:val="|"/>
                            <m:endChr m:val="⟩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e>
                        </m:d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𝛽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|1⟩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3" name="TextBox 12">
                  <a:extLst>
                    <a:ext uri="{FF2B5EF4-FFF2-40B4-BE49-F238E27FC236}">
                      <a16:creationId xmlns:a16="http://schemas.microsoft.com/office/drawing/2014/main" id="{0A4BC075-07FE-5398-5B3C-3D1C72BB6E6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867860" y="1424263"/>
                  <a:ext cx="1457010" cy="369332"/>
                </a:xfrm>
                <a:prstGeom prst="rect">
                  <a:avLst/>
                </a:prstGeom>
                <a:blipFill>
                  <a:blip r:embed="rId4"/>
                  <a:stretch>
                    <a:fillRect b="-1333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" name="TextBox 13">
                  <a:extLst>
                    <a:ext uri="{FF2B5EF4-FFF2-40B4-BE49-F238E27FC236}">
                      <a16:creationId xmlns:a16="http://schemas.microsoft.com/office/drawing/2014/main" id="{0C1FDBA5-1126-2A48-986C-1FCCBA4DF64E}"/>
                    </a:ext>
                  </a:extLst>
                </p:cNvPr>
                <p:cNvSpPr txBox="1"/>
                <p:nvPr/>
              </p:nvSpPr>
              <p:spPr>
                <a:xfrm>
                  <a:off x="10374821" y="1192619"/>
                  <a:ext cx="1457011" cy="63994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𝛼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𝛽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)</m:t>
                        </m:r>
                        <m:d>
                          <m:dPr>
                            <m:begChr m:val="|"/>
                            <m:endChr m:val="⟩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e>
                        </m:d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+(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𝛼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𝛽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)|1⟩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4" name="TextBox 13">
                  <a:extLst>
                    <a:ext uri="{FF2B5EF4-FFF2-40B4-BE49-F238E27FC236}">
                      <a16:creationId xmlns:a16="http://schemas.microsoft.com/office/drawing/2014/main" id="{0C1FDBA5-1126-2A48-986C-1FCCBA4DF64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374821" y="1192619"/>
                  <a:ext cx="1457011" cy="639949"/>
                </a:xfrm>
                <a:prstGeom prst="rect">
                  <a:avLst/>
                </a:prstGeom>
                <a:blipFill>
                  <a:blip r:embed="rId5"/>
                  <a:stretch>
                    <a:fillRect l="-862" b="-784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46BD8D82-1458-2086-0B75-A4623523071F}"/>
              </a:ext>
            </a:extLst>
          </p:cNvPr>
          <p:cNvGrpSpPr/>
          <p:nvPr/>
        </p:nvGrpSpPr>
        <p:grpSpPr>
          <a:xfrm>
            <a:off x="7976554" y="2222180"/>
            <a:ext cx="3677696" cy="816610"/>
            <a:chOff x="8390374" y="1139141"/>
            <a:chExt cx="3677696" cy="816610"/>
          </a:xfrm>
        </p:grpSpPr>
        <p:sp>
          <p:nvSpPr>
            <p:cNvPr id="16" name="Rectangle: Rounded Corners 14">
              <a:extLst>
                <a:ext uri="{FF2B5EF4-FFF2-40B4-BE49-F238E27FC236}">
                  <a16:creationId xmlns:a16="http://schemas.microsoft.com/office/drawing/2014/main" id="{CE5546E6-7FEF-DE52-6859-503EFDC9C3F8}"/>
                </a:ext>
              </a:extLst>
            </p:cNvPr>
            <p:cNvSpPr/>
            <p:nvPr/>
          </p:nvSpPr>
          <p:spPr>
            <a:xfrm>
              <a:off x="10078496" y="1139141"/>
              <a:ext cx="803868" cy="816610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X</a:t>
              </a:r>
            </a:p>
          </p:txBody>
        </p:sp>
        <p:cxnSp>
          <p:nvCxnSpPr>
            <p:cNvPr id="17" name="Straight Arrow Connector 16">
              <a:extLst>
                <a:ext uri="{FF2B5EF4-FFF2-40B4-BE49-F238E27FC236}">
                  <a16:creationId xmlns:a16="http://schemas.microsoft.com/office/drawing/2014/main" id="{478A12A2-2D37-BACB-7FE9-E97FD65A8F53}"/>
                </a:ext>
              </a:extLst>
            </p:cNvPr>
            <p:cNvCxnSpPr>
              <a:cxnSpLocks/>
              <a:endCxn id="16" idx="1"/>
            </p:cNvCxnSpPr>
            <p:nvPr/>
          </p:nvCxnSpPr>
          <p:spPr>
            <a:xfrm>
              <a:off x="8902839" y="1547446"/>
              <a:ext cx="1175657" cy="0"/>
            </a:xfrm>
            <a:prstGeom prst="straightConnector1">
              <a:avLst/>
            </a:prstGeom>
            <a:ln>
              <a:solidFill>
                <a:srgbClr val="00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Arrow Connector 17">
              <a:extLst>
                <a:ext uri="{FF2B5EF4-FFF2-40B4-BE49-F238E27FC236}">
                  <a16:creationId xmlns:a16="http://schemas.microsoft.com/office/drawing/2014/main" id="{37F4DC49-F569-3E46-3AF5-4B32EC56C3CA}"/>
                </a:ext>
              </a:extLst>
            </p:cNvPr>
            <p:cNvCxnSpPr>
              <a:cxnSpLocks/>
              <a:stCxn id="16" idx="3"/>
            </p:cNvCxnSpPr>
            <p:nvPr/>
          </p:nvCxnSpPr>
          <p:spPr>
            <a:xfrm>
              <a:off x="10882364" y="1547446"/>
              <a:ext cx="1185706" cy="0"/>
            </a:xfrm>
            <a:prstGeom prst="straightConnector1">
              <a:avLst/>
            </a:prstGeom>
            <a:ln>
              <a:solidFill>
                <a:srgbClr val="00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" name="TextBox 18">
                  <a:extLst>
                    <a:ext uri="{FF2B5EF4-FFF2-40B4-BE49-F238E27FC236}">
                      <a16:creationId xmlns:a16="http://schemas.microsoft.com/office/drawing/2014/main" id="{9F444015-D555-D0B5-6DF4-75D3D1D8633C}"/>
                    </a:ext>
                  </a:extLst>
                </p:cNvPr>
                <p:cNvSpPr txBox="1"/>
                <p:nvPr/>
              </p:nvSpPr>
              <p:spPr>
                <a:xfrm>
                  <a:off x="8390374" y="1139141"/>
                  <a:ext cx="1457010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𝛼</m:t>
                        </m:r>
                        <m:d>
                          <m:dPr>
                            <m:begChr m:val="|"/>
                            <m:endChr m:val="⟩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e>
                        </m:d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𝛽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|1⟩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8" name="TextBox 17">
                  <a:extLst>
                    <a:ext uri="{FF2B5EF4-FFF2-40B4-BE49-F238E27FC236}">
                      <a16:creationId xmlns:a16="http://schemas.microsoft.com/office/drawing/2014/main" id="{D41B84E7-C2DF-0708-CBD6-B52B7C08109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390374" y="1139141"/>
                  <a:ext cx="1457010" cy="369332"/>
                </a:xfrm>
                <a:prstGeom prst="rect">
                  <a:avLst/>
                </a:prstGeom>
                <a:blipFill>
                  <a:blip r:embed="rId6"/>
                  <a:stretch>
                    <a:fillRect b="-150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92483819-ADC5-24BF-B8C5-339DEA5379DE}"/>
                  </a:ext>
                </a:extLst>
              </p:cNvPr>
              <p:cNvSpPr txBox="1"/>
              <p:nvPr/>
            </p:nvSpPr>
            <p:spPr>
              <a:xfrm>
                <a:off x="10418303" y="2222180"/>
                <a:ext cx="145701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𝛽</m:t>
                      </m:r>
                      <m:d>
                        <m:dPr>
                          <m:begChr m:val="|"/>
                          <m:endChr m:val="⟩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𝛼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|1⟩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92483819-ADC5-24BF-B8C5-339DEA5379D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418303" y="2222180"/>
                <a:ext cx="1457010" cy="369332"/>
              </a:xfrm>
              <a:prstGeom prst="rect">
                <a:avLst/>
              </a:prstGeom>
              <a:blipFill>
                <a:blip r:embed="rId7"/>
                <a:stretch>
                  <a:fillRect b="-1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1" name="Group 20">
            <a:extLst>
              <a:ext uri="{FF2B5EF4-FFF2-40B4-BE49-F238E27FC236}">
                <a16:creationId xmlns:a16="http://schemas.microsoft.com/office/drawing/2014/main" id="{6BF27A8C-3B04-4C7B-4730-9EF957286451}"/>
              </a:ext>
            </a:extLst>
          </p:cNvPr>
          <p:cNvGrpSpPr/>
          <p:nvPr/>
        </p:nvGrpSpPr>
        <p:grpSpPr>
          <a:xfrm>
            <a:off x="7976554" y="3617779"/>
            <a:ext cx="3677696" cy="816610"/>
            <a:chOff x="8390374" y="1139141"/>
            <a:chExt cx="3677696" cy="816610"/>
          </a:xfrm>
        </p:grpSpPr>
        <p:sp>
          <p:nvSpPr>
            <p:cNvPr id="22" name="Rectangle: Rounded Corners 14">
              <a:extLst>
                <a:ext uri="{FF2B5EF4-FFF2-40B4-BE49-F238E27FC236}">
                  <a16:creationId xmlns:a16="http://schemas.microsoft.com/office/drawing/2014/main" id="{B04E5198-E75E-5202-121F-19865A39B412}"/>
                </a:ext>
              </a:extLst>
            </p:cNvPr>
            <p:cNvSpPr/>
            <p:nvPr/>
          </p:nvSpPr>
          <p:spPr>
            <a:xfrm>
              <a:off x="10078496" y="1139141"/>
              <a:ext cx="803868" cy="816610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Z</a:t>
              </a:r>
            </a:p>
          </p:txBody>
        </p:sp>
        <p:cxnSp>
          <p:nvCxnSpPr>
            <p:cNvPr id="23" name="Straight Arrow Connector 22">
              <a:extLst>
                <a:ext uri="{FF2B5EF4-FFF2-40B4-BE49-F238E27FC236}">
                  <a16:creationId xmlns:a16="http://schemas.microsoft.com/office/drawing/2014/main" id="{E840CAF1-6DED-BDBE-1744-113CE5D30A6E}"/>
                </a:ext>
              </a:extLst>
            </p:cNvPr>
            <p:cNvCxnSpPr>
              <a:cxnSpLocks/>
              <a:endCxn id="22" idx="1"/>
            </p:cNvCxnSpPr>
            <p:nvPr/>
          </p:nvCxnSpPr>
          <p:spPr>
            <a:xfrm>
              <a:off x="8902839" y="1547446"/>
              <a:ext cx="1175657" cy="0"/>
            </a:xfrm>
            <a:prstGeom prst="straightConnector1">
              <a:avLst/>
            </a:prstGeom>
            <a:ln>
              <a:solidFill>
                <a:srgbClr val="00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Arrow Connector 23">
              <a:extLst>
                <a:ext uri="{FF2B5EF4-FFF2-40B4-BE49-F238E27FC236}">
                  <a16:creationId xmlns:a16="http://schemas.microsoft.com/office/drawing/2014/main" id="{53A7F6F2-1C16-789E-949B-C2DFA97ED5B9}"/>
                </a:ext>
              </a:extLst>
            </p:cNvPr>
            <p:cNvCxnSpPr>
              <a:cxnSpLocks/>
              <a:stCxn id="22" idx="3"/>
            </p:cNvCxnSpPr>
            <p:nvPr/>
          </p:nvCxnSpPr>
          <p:spPr>
            <a:xfrm>
              <a:off x="10882364" y="1547446"/>
              <a:ext cx="1185706" cy="0"/>
            </a:xfrm>
            <a:prstGeom prst="straightConnector1">
              <a:avLst/>
            </a:prstGeom>
            <a:ln>
              <a:solidFill>
                <a:srgbClr val="00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5" name="TextBox 24">
                  <a:extLst>
                    <a:ext uri="{FF2B5EF4-FFF2-40B4-BE49-F238E27FC236}">
                      <a16:creationId xmlns:a16="http://schemas.microsoft.com/office/drawing/2014/main" id="{7595D7E3-54BF-C41B-DBF3-3C8ED6655259}"/>
                    </a:ext>
                  </a:extLst>
                </p:cNvPr>
                <p:cNvSpPr txBox="1"/>
                <p:nvPr/>
              </p:nvSpPr>
              <p:spPr>
                <a:xfrm>
                  <a:off x="8390374" y="1139141"/>
                  <a:ext cx="1457010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𝛼</m:t>
                        </m:r>
                        <m:d>
                          <m:dPr>
                            <m:begChr m:val="|"/>
                            <m:endChr m:val="⟩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e>
                        </m:d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𝛽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|1⟩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8" name="TextBox 17">
                  <a:extLst>
                    <a:ext uri="{FF2B5EF4-FFF2-40B4-BE49-F238E27FC236}">
                      <a16:creationId xmlns:a16="http://schemas.microsoft.com/office/drawing/2014/main" id="{D41B84E7-C2DF-0708-CBD6-B52B7C08109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390374" y="1139141"/>
                  <a:ext cx="1457010" cy="369332"/>
                </a:xfrm>
                <a:prstGeom prst="rect">
                  <a:avLst/>
                </a:prstGeom>
                <a:blipFill>
                  <a:blip r:embed="rId6"/>
                  <a:stretch>
                    <a:fillRect b="-150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F82A4F4B-987C-48D5-5333-88C149B10DDC}"/>
                  </a:ext>
                </a:extLst>
              </p:cNvPr>
              <p:cNvSpPr txBox="1"/>
              <p:nvPr/>
            </p:nvSpPr>
            <p:spPr>
              <a:xfrm>
                <a:off x="10418303" y="3617779"/>
                <a:ext cx="145701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𝛼</m:t>
                      </m:r>
                      <m:d>
                        <m:dPr>
                          <m:begChr m:val="|"/>
                          <m:endChr m:val="⟩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𝛽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|1⟩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F82A4F4B-987C-48D5-5333-88C149B10DD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418303" y="3617779"/>
                <a:ext cx="1457010" cy="369332"/>
              </a:xfrm>
              <a:prstGeom prst="rect">
                <a:avLst/>
              </a:prstGeom>
              <a:blipFill>
                <a:blip r:embed="rId8"/>
                <a:stretch>
                  <a:fillRect b="-1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60" name="Group 59">
            <a:extLst>
              <a:ext uri="{FF2B5EF4-FFF2-40B4-BE49-F238E27FC236}">
                <a16:creationId xmlns:a16="http://schemas.microsoft.com/office/drawing/2014/main" id="{74ED8427-ED37-3605-9A0A-8768EF07D560}"/>
              </a:ext>
            </a:extLst>
          </p:cNvPr>
          <p:cNvGrpSpPr/>
          <p:nvPr/>
        </p:nvGrpSpPr>
        <p:grpSpPr>
          <a:xfrm>
            <a:off x="944643" y="881588"/>
            <a:ext cx="2380446" cy="1830435"/>
            <a:chOff x="4508725" y="1052818"/>
            <a:chExt cx="3295220" cy="2547412"/>
          </a:xfrm>
        </p:grpSpPr>
        <p:sp>
          <p:nvSpPr>
            <p:cNvPr id="27" name="Rectangle: Rounded Corners 14">
              <a:extLst>
                <a:ext uri="{FF2B5EF4-FFF2-40B4-BE49-F238E27FC236}">
                  <a16:creationId xmlns:a16="http://schemas.microsoft.com/office/drawing/2014/main" id="{C22F467E-7702-4D5C-72E2-57932CCB328E}"/>
                </a:ext>
              </a:extLst>
            </p:cNvPr>
            <p:cNvSpPr/>
            <p:nvPr/>
          </p:nvSpPr>
          <p:spPr>
            <a:xfrm>
              <a:off x="4508725" y="1828882"/>
              <a:ext cx="803868" cy="816610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H</a:t>
              </a:r>
            </a:p>
          </p:txBody>
        </p:sp>
        <p:cxnSp>
          <p:nvCxnSpPr>
            <p:cNvPr id="28" name="Straight Arrow Connector 27">
              <a:extLst>
                <a:ext uri="{FF2B5EF4-FFF2-40B4-BE49-F238E27FC236}">
                  <a16:creationId xmlns:a16="http://schemas.microsoft.com/office/drawing/2014/main" id="{28939B5A-C019-B3AE-6850-8AD8DF9930C7}"/>
                </a:ext>
              </a:extLst>
            </p:cNvPr>
            <p:cNvCxnSpPr>
              <a:cxnSpLocks/>
              <a:endCxn id="27" idx="0"/>
            </p:cNvCxnSpPr>
            <p:nvPr/>
          </p:nvCxnSpPr>
          <p:spPr>
            <a:xfrm>
              <a:off x="4910659" y="1328499"/>
              <a:ext cx="0" cy="500383"/>
            </a:xfrm>
            <a:prstGeom prst="straightConnector1">
              <a:avLst/>
            </a:prstGeom>
            <a:ln>
              <a:solidFill>
                <a:srgbClr val="000000"/>
              </a:solidFill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Arrow Connector 28">
              <a:extLst>
                <a:ext uri="{FF2B5EF4-FFF2-40B4-BE49-F238E27FC236}">
                  <a16:creationId xmlns:a16="http://schemas.microsoft.com/office/drawing/2014/main" id="{36368790-A98F-7202-8DA6-5FCF770A9F64}"/>
                </a:ext>
              </a:extLst>
            </p:cNvPr>
            <p:cNvCxnSpPr>
              <a:cxnSpLocks/>
              <a:stCxn id="27" idx="2"/>
            </p:cNvCxnSpPr>
            <p:nvPr/>
          </p:nvCxnSpPr>
          <p:spPr>
            <a:xfrm>
              <a:off x="4910659" y="2645492"/>
              <a:ext cx="0" cy="546433"/>
            </a:xfrm>
            <a:prstGeom prst="straightConnector1">
              <a:avLst/>
            </a:prstGeom>
            <a:ln>
              <a:solidFill>
                <a:srgbClr val="000000"/>
              </a:solidFill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7" name="Rectangle: Rounded Corners 14">
              <a:extLst>
                <a:ext uri="{FF2B5EF4-FFF2-40B4-BE49-F238E27FC236}">
                  <a16:creationId xmlns:a16="http://schemas.microsoft.com/office/drawing/2014/main" id="{5E37D6DE-A19E-0236-D8F1-A01202A105E8}"/>
                </a:ext>
              </a:extLst>
            </p:cNvPr>
            <p:cNvSpPr/>
            <p:nvPr/>
          </p:nvSpPr>
          <p:spPr>
            <a:xfrm>
              <a:off x="7000077" y="1857537"/>
              <a:ext cx="803868" cy="816611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H</a:t>
              </a:r>
            </a:p>
          </p:txBody>
        </p:sp>
        <p:cxnSp>
          <p:nvCxnSpPr>
            <p:cNvPr id="38" name="Straight Arrow Connector 37">
              <a:extLst>
                <a:ext uri="{FF2B5EF4-FFF2-40B4-BE49-F238E27FC236}">
                  <a16:creationId xmlns:a16="http://schemas.microsoft.com/office/drawing/2014/main" id="{45FAF7CA-0E25-D262-4392-C61DEE4D8599}"/>
                </a:ext>
              </a:extLst>
            </p:cNvPr>
            <p:cNvCxnSpPr>
              <a:cxnSpLocks/>
              <a:stCxn id="37" idx="0"/>
            </p:cNvCxnSpPr>
            <p:nvPr/>
          </p:nvCxnSpPr>
          <p:spPr>
            <a:xfrm flipV="1">
              <a:off x="7402010" y="1336224"/>
              <a:ext cx="0" cy="521313"/>
            </a:xfrm>
            <a:prstGeom prst="straightConnector1">
              <a:avLst/>
            </a:prstGeom>
            <a:ln>
              <a:solidFill>
                <a:srgbClr val="000000"/>
              </a:solidFill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Arrow Connector 38">
              <a:extLst>
                <a:ext uri="{FF2B5EF4-FFF2-40B4-BE49-F238E27FC236}">
                  <a16:creationId xmlns:a16="http://schemas.microsoft.com/office/drawing/2014/main" id="{3D780C51-DF73-FABE-BD71-E5B68A4B6312}"/>
                </a:ext>
              </a:extLst>
            </p:cNvPr>
            <p:cNvCxnSpPr>
              <a:cxnSpLocks/>
              <a:endCxn id="37" idx="2"/>
            </p:cNvCxnSpPr>
            <p:nvPr/>
          </p:nvCxnSpPr>
          <p:spPr>
            <a:xfrm flipV="1">
              <a:off x="7402010" y="2674147"/>
              <a:ext cx="0" cy="517778"/>
            </a:xfrm>
            <a:prstGeom prst="straightConnector1">
              <a:avLst/>
            </a:prstGeom>
            <a:ln>
              <a:solidFill>
                <a:srgbClr val="000000"/>
              </a:solidFill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5" name="Rectangle: Rounded Corners 14">
              <a:extLst>
                <a:ext uri="{FF2B5EF4-FFF2-40B4-BE49-F238E27FC236}">
                  <a16:creationId xmlns:a16="http://schemas.microsoft.com/office/drawing/2014/main" id="{CAC8F65E-EE4B-B845-1C99-8F3A295D266A}"/>
                </a:ext>
              </a:extLst>
            </p:cNvPr>
            <p:cNvSpPr/>
            <p:nvPr/>
          </p:nvSpPr>
          <p:spPr>
            <a:xfrm>
              <a:off x="5765917" y="2783620"/>
              <a:ext cx="803868" cy="816610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Z</a:t>
              </a:r>
            </a:p>
          </p:txBody>
        </p:sp>
        <p:cxnSp>
          <p:nvCxnSpPr>
            <p:cNvPr id="46" name="Straight Arrow Connector 45">
              <a:extLst>
                <a:ext uri="{FF2B5EF4-FFF2-40B4-BE49-F238E27FC236}">
                  <a16:creationId xmlns:a16="http://schemas.microsoft.com/office/drawing/2014/main" id="{B47A4854-3297-02F2-5402-CC42F6C09897}"/>
                </a:ext>
              </a:extLst>
            </p:cNvPr>
            <p:cNvCxnSpPr>
              <a:cxnSpLocks/>
              <a:endCxn id="45" idx="1"/>
            </p:cNvCxnSpPr>
            <p:nvPr/>
          </p:nvCxnSpPr>
          <p:spPr>
            <a:xfrm>
              <a:off x="4910659" y="3191925"/>
              <a:ext cx="855258" cy="0"/>
            </a:xfrm>
            <a:prstGeom prst="straightConnector1">
              <a:avLst/>
            </a:prstGeom>
            <a:ln>
              <a:solidFill>
                <a:srgbClr val="000000"/>
              </a:solidFill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Straight Arrow Connector 46">
              <a:extLst>
                <a:ext uri="{FF2B5EF4-FFF2-40B4-BE49-F238E27FC236}">
                  <a16:creationId xmlns:a16="http://schemas.microsoft.com/office/drawing/2014/main" id="{94D053F7-C85A-6695-4E3E-5229BC23318C}"/>
                </a:ext>
              </a:extLst>
            </p:cNvPr>
            <p:cNvCxnSpPr>
              <a:cxnSpLocks/>
              <a:stCxn id="45" idx="3"/>
            </p:cNvCxnSpPr>
            <p:nvPr/>
          </p:nvCxnSpPr>
          <p:spPr>
            <a:xfrm>
              <a:off x="6569784" y="3191925"/>
              <a:ext cx="817026" cy="0"/>
            </a:xfrm>
            <a:prstGeom prst="straightConnector1">
              <a:avLst/>
            </a:prstGeom>
            <a:ln>
              <a:solidFill>
                <a:srgbClr val="000000"/>
              </a:solidFill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0" name="Rectangle: Rounded Corners 14">
              <a:extLst>
                <a:ext uri="{FF2B5EF4-FFF2-40B4-BE49-F238E27FC236}">
                  <a16:creationId xmlns:a16="http://schemas.microsoft.com/office/drawing/2014/main" id="{F683DD9A-6D37-A80B-94AE-DA00B572F76E}"/>
                </a:ext>
              </a:extLst>
            </p:cNvPr>
            <p:cNvSpPr/>
            <p:nvPr/>
          </p:nvSpPr>
          <p:spPr>
            <a:xfrm>
              <a:off x="5744093" y="1052818"/>
              <a:ext cx="803868" cy="816610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X</a:t>
              </a:r>
            </a:p>
          </p:txBody>
        </p:sp>
        <p:cxnSp>
          <p:nvCxnSpPr>
            <p:cNvPr id="51" name="Straight Arrow Connector 50">
              <a:extLst>
                <a:ext uri="{FF2B5EF4-FFF2-40B4-BE49-F238E27FC236}">
                  <a16:creationId xmlns:a16="http://schemas.microsoft.com/office/drawing/2014/main" id="{6239E85F-2F6C-F7C8-4541-C556878FB10C}"/>
                </a:ext>
              </a:extLst>
            </p:cNvPr>
            <p:cNvCxnSpPr>
              <a:cxnSpLocks/>
            </p:cNvCxnSpPr>
            <p:nvPr/>
          </p:nvCxnSpPr>
          <p:spPr>
            <a:xfrm>
              <a:off x="4888835" y="1337954"/>
              <a:ext cx="855258" cy="0"/>
            </a:xfrm>
            <a:prstGeom prst="straightConnector1">
              <a:avLst/>
            </a:prstGeom>
            <a:ln>
              <a:solidFill>
                <a:srgbClr val="000000"/>
              </a:solidFill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Arrow Connector 51">
              <a:extLst>
                <a:ext uri="{FF2B5EF4-FFF2-40B4-BE49-F238E27FC236}">
                  <a16:creationId xmlns:a16="http://schemas.microsoft.com/office/drawing/2014/main" id="{8A50FB91-D296-114C-A43C-50751132DB28}"/>
                </a:ext>
              </a:extLst>
            </p:cNvPr>
            <p:cNvCxnSpPr>
              <a:cxnSpLocks/>
            </p:cNvCxnSpPr>
            <p:nvPr/>
          </p:nvCxnSpPr>
          <p:spPr>
            <a:xfrm>
              <a:off x="6547961" y="1337954"/>
              <a:ext cx="838850" cy="0"/>
            </a:xfrm>
            <a:prstGeom prst="straightConnector1">
              <a:avLst/>
            </a:prstGeom>
            <a:ln>
              <a:solidFill>
                <a:srgbClr val="000000"/>
              </a:solidFill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61343422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73C111-C2C7-C057-1F2B-8F1931FBCF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2-Qubit gates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78F61D2-145B-A006-3606-F2075F756031}"/>
                  </a:ext>
                </a:extLst>
              </p:cNvPr>
              <p:cNvSpPr>
                <a:spLocks noGrp="1"/>
              </p:cNvSpPr>
              <p:nvPr>
                <p:ph sz="quarter" idx="1"/>
              </p:nvPr>
            </p:nvSpPr>
            <p:spPr>
              <a:xfrm>
                <a:off x="157506" y="2306784"/>
                <a:ext cx="7999357" cy="3260896"/>
              </a:xfrm>
            </p:spPr>
            <p:txBody>
              <a:bodyPr>
                <a:normAutofit fontScale="92500"/>
              </a:bodyPr>
              <a:lstStyle/>
              <a:p>
                <a:r>
                  <a:rPr lang="en-US" dirty="0"/>
                  <a:t>A 2-qubit gates takes as input a state that is in superposition of 4 basis states and changes the state.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𝑈</m:t>
                    </m:r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𝛼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00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𝛼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1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sSub>
                                      <m:sSubPr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𝛼</m:t>
                                        </m:r>
                                      </m:e>
                                      <m:sub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0</m:t>
                                        </m:r>
                                      </m:sub>
                                    </m:sSub>
                                  </m:e>
                                </m:mr>
                                <m:mr>
                                  <m:e>
                                    <m:sSub>
                                      <m:sSubPr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𝛼</m:t>
                                        </m:r>
                                      </m:e>
                                      <m:sub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11</m:t>
                                        </m:r>
                                      </m:sub>
                                    </m:sSub>
                                  </m:e>
                                </m:mr>
                              </m:m>
                            </m:e>
                          </m:mr>
                        </m:m>
                      </m:e>
                    </m:d>
                    <m:r>
                      <a:rPr lang="en-US" b="0" i="0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𝛽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00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𝛽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01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1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sSub>
                                      <m:sSubPr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𝛽</m:t>
                                        </m:r>
                                      </m:e>
                                      <m:sub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10</m:t>
                                        </m:r>
                                      </m:sub>
                                    </m:sSub>
                                  </m:e>
                                </m:mr>
                                <m:mr>
                                  <m:e>
                                    <m:sSub>
                                      <m:sSubPr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𝛽</m:t>
                                        </m:r>
                                      </m:e>
                                      <m:sub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11</m:t>
                                        </m:r>
                                      </m:sub>
                                    </m:sSub>
                                  </m:e>
                                </m:mr>
                              </m:m>
                            </m:e>
                          </m:mr>
                        </m:m>
                      </m:e>
                    </m:d>
                  </m:oMath>
                </a14:m>
                <a:endParaRPr lang="en-US" dirty="0"/>
              </a:p>
              <a:p>
                <a:pPr lvl="1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𝑈</m:t>
                    </m:r>
                  </m:oMath>
                </a14:m>
                <a:r>
                  <a:rPr lang="en-US" dirty="0"/>
                  <a:t> must be a 4x4 matrix.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𝑈</m:t>
                    </m:r>
                  </m:oMath>
                </a14:m>
                <a:r>
                  <a:rPr lang="en-US" dirty="0"/>
                  <a:t> must be Unitary, so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𝑈</m:t>
                        </m:r>
                      </m:e>
                      <m:sup>
                        <m: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†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𝑈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𝑈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𝑈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†</m:t>
                        </m:r>
                      </m:sup>
                    </m:sSup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𝐼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78F61D2-145B-A006-3606-F2075F75603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xfrm>
                <a:off x="157506" y="2306784"/>
                <a:ext cx="7999357" cy="3260896"/>
              </a:xfrm>
              <a:blipFill>
                <a:blip r:embed="rId2"/>
                <a:stretch>
                  <a:fillRect l="-686" t="-1495" r="-7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9" name="Group 18">
            <a:extLst>
              <a:ext uri="{FF2B5EF4-FFF2-40B4-BE49-F238E27FC236}">
                <a16:creationId xmlns:a16="http://schemas.microsoft.com/office/drawing/2014/main" id="{DEA34298-14B6-CA25-2421-7709F1650EC3}"/>
              </a:ext>
            </a:extLst>
          </p:cNvPr>
          <p:cNvGrpSpPr/>
          <p:nvPr/>
        </p:nvGrpSpPr>
        <p:grpSpPr>
          <a:xfrm>
            <a:off x="3025208" y="935886"/>
            <a:ext cx="6531313" cy="816610"/>
            <a:chOff x="3025208" y="935886"/>
            <a:chExt cx="6531313" cy="816610"/>
          </a:xfrm>
        </p:grpSpPr>
        <p:sp>
          <p:nvSpPr>
            <p:cNvPr id="5" name="Rectangle: Rounded Corners 14">
              <a:extLst>
                <a:ext uri="{FF2B5EF4-FFF2-40B4-BE49-F238E27FC236}">
                  <a16:creationId xmlns:a16="http://schemas.microsoft.com/office/drawing/2014/main" id="{9CA524F8-D55B-DB5F-0036-086C2F470323}"/>
                </a:ext>
              </a:extLst>
            </p:cNvPr>
            <p:cNvSpPr/>
            <p:nvPr/>
          </p:nvSpPr>
          <p:spPr>
            <a:xfrm>
              <a:off x="5825640" y="935886"/>
              <a:ext cx="803868" cy="816610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U</a:t>
              </a:r>
            </a:p>
          </p:txBody>
        </p:sp>
        <p:cxnSp>
          <p:nvCxnSpPr>
            <p:cNvPr id="6" name="Straight Arrow Connector 5">
              <a:extLst>
                <a:ext uri="{FF2B5EF4-FFF2-40B4-BE49-F238E27FC236}">
                  <a16:creationId xmlns:a16="http://schemas.microsoft.com/office/drawing/2014/main" id="{F599A680-CB7A-A8F1-F0A7-8800A8EC432D}"/>
                </a:ext>
              </a:extLst>
            </p:cNvPr>
            <p:cNvCxnSpPr>
              <a:cxnSpLocks/>
            </p:cNvCxnSpPr>
            <p:nvPr/>
          </p:nvCxnSpPr>
          <p:spPr>
            <a:xfrm>
              <a:off x="5195449" y="1198717"/>
              <a:ext cx="630191" cy="0"/>
            </a:xfrm>
            <a:prstGeom prst="straightConnector1">
              <a:avLst/>
            </a:prstGeom>
            <a:ln>
              <a:solidFill>
                <a:srgbClr val="00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Straight Arrow Connector 6">
              <a:extLst>
                <a:ext uri="{FF2B5EF4-FFF2-40B4-BE49-F238E27FC236}">
                  <a16:creationId xmlns:a16="http://schemas.microsoft.com/office/drawing/2014/main" id="{ABF5FD3C-9738-52DA-5B12-8BE9760C77BE}"/>
                </a:ext>
              </a:extLst>
            </p:cNvPr>
            <p:cNvCxnSpPr>
              <a:cxnSpLocks/>
            </p:cNvCxnSpPr>
            <p:nvPr/>
          </p:nvCxnSpPr>
          <p:spPr>
            <a:xfrm>
              <a:off x="6629508" y="1198717"/>
              <a:ext cx="592853" cy="0"/>
            </a:xfrm>
            <a:prstGeom prst="straightConnector1">
              <a:avLst/>
            </a:prstGeom>
            <a:ln>
              <a:solidFill>
                <a:srgbClr val="00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TextBox 7">
                  <a:extLst>
                    <a:ext uri="{FF2B5EF4-FFF2-40B4-BE49-F238E27FC236}">
                      <a16:creationId xmlns:a16="http://schemas.microsoft.com/office/drawing/2014/main" id="{8A284C1C-C248-7C9A-DC88-7788BDBADBC1}"/>
                    </a:ext>
                  </a:extLst>
                </p:cNvPr>
                <p:cNvSpPr txBox="1"/>
                <p:nvPr/>
              </p:nvSpPr>
              <p:spPr>
                <a:xfrm>
                  <a:off x="3025208" y="1024199"/>
                  <a:ext cx="2263760" cy="639983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𝛼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00</m:t>
                            </m:r>
                          </m:sub>
                        </m:sSub>
                        <m:d>
                          <m:dPr>
                            <m:begChr m:val="|"/>
                            <m:endChr m:val="⟩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00</m:t>
                            </m:r>
                          </m:e>
                        </m:d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𝛼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01</m:t>
                            </m:r>
                          </m:sub>
                        </m:sSub>
                        <m:d>
                          <m:dPr>
                            <m:begChr m:val="|"/>
                            <m:endChr m:val="⟩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01</m:t>
                            </m:r>
                          </m:e>
                        </m:d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𝛼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d>
                          <m:dPr>
                            <m:begChr m:val="|"/>
                            <m:endChr m:val="⟩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0</m:t>
                            </m:r>
                          </m:e>
                        </m:d>
                        <m:r>
                          <a:rPr lang="en-US" i="1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𝛼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d>
                          <m:dPr>
                            <m:begChr m:val="|"/>
                            <m:endChr m:val="⟩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d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8" name="TextBox 7">
                  <a:extLst>
                    <a:ext uri="{FF2B5EF4-FFF2-40B4-BE49-F238E27FC236}">
                      <a16:creationId xmlns:a16="http://schemas.microsoft.com/office/drawing/2014/main" id="{8A284C1C-C248-7C9A-DC88-7788BDBADBC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025208" y="1024199"/>
                  <a:ext cx="2263760" cy="639983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0" name="Straight Arrow Connector 9">
              <a:extLst>
                <a:ext uri="{FF2B5EF4-FFF2-40B4-BE49-F238E27FC236}">
                  <a16:creationId xmlns:a16="http://schemas.microsoft.com/office/drawing/2014/main" id="{238C7E13-7E8F-9907-416C-2246FE04A0F6}"/>
                </a:ext>
              </a:extLst>
            </p:cNvPr>
            <p:cNvCxnSpPr>
              <a:cxnSpLocks/>
            </p:cNvCxnSpPr>
            <p:nvPr/>
          </p:nvCxnSpPr>
          <p:spPr>
            <a:xfrm>
              <a:off x="5205840" y="1444635"/>
              <a:ext cx="619799" cy="0"/>
            </a:xfrm>
            <a:prstGeom prst="straightConnector1">
              <a:avLst/>
            </a:prstGeom>
            <a:ln>
              <a:solidFill>
                <a:srgbClr val="00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Arrow Connector 10">
              <a:extLst>
                <a:ext uri="{FF2B5EF4-FFF2-40B4-BE49-F238E27FC236}">
                  <a16:creationId xmlns:a16="http://schemas.microsoft.com/office/drawing/2014/main" id="{6B32884F-EE9D-040F-5A11-A410234485DE}"/>
                </a:ext>
              </a:extLst>
            </p:cNvPr>
            <p:cNvCxnSpPr>
              <a:cxnSpLocks/>
            </p:cNvCxnSpPr>
            <p:nvPr/>
          </p:nvCxnSpPr>
          <p:spPr>
            <a:xfrm>
              <a:off x="6629508" y="1444635"/>
              <a:ext cx="592853" cy="0"/>
            </a:xfrm>
            <a:prstGeom prst="straightConnector1">
              <a:avLst/>
            </a:prstGeom>
            <a:ln>
              <a:solidFill>
                <a:srgbClr val="00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" name="TextBox 17">
                  <a:extLst>
                    <a:ext uri="{FF2B5EF4-FFF2-40B4-BE49-F238E27FC236}">
                      <a16:creationId xmlns:a16="http://schemas.microsoft.com/office/drawing/2014/main" id="{915412C4-EF69-BA8F-4577-DFF547485A26}"/>
                    </a:ext>
                  </a:extLst>
                </p:cNvPr>
                <p:cNvSpPr txBox="1"/>
                <p:nvPr/>
              </p:nvSpPr>
              <p:spPr>
                <a:xfrm>
                  <a:off x="7292761" y="976962"/>
                  <a:ext cx="2263760" cy="639983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𝛽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00</m:t>
                            </m:r>
                          </m:sub>
                        </m:sSub>
                        <m:d>
                          <m:dPr>
                            <m:begChr m:val="|"/>
                            <m:endChr m:val="⟩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00</m:t>
                            </m:r>
                          </m:e>
                        </m:d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𝛽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01</m:t>
                            </m:r>
                          </m:sub>
                        </m:sSub>
                        <m:d>
                          <m:dPr>
                            <m:begChr m:val="|"/>
                            <m:endChr m:val="⟩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01</m:t>
                            </m:r>
                          </m:e>
                        </m:d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𝛽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d>
                          <m:dPr>
                            <m:begChr m:val="|"/>
                            <m:endChr m:val="⟩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0</m:t>
                            </m:r>
                          </m:e>
                        </m:d>
                        <m:r>
                          <a:rPr lang="en-US" i="1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𝛽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d>
                          <m:dPr>
                            <m:begChr m:val="|"/>
                            <m:endChr m:val="⟩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d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8" name="TextBox 17">
                  <a:extLst>
                    <a:ext uri="{FF2B5EF4-FFF2-40B4-BE49-F238E27FC236}">
                      <a16:creationId xmlns:a16="http://schemas.microsoft.com/office/drawing/2014/main" id="{915412C4-EF69-BA8F-4577-DFF547485A2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292761" y="976962"/>
                  <a:ext cx="2263760" cy="639983"/>
                </a:xfrm>
                <a:prstGeom prst="rect">
                  <a:avLst/>
                </a:prstGeom>
                <a:blipFill>
                  <a:blip r:embed="rId4"/>
                  <a:stretch>
                    <a:fillRect b="-7692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C5D8D314-CD62-DC78-21D6-8736F006F324}"/>
                  </a:ext>
                </a:extLst>
              </p:cNvPr>
              <p:cNvSpPr txBox="1"/>
              <p:nvPr/>
            </p:nvSpPr>
            <p:spPr>
              <a:xfrm>
                <a:off x="3647440" y="3242670"/>
                <a:ext cx="2448560" cy="115743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𝑈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/>
                            <m:e/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2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/>
                                  <m:e/>
                                </m:mr>
                              </m:m>
                            </m:e>
                          </m:mr>
                          <m:mr>
                            <m:e/>
                            <m:e/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2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/>
                                  <m:e/>
                                </m:mr>
                              </m:m>
                            </m:e>
                          </m:mr>
                          <m:mr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1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/>
                                </m:mr>
                                <m:mr>
                                  <m:e/>
                                </m:mr>
                              </m:m>
                            </m:e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1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/>
                                </m:mr>
                                <m:mr>
                                  <m:e/>
                                </m:mr>
                              </m:m>
                            </m:e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1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m>
                                      <m:mPr>
                                        <m:mcs>
                                          <m:mc>
                                            <m:mcPr>
                                              <m:count m:val="2"/>
                                              <m:mcJc m:val="center"/>
                                            </m:mcPr>
                                          </m:mc>
                                        </m:mcs>
                                        <m:ctrlP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mPr>
                                      <m:mr>
                                        <m:e/>
                                        <m:e/>
                                      </m:mr>
                                    </m:m>
                                  </m:e>
                                </m:mr>
                                <m:mr>
                                  <m:e>
                                    <m:m>
                                      <m:mPr>
                                        <m:mcs>
                                          <m:mc>
                                            <m:mcPr>
                                              <m:count m:val="2"/>
                                              <m:mcJc m:val="center"/>
                                            </m:mcPr>
                                          </m:mc>
                                        </m:mcs>
                                        <m:ctrlP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mPr>
                                      <m:mr>
                                        <m:e/>
                                        <m:e/>
                                      </m:mr>
                                    </m:m>
                                  </m:e>
                                </m:mr>
                              </m:m>
                            </m:e>
                          </m:mr>
                        </m:m>
                      </m:e>
                    </m:d>
                  </m:oMath>
                </a14:m>
                <a:r>
                  <a:rPr lang="en-US" dirty="0"/>
                  <a:t> </a:t>
                </a: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C5D8D314-CD62-DC78-21D6-8736F006F32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47440" y="3242670"/>
                <a:ext cx="2448560" cy="1157433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9477123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17A2E1-685D-CD15-8CFE-4977203F73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CNOT gate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36B6108-9667-ECF5-F753-B9A60A27F711}"/>
                  </a:ext>
                </a:extLst>
              </p:cNvPr>
              <p:cNvSpPr>
                <a:spLocks noGrp="1"/>
              </p:cNvSpPr>
              <p:nvPr>
                <p:ph sz="quarter" idx="1"/>
              </p:nvPr>
            </p:nvSpPr>
            <p:spPr>
              <a:xfrm>
                <a:off x="619760" y="3381000"/>
                <a:ext cx="2733038" cy="2491755"/>
              </a:xfrm>
            </p:spPr>
            <p:txBody>
              <a:bodyPr>
                <a:normAutofit fontScale="85000" lnSpcReduction="10000"/>
              </a:bodyPr>
              <a:lstStyle/>
              <a:p>
                <a:r>
                  <a:rPr lang="en-US" dirty="0"/>
                  <a:t>CNOT gate</a:t>
                </a:r>
              </a:p>
              <a:p>
                <a:pPr lvl="1"/>
                <a14:m>
                  <m:oMath xmlns:m="http://schemas.openxmlformats.org/officeDocument/2006/math">
                    <m:d>
                      <m:dPr>
                        <m:begChr m:val="|"/>
                        <m:endChr m:val="⟩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00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→</m:t>
                    </m:r>
                    <m:d>
                      <m:dPr>
                        <m:begChr m:val="|"/>
                        <m:endChr m:val="⟩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00</m:t>
                        </m:r>
                      </m:e>
                    </m:d>
                  </m:oMath>
                </a14:m>
                <a:endParaRPr lang="en-US" b="0" dirty="0"/>
              </a:p>
              <a:p>
                <a:pPr lvl="1"/>
                <a14:m>
                  <m:oMath xmlns:m="http://schemas.openxmlformats.org/officeDocument/2006/math">
                    <m:d>
                      <m:dPr>
                        <m:begChr m:val="|"/>
                        <m:endChr m:val="⟩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01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→</m:t>
                    </m:r>
                    <m:d>
                      <m:dPr>
                        <m:begChr m:val="|"/>
                        <m:endChr m:val="⟩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01</m:t>
                        </m:r>
                      </m:e>
                    </m:d>
                  </m:oMath>
                </a14:m>
                <a:endParaRPr lang="en-US" b="0" dirty="0"/>
              </a:p>
              <a:p>
                <a:pPr lvl="1"/>
                <a14:m>
                  <m:oMath xmlns:m="http://schemas.openxmlformats.org/officeDocument/2006/math">
                    <m:d>
                      <m:dPr>
                        <m:begChr m:val="|"/>
                        <m:endChr m:val="⟩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10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→</m:t>
                    </m:r>
                    <m:d>
                      <m:dPr>
                        <m:begChr m:val="|"/>
                        <m:endChr m:val="⟩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11</m:t>
                        </m:r>
                      </m:e>
                    </m:d>
                  </m:oMath>
                </a14:m>
                <a:endParaRPr lang="en-US" b="0" dirty="0"/>
              </a:p>
              <a:p>
                <a:pPr lvl="1"/>
                <a14:m>
                  <m:oMath xmlns:m="http://schemas.openxmlformats.org/officeDocument/2006/math">
                    <m:d>
                      <m:dPr>
                        <m:begChr m:val="|"/>
                        <m:endChr m:val="⟩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11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→</m:t>
                    </m:r>
                    <m:d>
                      <m:dPr>
                        <m:begChr m:val="|"/>
                        <m:endChr m:val="⟩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00</m:t>
                        </m:r>
                      </m:e>
                    </m:d>
                  </m:oMath>
                </a14:m>
                <a:endParaRPr lang="en-US" b="0" dirty="0"/>
              </a:p>
              <a:p>
                <a:r>
                  <a:rPr lang="en-US" dirty="0"/>
                  <a:t>Is CNOT Unitary?</a:t>
                </a:r>
                <a:endParaRPr lang="en-US" b="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36B6108-9667-ECF5-F753-B9A60A27F71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xfrm>
                <a:off x="619760" y="3381000"/>
                <a:ext cx="2733038" cy="2491755"/>
              </a:xfrm>
              <a:blipFill>
                <a:blip r:embed="rId2"/>
                <a:stretch>
                  <a:fillRect l="-1563" t="-343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1" name="Group 40">
            <a:extLst>
              <a:ext uri="{FF2B5EF4-FFF2-40B4-BE49-F238E27FC236}">
                <a16:creationId xmlns:a16="http://schemas.microsoft.com/office/drawing/2014/main" id="{8D8F2BF7-088D-E63B-538F-FAB4C7FC9014}"/>
              </a:ext>
            </a:extLst>
          </p:cNvPr>
          <p:cNvGrpSpPr/>
          <p:nvPr/>
        </p:nvGrpSpPr>
        <p:grpSpPr>
          <a:xfrm>
            <a:off x="619760" y="1070231"/>
            <a:ext cx="2418078" cy="1160892"/>
            <a:chOff x="5080000" y="625617"/>
            <a:chExt cx="2418078" cy="1160892"/>
          </a:xfrm>
        </p:grpSpPr>
        <p:cxnSp>
          <p:nvCxnSpPr>
            <p:cNvPr id="6" name="Straight Arrow Connector 5">
              <a:extLst>
                <a:ext uri="{FF2B5EF4-FFF2-40B4-BE49-F238E27FC236}">
                  <a16:creationId xmlns:a16="http://schemas.microsoft.com/office/drawing/2014/main" id="{86EA3FED-D367-D03A-B26D-9E27B0422F04}"/>
                </a:ext>
              </a:extLst>
            </p:cNvPr>
            <p:cNvCxnSpPr>
              <a:cxnSpLocks/>
              <a:endCxn id="12" idx="2"/>
            </p:cNvCxnSpPr>
            <p:nvPr/>
          </p:nvCxnSpPr>
          <p:spPr>
            <a:xfrm>
              <a:off x="5201920" y="1000607"/>
              <a:ext cx="736600" cy="14276"/>
            </a:xfrm>
            <a:prstGeom prst="straightConnector1">
              <a:avLst/>
            </a:prstGeom>
            <a:ln>
              <a:solidFill>
                <a:srgbClr val="00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Straight Arrow Connector 6">
              <a:extLst>
                <a:ext uri="{FF2B5EF4-FFF2-40B4-BE49-F238E27FC236}">
                  <a16:creationId xmlns:a16="http://schemas.microsoft.com/office/drawing/2014/main" id="{AF84DC54-0691-CEBA-ED2E-952638FE6ADB}"/>
                </a:ext>
              </a:extLst>
            </p:cNvPr>
            <p:cNvCxnSpPr>
              <a:cxnSpLocks/>
              <a:stCxn id="12" idx="6"/>
            </p:cNvCxnSpPr>
            <p:nvPr/>
          </p:nvCxnSpPr>
          <p:spPr>
            <a:xfrm>
              <a:off x="6253480" y="1014883"/>
              <a:ext cx="777240" cy="0"/>
            </a:xfrm>
            <a:prstGeom prst="straightConnector1">
              <a:avLst/>
            </a:prstGeom>
            <a:ln>
              <a:solidFill>
                <a:srgbClr val="00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Arrow Connector 8">
              <a:extLst>
                <a:ext uri="{FF2B5EF4-FFF2-40B4-BE49-F238E27FC236}">
                  <a16:creationId xmlns:a16="http://schemas.microsoft.com/office/drawing/2014/main" id="{57AA3117-4E57-190A-6F1F-C2C1B0C6D506}"/>
                </a:ext>
              </a:extLst>
            </p:cNvPr>
            <p:cNvCxnSpPr>
              <a:cxnSpLocks/>
              <a:endCxn id="20" idx="2"/>
            </p:cNvCxnSpPr>
            <p:nvPr/>
          </p:nvCxnSpPr>
          <p:spPr>
            <a:xfrm>
              <a:off x="5201920" y="1615695"/>
              <a:ext cx="736600" cy="6730"/>
            </a:xfrm>
            <a:prstGeom prst="straightConnector1">
              <a:avLst/>
            </a:prstGeom>
            <a:ln>
              <a:solidFill>
                <a:srgbClr val="00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Arrow Connector 9">
              <a:extLst>
                <a:ext uri="{FF2B5EF4-FFF2-40B4-BE49-F238E27FC236}">
                  <a16:creationId xmlns:a16="http://schemas.microsoft.com/office/drawing/2014/main" id="{A458A077-3D5F-7C68-9224-E9406CC2D0E3}"/>
                </a:ext>
              </a:extLst>
            </p:cNvPr>
            <p:cNvCxnSpPr>
              <a:cxnSpLocks/>
              <a:stCxn id="20" idx="6"/>
            </p:cNvCxnSpPr>
            <p:nvPr/>
          </p:nvCxnSpPr>
          <p:spPr>
            <a:xfrm>
              <a:off x="6253480" y="1622425"/>
              <a:ext cx="777240" cy="0"/>
            </a:xfrm>
            <a:prstGeom prst="straightConnector1">
              <a:avLst/>
            </a:prstGeom>
            <a:ln>
              <a:solidFill>
                <a:srgbClr val="00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E22DCC69-935B-62AA-0D26-E6D849145C3D}"/>
                </a:ext>
              </a:extLst>
            </p:cNvPr>
            <p:cNvSpPr/>
            <p:nvPr/>
          </p:nvSpPr>
          <p:spPr>
            <a:xfrm>
              <a:off x="5938520" y="865075"/>
              <a:ext cx="314960" cy="299616"/>
            </a:xfrm>
            <a:prstGeom prst="ellipse">
              <a:avLst/>
            </a:prstGeom>
            <a:solidFill>
              <a:schemeClr val="tx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Flowchart: Or 19">
              <a:extLst>
                <a:ext uri="{FF2B5EF4-FFF2-40B4-BE49-F238E27FC236}">
                  <a16:creationId xmlns:a16="http://schemas.microsoft.com/office/drawing/2014/main" id="{E2296F28-81CF-236F-4331-53872EE51D21}"/>
                </a:ext>
              </a:extLst>
            </p:cNvPr>
            <p:cNvSpPr/>
            <p:nvPr/>
          </p:nvSpPr>
          <p:spPr>
            <a:xfrm>
              <a:off x="5938520" y="1458341"/>
              <a:ext cx="314960" cy="328168"/>
            </a:xfrm>
            <a:prstGeom prst="flowChartOr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EC768D2E-7C80-FFEB-39C1-68B9F316F894}"/>
                </a:ext>
              </a:extLst>
            </p:cNvPr>
            <p:cNvCxnSpPr>
              <a:cxnSpLocks/>
              <a:stCxn id="20" idx="0"/>
              <a:endCxn id="12" idx="4"/>
            </p:cNvCxnSpPr>
            <p:nvPr/>
          </p:nvCxnSpPr>
          <p:spPr>
            <a:xfrm flipV="1">
              <a:off x="6096000" y="1164691"/>
              <a:ext cx="0" cy="293650"/>
            </a:xfrm>
            <a:prstGeom prst="line">
              <a:avLst/>
            </a:prstGeom>
            <a:ln w="19050">
              <a:headEnd type="none" w="med" len="med"/>
              <a:tailEnd type="non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5" name="TextBox 34">
                  <a:extLst>
                    <a:ext uri="{FF2B5EF4-FFF2-40B4-BE49-F238E27FC236}">
                      <a16:creationId xmlns:a16="http://schemas.microsoft.com/office/drawing/2014/main" id="{0E959319-096B-6F30-9212-6778C0587A44}"/>
                    </a:ext>
                  </a:extLst>
                </p:cNvPr>
                <p:cNvSpPr txBox="1"/>
                <p:nvPr/>
              </p:nvSpPr>
              <p:spPr>
                <a:xfrm>
                  <a:off x="5080000" y="650240"/>
                  <a:ext cx="345440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𝑎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35" name="TextBox 34">
                  <a:extLst>
                    <a:ext uri="{FF2B5EF4-FFF2-40B4-BE49-F238E27FC236}">
                      <a16:creationId xmlns:a16="http://schemas.microsoft.com/office/drawing/2014/main" id="{0E959319-096B-6F30-9212-6778C0587A4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080000" y="650240"/>
                  <a:ext cx="345440" cy="369332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8" name="TextBox 37">
                  <a:extLst>
                    <a:ext uri="{FF2B5EF4-FFF2-40B4-BE49-F238E27FC236}">
                      <a16:creationId xmlns:a16="http://schemas.microsoft.com/office/drawing/2014/main" id="{E2DAF666-CA52-802A-A108-C0C0507F16C0}"/>
                    </a:ext>
                  </a:extLst>
                </p:cNvPr>
                <p:cNvSpPr txBox="1"/>
                <p:nvPr/>
              </p:nvSpPr>
              <p:spPr>
                <a:xfrm>
                  <a:off x="5080000" y="1246363"/>
                  <a:ext cx="345440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𝑏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38" name="TextBox 37">
                  <a:extLst>
                    <a:ext uri="{FF2B5EF4-FFF2-40B4-BE49-F238E27FC236}">
                      <a16:creationId xmlns:a16="http://schemas.microsoft.com/office/drawing/2014/main" id="{E2DAF666-CA52-802A-A108-C0C0507F16C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080000" y="1246363"/>
                  <a:ext cx="345440" cy="369332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9" name="TextBox 38">
                  <a:extLst>
                    <a:ext uri="{FF2B5EF4-FFF2-40B4-BE49-F238E27FC236}">
                      <a16:creationId xmlns:a16="http://schemas.microsoft.com/office/drawing/2014/main" id="{FD620EEB-E1C7-E66F-11EA-F335FE2D2CB8}"/>
                    </a:ext>
                  </a:extLst>
                </p:cNvPr>
                <p:cNvSpPr txBox="1"/>
                <p:nvPr/>
              </p:nvSpPr>
              <p:spPr>
                <a:xfrm>
                  <a:off x="6858000" y="625617"/>
                  <a:ext cx="345440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𝑎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39" name="TextBox 38">
                  <a:extLst>
                    <a:ext uri="{FF2B5EF4-FFF2-40B4-BE49-F238E27FC236}">
                      <a16:creationId xmlns:a16="http://schemas.microsoft.com/office/drawing/2014/main" id="{FD620EEB-E1C7-E66F-11EA-F335FE2D2CB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858000" y="625617"/>
                  <a:ext cx="345440" cy="369332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0" name="TextBox 39">
                  <a:extLst>
                    <a:ext uri="{FF2B5EF4-FFF2-40B4-BE49-F238E27FC236}">
                      <a16:creationId xmlns:a16="http://schemas.microsoft.com/office/drawing/2014/main" id="{74620ED7-C0A5-F793-F77E-2890FAD77344}"/>
                    </a:ext>
                  </a:extLst>
                </p:cNvPr>
                <p:cNvSpPr txBox="1"/>
                <p:nvPr/>
              </p:nvSpPr>
              <p:spPr>
                <a:xfrm>
                  <a:off x="6857999" y="1221740"/>
                  <a:ext cx="640079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⨁</m:t>
                        </m:r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𝑎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40" name="TextBox 39">
                  <a:extLst>
                    <a:ext uri="{FF2B5EF4-FFF2-40B4-BE49-F238E27FC236}">
                      <a16:creationId xmlns:a16="http://schemas.microsoft.com/office/drawing/2014/main" id="{74620ED7-C0A5-F793-F77E-2890FAD7734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857999" y="1221740"/>
                  <a:ext cx="640079" cy="369332"/>
                </a:xfrm>
                <a:prstGeom prst="rect">
                  <a:avLst/>
                </a:prstGeom>
                <a:blipFill>
                  <a:blip r:embed="rId6"/>
                  <a:stretch>
                    <a:fillRect b="-3279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01F360DB-F119-0D09-159A-B16BD2F39051}"/>
                  </a:ext>
                </a:extLst>
              </p:cNvPr>
              <p:cNvSpPr txBox="1"/>
              <p:nvPr/>
            </p:nvSpPr>
            <p:spPr>
              <a:xfrm>
                <a:off x="5852159" y="1125822"/>
                <a:ext cx="2672080" cy="113030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𝐶𝑁𝑂𝑇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2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</m:mr>
                              </m:m>
                            </m:e>
                          </m:mr>
                          <m:m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2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</m:mr>
                              </m:m>
                            </m:e>
                          </m:mr>
                          <m:mr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1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</m:mr>
                                <m:m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</m:mr>
                              </m:m>
                            </m:e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1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</m:mr>
                                <m:m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</m:mr>
                              </m:m>
                            </m:e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1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m>
                                      <m:mPr>
                                        <m:mcs>
                                          <m:mc>
                                            <m:mcPr>
                                              <m:count m:val="2"/>
                                              <m:mcJc m:val="center"/>
                                            </m:mcPr>
                                          </m:mc>
                                        </m:mcs>
                                        <m:ctrlP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mPr>
                                      <m:mr>
                                        <m:e>
                                          <m:r>
                                            <m:rPr>
                                              <m:brk m:alnAt="7"/>
                                            </m:rP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0</m:t>
                                          </m:r>
                                        </m:e>
                                        <m:e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1</m:t>
                                          </m:r>
                                        </m:e>
                                      </m:mr>
                                    </m:m>
                                  </m:e>
                                </m:mr>
                                <m:mr>
                                  <m:e>
                                    <m:m>
                                      <m:mPr>
                                        <m:mcs>
                                          <m:mc>
                                            <m:mcPr>
                                              <m:count m:val="2"/>
                                              <m:mcJc m:val="center"/>
                                            </m:mcPr>
                                          </m:mc>
                                        </m:mcs>
                                        <m:ctrlP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mPr>
                                      <m:mr>
                                        <m:e>
                                          <m:r>
                                            <m:rPr>
                                              <m:brk m:alnAt="7"/>
                                            </m:rP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1</m:t>
                                          </m:r>
                                        </m:e>
                                        <m:e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0</m:t>
                                          </m:r>
                                        </m:e>
                                      </m:mr>
                                    </m:m>
                                  </m:e>
                                </m:mr>
                              </m:m>
                            </m:e>
                          </m:mr>
                        </m:m>
                      </m:e>
                    </m:d>
                  </m:oMath>
                </a14:m>
                <a:r>
                  <a:rPr lang="en-US" dirty="0"/>
                  <a:t> </a:t>
                </a:r>
              </a:p>
            </p:txBody>
          </p:sp>
        </mc:Choice>
        <mc:Fallback xmlns="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01F360DB-F119-0D09-159A-B16BD2F3905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52159" y="1125822"/>
                <a:ext cx="2672080" cy="1130309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87E5F558-DA44-4936-E771-77BD2AAD6533}"/>
                  </a:ext>
                </a:extLst>
              </p:cNvPr>
              <p:cNvSpPr txBox="1"/>
              <p:nvPr/>
            </p:nvSpPr>
            <p:spPr>
              <a:xfrm>
                <a:off x="4632959" y="2918711"/>
                <a:ext cx="5857240" cy="64633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d>
                      <m:dPr>
                        <m:begChr m:val="|"/>
                        <m:endChr m:val="⟩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𝜓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00</m:t>
                        </m:r>
                      </m:sub>
                    </m:sSub>
                    <m:d>
                      <m:dPr>
                        <m:begChr m:val="|"/>
                        <m:endChr m:val="⟩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00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d>
                      <m:dPr>
                        <m:begChr m:val="|"/>
                        <m:endChr m:val="⟩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+</m:t>
                    </m:r>
                  </m:oMath>
                </a14:m>
                <a:r>
                  <a:rPr lang="en-US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d>
                      <m:dPr>
                        <m:begChr m:val="|"/>
                        <m:endChr m:val="⟩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+ 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11</m:t>
                        </m:r>
                      </m:sub>
                    </m:sSub>
                    <m:d>
                      <m:dPr>
                        <m:begChr m:val="|"/>
                        <m:endChr m:val="⟩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11</m:t>
                        </m:r>
                      </m:e>
                    </m:d>
                  </m:oMath>
                </a14:m>
                <a:endParaRPr lang="en-US" b="0" dirty="0"/>
              </a:p>
              <a:p>
                <a:pPr lvl="1" algn="ctr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𝐶𝑁𝑂𝑇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d>
                      <m:dPr>
                        <m:begChr m:val="|"/>
                        <m:endChr m:val="⟩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𝜓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00</m:t>
                        </m:r>
                      </m:sub>
                    </m:sSub>
                    <m:d>
                      <m:dPr>
                        <m:begChr m:val="|"/>
                        <m:endChr m:val="⟩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00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d>
                      <m:dPr>
                        <m:begChr m:val="|"/>
                        <m:endChr m:val="⟩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+</m:t>
                    </m:r>
                  </m:oMath>
                </a14:m>
                <a:r>
                  <a:rPr lang="en-US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11</m:t>
                        </m:r>
                      </m:sub>
                    </m:sSub>
                    <m:d>
                      <m:dPr>
                        <m:begChr m:val="|"/>
                        <m:endChr m:val="⟩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+ 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10</m:t>
                        </m:r>
                      </m:sub>
                    </m:sSub>
                    <m:d>
                      <m:dPr>
                        <m:begChr m:val="|"/>
                        <m:endChr m:val="⟩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11</m:t>
                        </m:r>
                      </m:e>
                    </m:d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87E5F558-DA44-4936-E771-77BD2AAD653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32959" y="2918711"/>
                <a:ext cx="5857240" cy="646331"/>
              </a:xfrm>
              <a:prstGeom prst="rect">
                <a:avLst/>
              </a:prstGeom>
              <a:blipFill>
                <a:blip r:embed="rId8"/>
                <a:stretch>
                  <a:fillRect b="-75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7663973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45FD8F-9A0E-52A0-7044-CE296163E6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Multi-qubit gates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9A3D6E2-3748-C5EC-4337-2DB728A5866D}"/>
                  </a:ext>
                </a:extLst>
              </p:cNvPr>
              <p:cNvSpPr>
                <a:spLocks noGrp="1"/>
              </p:cNvSpPr>
              <p:nvPr>
                <p:ph sz="quarter" idx="1"/>
              </p:nvPr>
            </p:nvSpPr>
            <p:spPr>
              <a:xfrm>
                <a:off x="157507" y="1032692"/>
                <a:ext cx="7889213" cy="5225868"/>
              </a:xfrm>
            </p:spPr>
            <p:txBody>
              <a:bodyPr>
                <a:normAutofit fontScale="70000" lnSpcReduction="20000"/>
              </a:bodyPr>
              <a:lstStyle/>
              <a:p>
                <a:r>
                  <a:rPr lang="en-US" dirty="0"/>
                  <a:t>How do 2 qubit gates work?</a:t>
                </a:r>
              </a:p>
              <a:p>
                <a:r>
                  <a:rPr lang="en-US" dirty="0"/>
                  <a:t>If we make a 2 qubit gate out of them, what is the 4x4 transform?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𝑈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</m:mr>
                          <m:m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lang="en-US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𝑈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𝑔</m:t>
                              </m:r>
                            </m:e>
                          </m:mr>
                          <m:m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lang="en-US" dirty="0"/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𝑈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𝑈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⨂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𝑈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m>
                                    <m:mPr>
                                      <m:mcs>
                                        <m:mc>
                                          <m:mcPr>
                                            <m:count m:val="2"/>
                                            <m:mcJc m:val="center"/>
                                          </m:mcPr>
                                        </m:mc>
                                      </m:mcs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mPr>
                                    <m:mr>
                                      <m:e>
                                        <m:r>
                                          <m:rPr>
                                            <m:brk m:alnAt="7"/>
                                          </m:rP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𝑒</m:t>
                                        </m:r>
                                      </m:e>
                                      <m:e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𝑔</m:t>
                                        </m:r>
                                      </m:e>
                                    </m:mr>
                                    <m:mr>
                                      <m:e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𝑓</m:t>
                                        </m:r>
                                      </m:e>
                                      <m:e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h</m:t>
                                        </m:r>
                                      </m:e>
                                    </m:mr>
                                  </m:m>
                                </m:e>
                              </m:d>
                            </m:e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m>
                                    <m:mPr>
                                      <m:mcs>
                                        <m:mc>
                                          <m:mcPr>
                                            <m:count m:val="2"/>
                                            <m:mcJc m:val="center"/>
                                          </m:mcPr>
                                        </m:mc>
                                      </m:mcs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mPr>
                                    <m:mr>
                                      <m:e>
                                        <m:r>
                                          <m:rPr>
                                            <m:brk m:alnAt="7"/>
                                          </m:r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𝑒</m:t>
                                        </m:r>
                                      </m:e>
                                      <m:e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𝑔</m:t>
                                        </m:r>
                                      </m:e>
                                    </m:mr>
                                    <m:mr>
                                      <m:e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𝑓</m:t>
                                        </m:r>
                                      </m:e>
                                      <m:e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h</m:t>
                                        </m:r>
                                      </m:e>
                                    </m:mr>
                                  </m:m>
                                </m:e>
                              </m:d>
                            </m:e>
                          </m:mr>
                          <m:m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m>
                                    <m:mPr>
                                      <m:mcs>
                                        <m:mc>
                                          <m:mcPr>
                                            <m:count m:val="2"/>
                                            <m:mcJc m:val="center"/>
                                          </m:mcPr>
                                        </m:mc>
                                      </m:mcs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mPr>
                                    <m:mr>
                                      <m:e>
                                        <m:r>
                                          <m:rPr>
                                            <m:brk m:alnAt="7"/>
                                          </m:r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𝑒</m:t>
                                        </m:r>
                                      </m:e>
                                      <m:e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𝑔</m:t>
                                        </m:r>
                                      </m:e>
                                    </m:mr>
                                    <m:mr>
                                      <m:e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𝑓</m:t>
                                        </m:r>
                                      </m:e>
                                      <m:e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h</m:t>
                                        </m:r>
                                      </m:e>
                                    </m:mr>
                                  </m:m>
                                </m:e>
                              </m:d>
                            </m:e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m>
                                    <m:mPr>
                                      <m:mcs>
                                        <m:mc>
                                          <m:mcPr>
                                            <m:count m:val="2"/>
                                            <m:mcJc m:val="center"/>
                                          </m:mcPr>
                                        </m:mc>
                                      </m:mcs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mPr>
                                    <m:mr>
                                      <m:e>
                                        <m:r>
                                          <m:rPr>
                                            <m:brk m:alnAt="7"/>
                                          </m:r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𝑒</m:t>
                                        </m:r>
                                      </m:e>
                                      <m:e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𝑔</m:t>
                                        </m:r>
                                      </m:e>
                                    </m:mr>
                                    <m:mr>
                                      <m:e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𝑓</m:t>
                                        </m:r>
                                      </m:e>
                                      <m:e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h</m:t>
                                        </m:r>
                                      </m:e>
                                    </m:mr>
                                  </m:m>
                                </m:e>
                              </m:d>
                            </m:e>
                          </m:mr>
                        </m:m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𝑎𝑔</m:t>
                              </m:r>
                            </m:e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2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𝑐</m:t>
                                    </m:r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𝑒</m:t>
                                    </m:r>
                                  </m:e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𝑐𝑔</m:t>
                                    </m:r>
                                  </m:e>
                                </m:mr>
                              </m:m>
                            </m:e>
                          </m:mr>
                          <m:m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𝑎𝑓</m:t>
                              </m:r>
                            </m:e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𝑎h</m:t>
                              </m:r>
                            </m:e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2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𝑐</m:t>
                                    </m:r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𝑓</m:t>
                                    </m:r>
                                  </m:e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𝑐h</m:t>
                                    </m:r>
                                  </m:e>
                                </m:mr>
                              </m:m>
                            </m:e>
                          </m:mr>
                          <m:mr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1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𝑏</m:t>
                                    </m:r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𝑒</m:t>
                                    </m:r>
                                  </m:e>
                                </m:mr>
                                <m:m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𝑏𝑓</m:t>
                                    </m:r>
                                  </m:e>
                                </m:mr>
                              </m:m>
                            </m:e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1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𝑏</m:t>
                                    </m:r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𝑔</m:t>
                                    </m:r>
                                  </m:e>
                                </m:mr>
                                <m:m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𝑏h</m:t>
                                    </m:r>
                                  </m:e>
                                </m:mr>
                              </m:m>
                            </m:e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1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m>
                                      <m:mPr>
                                        <m:mcs>
                                          <m:mc>
                                            <m:mcPr>
                                              <m:count m:val="2"/>
                                              <m:mcJc m:val="center"/>
                                            </m:mcPr>
                                          </m:mc>
                                        </m:mcs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mPr>
                                      <m:mr>
                                        <m:e>
                                          <m:r>
                                            <m:rPr>
                                              <m:brk m:alnAt="7"/>
                                            </m:rP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𝑑</m:t>
                                          </m:r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𝑒</m:t>
                                          </m:r>
                                        </m:e>
                                        <m:e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𝑑𝑔</m:t>
                                          </m:r>
                                        </m:e>
                                      </m:mr>
                                    </m:m>
                                  </m:e>
                                </m:mr>
                                <m:mr>
                                  <m:e>
                                    <m:m>
                                      <m:mPr>
                                        <m:mcs>
                                          <m:mc>
                                            <m:mcPr>
                                              <m:count m:val="2"/>
                                              <m:mcJc m:val="center"/>
                                            </m:mcPr>
                                          </m:mc>
                                        </m:mcs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mPr>
                                      <m:mr>
                                        <m:e>
                                          <m:r>
                                            <m:rPr>
                                              <m:brk m:alnAt="7"/>
                                            </m:rP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𝑑</m:t>
                                          </m:r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𝑓</m:t>
                                          </m:r>
                                        </m:e>
                                        <m:e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𝑑h</m:t>
                                          </m:r>
                                        </m:e>
                                      </m:mr>
                                    </m:m>
                                  </m:e>
                                </m:mr>
                              </m:m>
                            </m:e>
                          </m:mr>
                        </m:m>
                      </m:e>
                    </m:d>
                  </m:oMath>
                </a14:m>
                <a:endParaRPr lang="en-US" dirty="0"/>
              </a:p>
              <a:p>
                <a:r>
                  <a:rPr lang="en-US" dirty="0"/>
                  <a:t>Tensor product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𝑈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d>
                      <m:dPr>
                        <m:begChr m:val="|"/>
                        <m:endChr m:val="⟩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𝑎</m:t>
                    </m:r>
                    <m:d>
                      <m:dPr>
                        <m:begChr m:val="|"/>
                        <m:endChr m:val="⟩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|1⟩</m:t>
                    </m:r>
                  </m:oMath>
                </a14:m>
                <a:r>
                  <a:rPr lang="en-US" dirty="0"/>
                  <a:t>,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𝑈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d>
                      <m:dPr>
                        <m:begChr m:val="|"/>
                        <m:endChr m:val="⟩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𝑒</m:t>
                    </m:r>
                    <m:d>
                      <m:dPr>
                        <m:begChr m:val="|"/>
                        <m:endChr m:val="⟩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|1⟩</m:t>
                    </m:r>
                  </m:oMath>
                </a14:m>
                <a:endParaRPr lang="en-US" dirty="0"/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𝑈</m:t>
                    </m:r>
                    <m:d>
                      <m:dPr>
                        <m:begChr m:val="|"/>
                        <m:endChr m:val="⟩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00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 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𝑈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𝑈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d>
                      <m:dPr>
                        <m:begChr m:val="|"/>
                        <m:endChr m:val="⟩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00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=(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𝑎</m:t>
                    </m:r>
                    <m:d>
                      <m:dPr>
                        <m:begChr m:val="|"/>
                        <m:endChr m:val="⟩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|1⟩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).(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𝑒</m:t>
                    </m:r>
                    <m:d>
                      <m:dPr>
                        <m:begChr m:val="|"/>
                        <m:endChr m:val="⟩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|1⟩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  <a:p>
                <a14:m>
                  <m:oMath xmlns:m="http://schemas.openxmlformats.org/officeDocument/2006/math">
                    <m:r>
                      <a:rPr lang="en-US" b="0" i="0" smtClean="0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ae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|00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⟩+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𝑎𝑓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|01⟩+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𝑏𝑒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|10⟩+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𝑏𝑓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|11⟩</m:t>
                    </m:r>
                  </m:oMath>
                </a14:m>
                <a:endParaRPr lang="en-US" dirty="0"/>
              </a:p>
              <a:p>
                <a:endParaRPr lang="en-US" dirty="0"/>
              </a:p>
              <a:p>
                <a:r>
                  <a:rPr lang="en-US" dirty="0"/>
                  <a:t>Find 4x4 transformation of ZH gates</a:t>
                </a:r>
              </a:p>
              <a:p>
                <a:r>
                  <a:rPr lang="en-US" dirty="0"/>
                  <a:t>Is it Unitary?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9A3D6E2-3748-C5EC-4337-2DB728A5866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xfrm>
                <a:off x="157507" y="1032692"/>
                <a:ext cx="7889213" cy="5225868"/>
              </a:xfrm>
              <a:blipFill>
                <a:blip r:embed="rId2"/>
                <a:stretch>
                  <a:fillRect l="-309" t="-163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: Rounded Corners 14">
                <a:extLst>
                  <a:ext uri="{FF2B5EF4-FFF2-40B4-BE49-F238E27FC236}">
                    <a16:creationId xmlns:a16="http://schemas.microsoft.com/office/drawing/2014/main" id="{FC080190-9AAC-B4F5-EFB2-74895378944B}"/>
                  </a:ext>
                </a:extLst>
              </p:cNvPr>
              <p:cNvSpPr/>
              <p:nvPr/>
            </p:nvSpPr>
            <p:spPr>
              <a:xfrm>
                <a:off x="9865360" y="1503872"/>
                <a:ext cx="420304" cy="367775"/>
              </a:xfrm>
              <a:prstGeom prst="round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𝑈</m:t>
                          </m:r>
                        </m:e>
                        <m:sub>
                          <m:r>
                            <a:rPr lang="en-US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" name="Rectangle: Rounded Corners 14">
                <a:extLst>
                  <a:ext uri="{FF2B5EF4-FFF2-40B4-BE49-F238E27FC236}">
                    <a16:creationId xmlns:a16="http://schemas.microsoft.com/office/drawing/2014/main" id="{FC080190-9AAC-B4F5-EFB2-74895378944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65360" y="1503872"/>
                <a:ext cx="420304" cy="367775"/>
              </a:xfrm>
              <a:prstGeom prst="roundRect">
                <a:avLst/>
              </a:prstGeom>
              <a:blipFill>
                <a:blip r:embed="rId3"/>
                <a:stretch>
                  <a:fillRect l="-4167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0A17D638-6402-9A7A-E85F-6365D3839CC4}"/>
              </a:ext>
            </a:extLst>
          </p:cNvPr>
          <p:cNvCxnSpPr>
            <a:cxnSpLocks/>
            <a:endCxn id="5" idx="1"/>
          </p:cNvCxnSpPr>
          <p:nvPr/>
        </p:nvCxnSpPr>
        <p:spPr>
          <a:xfrm>
            <a:off x="8306139" y="1687760"/>
            <a:ext cx="1559221" cy="0"/>
          </a:xfrm>
          <a:prstGeom prst="straightConnector1">
            <a:avLst/>
          </a:prstGeom>
          <a:ln>
            <a:solidFill>
              <a:srgbClr val="0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0559E7B0-C1E5-2C51-B9CB-E67831E3F395}"/>
              </a:ext>
            </a:extLst>
          </p:cNvPr>
          <p:cNvCxnSpPr>
            <a:cxnSpLocks/>
            <a:stCxn id="5" idx="3"/>
          </p:cNvCxnSpPr>
          <p:nvPr/>
        </p:nvCxnSpPr>
        <p:spPr>
          <a:xfrm>
            <a:off x="10285664" y="1687760"/>
            <a:ext cx="1185706" cy="0"/>
          </a:xfrm>
          <a:prstGeom prst="straightConnector1">
            <a:avLst/>
          </a:prstGeom>
          <a:ln>
            <a:solidFill>
              <a:srgbClr val="0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Rectangle: Rounded Corners 14">
                <a:extLst>
                  <a:ext uri="{FF2B5EF4-FFF2-40B4-BE49-F238E27FC236}">
                    <a16:creationId xmlns:a16="http://schemas.microsoft.com/office/drawing/2014/main" id="{2E415690-55AC-2F30-1699-A6A87C7FEE39}"/>
                  </a:ext>
                </a:extLst>
              </p:cNvPr>
              <p:cNvSpPr/>
              <p:nvPr/>
            </p:nvSpPr>
            <p:spPr>
              <a:xfrm>
                <a:off x="9784080" y="952209"/>
                <a:ext cx="501584" cy="367775"/>
              </a:xfrm>
              <a:prstGeom prst="round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𝑈</m:t>
                          </m:r>
                        </m:e>
                        <m:sub>
                          <m:r>
                            <a:rPr lang="en-US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1" name="Rectangle: Rounded Corners 14">
                <a:extLst>
                  <a:ext uri="{FF2B5EF4-FFF2-40B4-BE49-F238E27FC236}">
                    <a16:creationId xmlns:a16="http://schemas.microsoft.com/office/drawing/2014/main" id="{2E415690-55AC-2F30-1699-A6A87C7FEE3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84080" y="952209"/>
                <a:ext cx="501584" cy="367775"/>
              </a:xfrm>
              <a:prstGeom prst="round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1D6828A9-F20C-B36F-5B52-EB5483530EF2}"/>
              </a:ext>
            </a:extLst>
          </p:cNvPr>
          <p:cNvCxnSpPr>
            <a:cxnSpLocks/>
            <a:endCxn id="11" idx="1"/>
          </p:cNvCxnSpPr>
          <p:nvPr/>
        </p:nvCxnSpPr>
        <p:spPr>
          <a:xfrm>
            <a:off x="8306139" y="1136097"/>
            <a:ext cx="1477941" cy="0"/>
          </a:xfrm>
          <a:prstGeom prst="straightConnector1">
            <a:avLst/>
          </a:prstGeom>
          <a:ln>
            <a:solidFill>
              <a:srgbClr val="0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E3F0EA5B-4367-AB76-A693-90642C1749F7}"/>
              </a:ext>
            </a:extLst>
          </p:cNvPr>
          <p:cNvCxnSpPr>
            <a:cxnSpLocks/>
            <a:stCxn id="11" idx="3"/>
          </p:cNvCxnSpPr>
          <p:nvPr/>
        </p:nvCxnSpPr>
        <p:spPr>
          <a:xfrm>
            <a:off x="10285664" y="1136097"/>
            <a:ext cx="1185706" cy="0"/>
          </a:xfrm>
          <a:prstGeom prst="straightConnector1">
            <a:avLst/>
          </a:prstGeom>
          <a:ln>
            <a:solidFill>
              <a:srgbClr val="0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Rectangle: Rounded Corners 14">
                <a:extLst>
                  <a:ext uri="{FF2B5EF4-FFF2-40B4-BE49-F238E27FC236}">
                    <a16:creationId xmlns:a16="http://schemas.microsoft.com/office/drawing/2014/main" id="{9037466E-9D6E-6B1A-B7F5-5959B444C98B}"/>
                  </a:ext>
                </a:extLst>
              </p:cNvPr>
              <p:cNvSpPr/>
              <p:nvPr/>
            </p:nvSpPr>
            <p:spPr>
              <a:xfrm>
                <a:off x="9865360" y="3245112"/>
                <a:ext cx="420304" cy="367775"/>
              </a:xfrm>
              <a:prstGeom prst="round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𝑈</m:t>
                          </m:r>
                        </m:e>
                        <m:sub>
                          <m:r>
                            <a:rPr lang="en-US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1" name="Rectangle: Rounded Corners 14">
                <a:extLst>
                  <a:ext uri="{FF2B5EF4-FFF2-40B4-BE49-F238E27FC236}">
                    <a16:creationId xmlns:a16="http://schemas.microsoft.com/office/drawing/2014/main" id="{9037466E-9D6E-6B1A-B7F5-5959B444C98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65360" y="3245112"/>
                <a:ext cx="420304" cy="367775"/>
              </a:xfrm>
              <a:prstGeom prst="roundRect">
                <a:avLst/>
              </a:prstGeom>
              <a:blipFill>
                <a:blip r:embed="rId5"/>
                <a:stretch>
                  <a:fillRect l="-4167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5A5D908D-41C6-0B30-7E93-DA76F7A9CDF2}"/>
              </a:ext>
            </a:extLst>
          </p:cNvPr>
          <p:cNvCxnSpPr>
            <a:cxnSpLocks/>
            <a:endCxn id="21" idx="1"/>
          </p:cNvCxnSpPr>
          <p:nvPr/>
        </p:nvCxnSpPr>
        <p:spPr>
          <a:xfrm>
            <a:off x="8306139" y="3429000"/>
            <a:ext cx="1559221" cy="0"/>
          </a:xfrm>
          <a:prstGeom prst="straightConnector1">
            <a:avLst/>
          </a:prstGeom>
          <a:ln>
            <a:solidFill>
              <a:srgbClr val="0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517C614A-DCD9-6ECF-9FB9-56ADAF1B7075}"/>
              </a:ext>
            </a:extLst>
          </p:cNvPr>
          <p:cNvCxnSpPr>
            <a:cxnSpLocks/>
            <a:stCxn id="21" idx="3"/>
          </p:cNvCxnSpPr>
          <p:nvPr/>
        </p:nvCxnSpPr>
        <p:spPr>
          <a:xfrm>
            <a:off x="10285664" y="3429000"/>
            <a:ext cx="1185706" cy="0"/>
          </a:xfrm>
          <a:prstGeom prst="straightConnector1">
            <a:avLst/>
          </a:prstGeom>
          <a:ln>
            <a:solidFill>
              <a:srgbClr val="0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Rectangle: Rounded Corners 14">
                <a:extLst>
                  <a:ext uri="{FF2B5EF4-FFF2-40B4-BE49-F238E27FC236}">
                    <a16:creationId xmlns:a16="http://schemas.microsoft.com/office/drawing/2014/main" id="{592E0CB0-C9F3-311C-B1A5-B5CD4C2A3865}"/>
                  </a:ext>
                </a:extLst>
              </p:cNvPr>
              <p:cNvSpPr/>
              <p:nvPr/>
            </p:nvSpPr>
            <p:spPr>
              <a:xfrm>
                <a:off x="9865360" y="2693449"/>
                <a:ext cx="420304" cy="367775"/>
              </a:xfrm>
              <a:prstGeom prst="round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𝑈</m:t>
                          </m:r>
                        </m:e>
                        <m:sub>
                          <m:r>
                            <a:rPr lang="en-US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4" name="Rectangle: Rounded Corners 14">
                <a:extLst>
                  <a:ext uri="{FF2B5EF4-FFF2-40B4-BE49-F238E27FC236}">
                    <a16:creationId xmlns:a16="http://schemas.microsoft.com/office/drawing/2014/main" id="{592E0CB0-C9F3-311C-B1A5-B5CD4C2A386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65360" y="2693449"/>
                <a:ext cx="420304" cy="367775"/>
              </a:xfrm>
              <a:prstGeom prst="roundRect">
                <a:avLst/>
              </a:prstGeom>
              <a:blipFill>
                <a:blip r:embed="rId6"/>
                <a:stretch>
                  <a:fillRect l="-4167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91D2E09F-6389-5A03-1A6A-E9A37F873761}"/>
              </a:ext>
            </a:extLst>
          </p:cNvPr>
          <p:cNvCxnSpPr>
            <a:cxnSpLocks/>
            <a:endCxn id="24" idx="1"/>
          </p:cNvCxnSpPr>
          <p:nvPr/>
        </p:nvCxnSpPr>
        <p:spPr>
          <a:xfrm>
            <a:off x="8306139" y="2877337"/>
            <a:ext cx="1559221" cy="0"/>
          </a:xfrm>
          <a:prstGeom prst="straightConnector1">
            <a:avLst/>
          </a:prstGeom>
          <a:ln>
            <a:solidFill>
              <a:srgbClr val="0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7887463F-2B85-5F33-165E-383F395EA035}"/>
              </a:ext>
            </a:extLst>
          </p:cNvPr>
          <p:cNvCxnSpPr>
            <a:cxnSpLocks/>
            <a:stCxn id="24" idx="3"/>
          </p:cNvCxnSpPr>
          <p:nvPr/>
        </p:nvCxnSpPr>
        <p:spPr>
          <a:xfrm>
            <a:off x="10285664" y="2877337"/>
            <a:ext cx="1185706" cy="0"/>
          </a:xfrm>
          <a:prstGeom prst="straightConnector1">
            <a:avLst/>
          </a:prstGeom>
          <a:ln>
            <a:solidFill>
              <a:srgbClr val="0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ectangle: Rounded Corners 14">
            <a:extLst>
              <a:ext uri="{FF2B5EF4-FFF2-40B4-BE49-F238E27FC236}">
                <a16:creationId xmlns:a16="http://schemas.microsoft.com/office/drawing/2014/main" id="{6C88FEDD-0FA8-83C3-A958-0C4D0CFC99F6}"/>
              </a:ext>
            </a:extLst>
          </p:cNvPr>
          <p:cNvSpPr/>
          <p:nvPr/>
        </p:nvSpPr>
        <p:spPr>
          <a:xfrm>
            <a:off x="9712960" y="2423309"/>
            <a:ext cx="725104" cy="1459716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0" name="Rectangle: Rounded Corners 14">
                <a:extLst>
                  <a:ext uri="{FF2B5EF4-FFF2-40B4-BE49-F238E27FC236}">
                    <a16:creationId xmlns:a16="http://schemas.microsoft.com/office/drawing/2014/main" id="{19EE996F-8BDB-6E78-C794-AB417D40AE70}"/>
                  </a:ext>
                </a:extLst>
              </p:cNvPr>
              <p:cNvSpPr/>
              <p:nvPr/>
            </p:nvSpPr>
            <p:spPr>
              <a:xfrm>
                <a:off x="9865360" y="5088850"/>
                <a:ext cx="420304" cy="367775"/>
              </a:xfrm>
              <a:prstGeom prst="round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𝐻</m:t>
                      </m:r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0" name="Rectangle: Rounded Corners 14">
                <a:extLst>
                  <a:ext uri="{FF2B5EF4-FFF2-40B4-BE49-F238E27FC236}">
                    <a16:creationId xmlns:a16="http://schemas.microsoft.com/office/drawing/2014/main" id="{19EE996F-8BDB-6E78-C794-AB417D40AE7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65360" y="5088850"/>
                <a:ext cx="420304" cy="367775"/>
              </a:xfrm>
              <a:prstGeom prst="roundRect">
                <a:avLst/>
              </a:prstGeom>
              <a:blipFill>
                <a:blip r:embed="rId7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3354B573-B677-3AA0-F11D-5481798DEED0}"/>
              </a:ext>
            </a:extLst>
          </p:cNvPr>
          <p:cNvCxnSpPr>
            <a:cxnSpLocks/>
            <a:endCxn id="30" idx="1"/>
          </p:cNvCxnSpPr>
          <p:nvPr/>
        </p:nvCxnSpPr>
        <p:spPr>
          <a:xfrm>
            <a:off x="8306139" y="5272738"/>
            <a:ext cx="1559221" cy="0"/>
          </a:xfrm>
          <a:prstGeom prst="straightConnector1">
            <a:avLst/>
          </a:prstGeom>
          <a:ln>
            <a:solidFill>
              <a:srgbClr val="0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1C1A2AFF-2622-9318-2C6C-A409345F05E2}"/>
              </a:ext>
            </a:extLst>
          </p:cNvPr>
          <p:cNvCxnSpPr>
            <a:cxnSpLocks/>
            <a:stCxn id="30" idx="3"/>
          </p:cNvCxnSpPr>
          <p:nvPr/>
        </p:nvCxnSpPr>
        <p:spPr>
          <a:xfrm>
            <a:off x="10285664" y="5272738"/>
            <a:ext cx="1185706" cy="0"/>
          </a:xfrm>
          <a:prstGeom prst="straightConnector1">
            <a:avLst/>
          </a:prstGeom>
          <a:ln>
            <a:solidFill>
              <a:srgbClr val="0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3" name="Rectangle: Rounded Corners 14">
                <a:extLst>
                  <a:ext uri="{FF2B5EF4-FFF2-40B4-BE49-F238E27FC236}">
                    <a16:creationId xmlns:a16="http://schemas.microsoft.com/office/drawing/2014/main" id="{B0E67DAF-DF8E-A559-22DD-863A6216093A}"/>
                  </a:ext>
                </a:extLst>
              </p:cNvPr>
              <p:cNvSpPr/>
              <p:nvPr/>
            </p:nvSpPr>
            <p:spPr>
              <a:xfrm>
                <a:off x="9865360" y="4537187"/>
                <a:ext cx="420304" cy="367775"/>
              </a:xfrm>
              <a:prstGeom prst="round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𝑍</m:t>
                      </m:r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3" name="Rectangle: Rounded Corners 14">
                <a:extLst>
                  <a:ext uri="{FF2B5EF4-FFF2-40B4-BE49-F238E27FC236}">
                    <a16:creationId xmlns:a16="http://schemas.microsoft.com/office/drawing/2014/main" id="{B0E67DAF-DF8E-A559-22DD-863A6216093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65360" y="4537187"/>
                <a:ext cx="420304" cy="367775"/>
              </a:xfrm>
              <a:prstGeom prst="roundRect">
                <a:avLst/>
              </a:prstGeom>
              <a:blipFill>
                <a:blip r:embed="rId8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71D010AB-931A-04BF-0304-B2B55AF430FD}"/>
              </a:ext>
            </a:extLst>
          </p:cNvPr>
          <p:cNvCxnSpPr>
            <a:cxnSpLocks/>
            <a:endCxn id="33" idx="1"/>
          </p:cNvCxnSpPr>
          <p:nvPr/>
        </p:nvCxnSpPr>
        <p:spPr>
          <a:xfrm>
            <a:off x="8306139" y="4721075"/>
            <a:ext cx="1559221" cy="0"/>
          </a:xfrm>
          <a:prstGeom prst="straightConnector1">
            <a:avLst/>
          </a:prstGeom>
          <a:ln>
            <a:solidFill>
              <a:srgbClr val="0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41C48E5C-1509-40A3-0F7C-93C3B7D99009}"/>
              </a:ext>
            </a:extLst>
          </p:cNvPr>
          <p:cNvCxnSpPr>
            <a:cxnSpLocks/>
            <a:stCxn id="33" idx="3"/>
          </p:cNvCxnSpPr>
          <p:nvPr/>
        </p:nvCxnSpPr>
        <p:spPr>
          <a:xfrm>
            <a:off x="10285664" y="4721075"/>
            <a:ext cx="1185706" cy="0"/>
          </a:xfrm>
          <a:prstGeom prst="straightConnector1">
            <a:avLst/>
          </a:prstGeom>
          <a:ln>
            <a:solidFill>
              <a:srgbClr val="0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ectangle: Rounded Corners 14">
            <a:extLst>
              <a:ext uri="{FF2B5EF4-FFF2-40B4-BE49-F238E27FC236}">
                <a16:creationId xmlns:a16="http://schemas.microsoft.com/office/drawing/2014/main" id="{44E4DF78-9211-8316-140A-0F847BD7E26C}"/>
              </a:ext>
            </a:extLst>
          </p:cNvPr>
          <p:cNvSpPr/>
          <p:nvPr/>
        </p:nvSpPr>
        <p:spPr>
          <a:xfrm>
            <a:off x="9712960" y="4267047"/>
            <a:ext cx="725104" cy="1459716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5256025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454E09-68E0-A916-8EB7-DD6418FC21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96864B-B720-E9B8-0AA9-F0BB290089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Tensor Product Spaces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B356A92-12F4-D191-C7E3-18C76323397B}"/>
                  </a:ext>
                </a:extLst>
              </p:cNvPr>
              <p:cNvSpPr>
                <a:spLocks noGrp="1"/>
              </p:cNvSpPr>
              <p:nvPr>
                <p:ph sz="quarter" idx="1"/>
              </p:nvPr>
            </p:nvSpPr>
            <p:spPr>
              <a:xfrm>
                <a:off x="325120" y="980294"/>
                <a:ext cx="6634480" cy="5400186"/>
              </a:xfrm>
            </p:spPr>
            <p:txBody>
              <a:bodyPr>
                <a:normAutofit fontScale="62500" lnSpcReduction="20000"/>
              </a:bodyPr>
              <a:lstStyle/>
              <a:p>
                <a:r>
                  <a:rPr lang="en-US" dirty="0"/>
                  <a:t>Individual states are in a 2-dimensional complex vector space</a:t>
                </a:r>
              </a:p>
              <a:p>
                <a:pPr lvl="1"/>
                <a14:m>
                  <m:oMath xmlns:m="http://schemas.openxmlformats.org/officeDocument/2006/math">
                    <m:d>
                      <m:dPr>
                        <m:begChr m:val="|"/>
                        <m:endChr m:val="⟩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𝜓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d>
                      <m:dPr>
                        <m:begChr m:val="|"/>
                        <m:endChr m:val="⟩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d>
                      <m:dPr>
                        <m:begChr m:val="|"/>
                        <m:endChr m:val="⟩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ℂ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= 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ℋ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endParaRPr lang="en-US" dirty="0"/>
              </a:p>
              <a:p>
                <a:pPr lvl="1"/>
                <a14:m>
                  <m:oMath xmlns:m="http://schemas.openxmlformats.org/officeDocument/2006/math">
                    <m:d>
                      <m:dPr>
                        <m:begChr m:val="|"/>
                        <m:endChr m:val="⟩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𝜓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d>
                      <m:dPr>
                        <m:begChr m:val="|"/>
                        <m:endChr m:val="⟩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|1⟩∈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ℂ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i="1">
                        <a:latin typeface="Cambria Math" panose="02040503050406030204" pitchFamily="18" charset="0"/>
                      </a:rPr>
                      <m:t>= 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ℋ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endParaRPr lang="en-US" dirty="0"/>
              </a:p>
              <a:p>
                <a:r>
                  <a:rPr lang="en-US" dirty="0"/>
                  <a:t>Combined state is in a 4-dimensional complex vector space</a:t>
                </a:r>
              </a:p>
              <a:p>
                <a:pPr lvl="1"/>
                <a14:m>
                  <m:oMath xmlns:m="http://schemas.openxmlformats.org/officeDocument/2006/math">
                    <m:d>
                      <m:dPr>
                        <m:begChr m:val="|"/>
                        <m:endChr m:val="⟩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𝜓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|"/>
                        <m:endChr m:val="⟩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𝜓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⨂</m:t>
                    </m:r>
                    <m:d>
                      <m:dPr>
                        <m:begChr m:val="|"/>
                        <m:endChr m:val="⟩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𝜓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</m:oMath>
                </a14:m>
                <a:endParaRPr lang="en-US" b="0" i="1" dirty="0">
                  <a:latin typeface="Cambria Math" panose="02040503050406030204" pitchFamily="18" charset="0"/>
                </a:endParaRPr>
              </a:p>
              <a:p>
                <a:pPr lvl="1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d>
                      <m:dPr>
                        <m:begChr m:val="|"/>
                        <m:endChr m:val="⟩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d>
                      <m:dPr>
                        <m:begChr m:val="|"/>
                        <m:endChr m:val="⟩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)⨂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d>
                      <m:dPr>
                        <m:begChr m:val="|"/>
                        <m:endChr m:val="⟩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d>
                      <m:dPr>
                        <m:begChr m:val="|"/>
                        <m:endChr m:val="⟩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i="1" dirty="0">
                  <a:latin typeface="Cambria Math" panose="02040503050406030204" pitchFamily="18" charset="0"/>
                </a:endParaRPr>
              </a:p>
              <a:p>
                <a:pPr lvl="1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d>
                      <m:dPr>
                        <m:begChr m:val="|"/>
                        <m:endChr m:val="⟩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d>
                      <m:dPr>
                        <m:begChr m:val="|"/>
                        <m:endChr m:val="⟩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+</m:t>
                    </m:r>
                  </m:oMath>
                </a14:m>
                <a:r>
                  <a:rPr lang="en-US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d>
                      <m:dPr>
                        <m:begChr m:val="|"/>
                        <m:endChr m:val="⟩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+</m:t>
                    </m:r>
                  </m:oMath>
                </a14:m>
                <a:r>
                  <a:rPr lang="en-US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d>
                      <m:dPr>
                        <m:begChr m:val="|"/>
                        <m:endChr m:val="⟩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11</m:t>
                        </m:r>
                      </m:e>
                    </m:d>
                  </m:oMath>
                </a14:m>
                <a:endParaRPr lang="en-US" dirty="0"/>
              </a:p>
              <a:p>
                <a:pPr lvl="1"/>
                <a14:m>
                  <m:oMath xmlns:m="http://schemas.openxmlformats.org/officeDocument/2006/math">
                    <m:d>
                      <m:dPr>
                        <m:begChr m:val="|"/>
                        <m:endChr m:val="⟩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𝜓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ℂ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ℋ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⨂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ℋ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ℋ</m:t>
                    </m:r>
                  </m:oMath>
                </a14:m>
                <a:endParaRPr lang="en-US" dirty="0"/>
              </a:p>
              <a:p>
                <a:endParaRPr lang="en-US" dirty="0"/>
              </a:p>
              <a:p>
                <a:r>
                  <a:rPr lang="en-US" dirty="0"/>
                  <a:t>Inner Product in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ℋ</m:t>
                    </m:r>
                  </m:oMath>
                </a14:m>
                <a:endParaRPr lang="en-US" dirty="0"/>
              </a:p>
              <a:p>
                <a:pPr lvl="1"/>
                <a:r>
                  <a:rPr lang="en-US" b="0" dirty="0"/>
                  <a:t>Let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⟩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⨂</m:t>
                    </m:r>
                    <m:d>
                      <m:dPr>
                        <m:begChr m:val="|"/>
                        <m:endChr m:val="⟩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ℋ</m:t>
                    </m:r>
                  </m:oMath>
                </a14:m>
                <a:r>
                  <a:rPr lang="en-US" b="0" dirty="0"/>
                  <a:t>. Means,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⟩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∈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ℋ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</m:sub>
                    </m:sSub>
                  </m:oMath>
                </a14:m>
                <a:r>
                  <a:rPr lang="en-US" dirty="0"/>
                  <a:t>, and 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⟩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 smtClean="0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∈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ℋ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sub>
                    </m:sSub>
                  </m:oMath>
                </a14:m>
                <a:endParaRPr lang="en-US" b="0" dirty="0"/>
              </a:p>
              <a:p>
                <a:pPr lvl="1"/>
                <a:r>
                  <a:rPr lang="en-US" b="0" dirty="0"/>
                  <a:t>Let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⟩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⨂</m:t>
                    </m:r>
                    <m:d>
                      <m:dPr>
                        <m:begChr m:val="|"/>
                        <m:endChr m:val="⟩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ℋ</m:t>
                    </m:r>
                  </m:oMath>
                </a14:m>
                <a:r>
                  <a:rPr lang="en-US" b="0" dirty="0"/>
                  <a:t>. Means,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⟩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∈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ℋ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</m:sub>
                    </m:sSub>
                  </m:oMath>
                </a14:m>
                <a:r>
                  <a:rPr lang="en-US" dirty="0"/>
                  <a:t>, and 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⟩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∈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ℋ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sub>
                    </m:sSub>
                  </m:oMath>
                </a14:m>
                <a:endParaRPr lang="en-US" b="0" dirty="0"/>
              </a:p>
              <a:p>
                <a:pPr lvl="1"/>
                <a:r>
                  <a:rPr lang="en-US" b="0" dirty="0"/>
                  <a:t>Let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d>
                          <m:dPr>
                            <m:begChr m:val="⟨"/>
                            <m:endChr m:val="⟩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.,.</m:t>
                            </m:r>
                          </m:e>
                        </m:d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</m:sub>
                    </m:sSub>
                  </m:oMath>
                </a14:m>
                <a:r>
                  <a:rPr lang="en-US" b="0" dirty="0"/>
                  <a:t> be the inner product in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ℋ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</m:sub>
                    </m:sSub>
                  </m:oMath>
                </a14:m>
                <a:r>
                  <a:rPr lang="en-US" b="0" dirty="0"/>
                  <a:t> </a:t>
                </a:r>
              </a:p>
              <a:p>
                <a:pPr lvl="2"/>
                <a:r>
                  <a:rPr lang="en-US" b="0" dirty="0"/>
                  <a:t>e.g.,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𝐼𝑛𝑃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ℋ</m:t>
                        </m:r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u</m:t>
                        </m:r>
                      </m:sub>
                    </m:sSub>
                    <m:r>
                      <a:rPr lang="en-US" b="0" i="0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0" smtClean="0"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u</m:t>
                        </m:r>
                      </m:e>
                      <m:sub>
                        <m:r>
                          <a:rPr lang="en-US" b="0" i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⟩, |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⟩)=⟨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d>
                          <m:dPr>
                            <m:begChr m:val="|"/>
                            <m:endChr m:val="⟩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𝑢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e>
                        </m:d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</m:sub>
                    </m:sSub>
                  </m:oMath>
                </a14:m>
                <a:endParaRPr lang="en-US" b="0" dirty="0"/>
              </a:p>
              <a:p>
                <a:pPr lvl="1"/>
                <a:r>
                  <a:rPr lang="en-US" b="0" dirty="0"/>
                  <a:t>Let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d>
                          <m:dPr>
                            <m:begChr m:val="⟨"/>
                            <m:endChr m:val="⟩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.,.</m:t>
                            </m:r>
                          </m:e>
                        </m:d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sub>
                    </m:sSub>
                  </m:oMath>
                </a14:m>
                <a:r>
                  <a:rPr lang="en-US" b="0" dirty="0"/>
                  <a:t> be the inner product in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ℋ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sub>
                    </m:sSub>
                  </m:oMath>
                </a14:m>
                <a:endParaRPr lang="en-US" b="0" i="1" dirty="0">
                  <a:latin typeface="Cambria Math" panose="02040503050406030204" pitchFamily="18" charset="0"/>
                </a:endParaRPr>
              </a:p>
              <a:p>
                <a:pPr lvl="2"/>
                <a:r>
                  <a:rPr lang="en-US" b="0" dirty="0"/>
                  <a:t>e.g.,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𝐼𝑛𝑃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ℋ</m:t>
                        </m:r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v</m:t>
                        </m:r>
                      </m:sub>
                    </m:sSub>
                    <m:r>
                      <a:rPr lang="en-US" b="0" i="0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0" smtClean="0"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b="0" i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⟩, |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⟩)=⟨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d>
                          <m:dPr>
                            <m:begChr m:val="|"/>
                            <m:endChr m:val="⟩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𝑣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e>
                        </m:d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sub>
                    </m:sSub>
                  </m:oMath>
                </a14:m>
                <a:endParaRPr lang="en-US" b="0" i="1" dirty="0">
                  <a:latin typeface="Cambria Math" panose="02040503050406030204" pitchFamily="18" charset="0"/>
                </a:endParaRPr>
              </a:p>
              <a:p>
                <a:pPr lvl="1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𝐼𝑛𝑃𝑟</m:t>
                    </m:r>
                    <m:d>
                      <m:dPr>
                        <m:endChr m:val="⟩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begChr m:val="|"/>
                            <m:endChr m:val="⟩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𝑢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e>
                        </m:d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⨂</m:t>
                        </m:r>
                      </m:e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d>
                      <m:dPr>
                        <m:begChr m:val="|"/>
                        <m:endChr m:val="⟩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⨂|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⟩)</m:t>
                    </m:r>
                  </m:oMath>
                </a14:m>
                <a:endParaRPr lang="en-US" b="0" i="1" dirty="0">
                  <a:latin typeface="Cambria Math" panose="02040503050406030204" pitchFamily="18" charset="0"/>
                </a:endParaRPr>
              </a:p>
              <a:p>
                <a:pPr lvl="1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𝐼𝑛𝑃𝑟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ℋ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d>
                      <m:dPr>
                        <m:begChr m:val="|"/>
                        <m:endChr m:val="⟩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, |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⟩). 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𝐼𝑛𝑃𝑟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ℋ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d>
                      <m:dPr>
                        <m:begChr m:val="|"/>
                        <m:endChr m:val="⟩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, |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⟩)</m:t>
                    </m:r>
                  </m:oMath>
                </a14:m>
                <a:endParaRPr lang="en-US" i="1" dirty="0">
                  <a:latin typeface="Cambria Math" panose="02040503050406030204" pitchFamily="18" charset="0"/>
                </a:endParaRPr>
              </a:p>
              <a:p>
                <a:pPr lvl="1"/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=⟨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d>
                          <m:dPr>
                            <m:begChr m:val="|"/>
                            <m:endChr m:val="⟩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𝑢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e>
                        </m:d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𝑢</m:t>
                        </m:r>
                      </m:sub>
                    </m:sSub>
                  </m:oMath>
                </a14:m>
                <a:r>
                  <a:rPr lang="en-US" dirty="0"/>
                  <a:t>.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⟨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d>
                          <m:dPr>
                            <m:begChr m:val="|"/>
                            <m:endChr m:val="⟩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𝑣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e>
                        </m:d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sub>
                    </m:sSub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B356A92-12F4-D191-C7E3-18C76323397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xfrm>
                <a:off x="325120" y="980294"/>
                <a:ext cx="6634480" cy="5400186"/>
              </a:xfrm>
              <a:blipFill>
                <a:blip r:embed="rId2"/>
                <a:stretch>
                  <a:fillRect l="-92" t="-158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Content Placeholder 2">
                <a:extLst>
                  <a:ext uri="{FF2B5EF4-FFF2-40B4-BE49-F238E27FC236}">
                    <a16:creationId xmlns:a16="http://schemas.microsoft.com/office/drawing/2014/main" id="{130B4D80-55AC-382C-167E-2DDF16173A86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5821680" y="3525520"/>
                <a:ext cx="6370320" cy="2113280"/>
              </a:xfrm>
              <a:prstGeom prst="rect">
                <a:avLst/>
              </a:prstGeom>
            </p:spPr>
            <p:txBody>
              <a:bodyPr vert="horz">
                <a:normAutofit fontScale="85000" lnSpcReduction="20000"/>
              </a:bodyPr>
              <a:lstStyle>
                <a:lvl1pPr marL="274320" indent="-274320" algn="l" rtl="0" eaLnBrk="1" latinLnBrk="0" hangingPunct="1">
                  <a:spcBef>
                    <a:spcPts val="600"/>
                  </a:spcBef>
                  <a:buClr>
                    <a:schemeClr val="accent1"/>
                  </a:buClr>
                  <a:buSzPct val="76000"/>
                  <a:buFont typeface="Wingdings 3"/>
                  <a:buChar char=""/>
                  <a:defRPr kumimoji="0" sz="2800" kern="1200">
                    <a:solidFill>
                      <a:schemeClr val="tx1"/>
                    </a:solidFill>
                    <a:latin typeface="Candara" pitchFamily="34" charset="0"/>
                    <a:ea typeface="+mn-ea"/>
                    <a:cs typeface="+mn-cs"/>
                  </a:defRPr>
                </a:lvl1pPr>
                <a:lvl2pPr marL="548640" indent="-274320" algn="l" rtl="0" eaLnBrk="1" latinLnBrk="0" hangingPunct="1">
                  <a:spcBef>
                    <a:spcPts val="500"/>
                  </a:spcBef>
                  <a:buClr>
                    <a:schemeClr val="accent2"/>
                  </a:buClr>
                  <a:buSzPct val="76000"/>
                  <a:buFont typeface="Wingdings 3"/>
                  <a:buChar char=""/>
                  <a:defRPr kumimoji="0" sz="2400" kern="1200">
                    <a:solidFill>
                      <a:srgbClr val="002060"/>
                    </a:solidFill>
                    <a:latin typeface="Candara" pitchFamily="34" charset="0"/>
                    <a:ea typeface="+mn-ea"/>
                    <a:cs typeface="+mn-cs"/>
                  </a:defRPr>
                </a:lvl2pPr>
                <a:lvl3pPr marL="822960" indent="-228600" algn="l" rtl="0" eaLnBrk="1" latinLnBrk="0" hangingPunct="1">
                  <a:spcBef>
                    <a:spcPts val="500"/>
                  </a:spcBef>
                  <a:buClr>
                    <a:schemeClr val="bg1">
                      <a:shade val="50000"/>
                    </a:schemeClr>
                  </a:buClr>
                  <a:buSzPct val="76000"/>
                  <a:buFont typeface="Wingdings 3"/>
                  <a:buChar char=""/>
                  <a:defRPr kumimoji="0" sz="2400" kern="1200">
                    <a:solidFill>
                      <a:srgbClr val="006600"/>
                    </a:solidFill>
                    <a:latin typeface="Candara" pitchFamily="34" charset="0"/>
                    <a:ea typeface="+mn-ea"/>
                    <a:cs typeface="+mn-cs"/>
                  </a:defRPr>
                </a:lvl3pPr>
                <a:lvl4pPr marL="1097280" indent="-228600" algn="l" rtl="0" eaLnBrk="1" latinLnBrk="0" hangingPunct="1">
                  <a:spcBef>
                    <a:spcPts val="400"/>
                  </a:spcBef>
                  <a:buClr>
                    <a:schemeClr val="accent2">
                      <a:shade val="75000"/>
                    </a:schemeClr>
                  </a:buClr>
                  <a:buSzPct val="70000"/>
                  <a:buFont typeface="Wingdings"/>
                  <a:buChar char=""/>
                  <a:defRPr kumimoji="0" sz="2000" kern="1200">
                    <a:solidFill>
                      <a:schemeClr val="tx1"/>
                    </a:solidFill>
                    <a:latin typeface="Candara" pitchFamily="34" charset="0"/>
                    <a:ea typeface="+mn-ea"/>
                    <a:cs typeface="+mn-cs"/>
                  </a:defRPr>
                </a:lvl4pPr>
                <a:lvl5pPr marL="1371600" indent="-228600" algn="l" rtl="0" eaLnBrk="1" latinLnBrk="0" hangingPunct="1">
                  <a:spcBef>
                    <a:spcPts val="300"/>
                  </a:spcBef>
                  <a:buClr>
                    <a:schemeClr val="accent2"/>
                  </a:buClr>
                  <a:buSzPct val="70000"/>
                  <a:buFont typeface="Wingdings"/>
                  <a:buChar char=""/>
                  <a:defRPr kumimoji="0" sz="1800" kern="1200">
                    <a:solidFill>
                      <a:schemeClr val="tx1"/>
                    </a:solidFill>
                    <a:latin typeface="Candara" pitchFamily="34" charset="0"/>
                    <a:ea typeface="+mn-ea"/>
                    <a:cs typeface="+mn-cs"/>
                  </a:defRPr>
                </a:lvl5pPr>
                <a:lvl6pPr marL="1645920" indent="-182880" algn="l" rtl="0" eaLnBrk="1" latinLnBrk="0" hangingPunct="1">
                  <a:spcBef>
                    <a:spcPts val="300"/>
                  </a:spcBef>
                  <a:buClr>
                    <a:srgbClr val="9FB8CD">
                      <a:shade val="75000"/>
                    </a:srgbClr>
                  </a:buClr>
                  <a:buSzPct val="75000"/>
                  <a:buFont typeface="Wingdings 3"/>
                  <a:buChar char=""/>
                  <a:defRPr kumimoji="0" lang="en-US" sz="1600" kern="1200" smtClean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1828800" indent="-182880" algn="l" rtl="0" eaLnBrk="1" latinLnBrk="0" hangingPunct="1">
                  <a:spcBef>
                    <a:spcPts val="300"/>
                  </a:spcBef>
                  <a:buClr>
                    <a:srgbClr val="727CA3">
                      <a:shade val="75000"/>
                    </a:srgbClr>
                  </a:buClr>
                  <a:buSzPct val="75000"/>
                  <a:buFont typeface="Wingdings 3"/>
                  <a:buChar char=""/>
                  <a:defRPr kumimoji="0" lang="en-US" sz="1400" kern="1200" smtClean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2011680" indent="-182880" algn="l" rtl="0" eaLnBrk="1" latinLnBrk="0" hangingPunct="1">
                  <a:spcBef>
                    <a:spcPts val="300"/>
                  </a:spcBef>
                  <a:buClr>
                    <a:prstClr val="white">
                      <a:shade val="50000"/>
                    </a:prstClr>
                  </a:buClr>
                  <a:buSzPct val="75000"/>
                  <a:buFont typeface="Wingdings 3"/>
                  <a:buChar char=""/>
                  <a:defRPr kumimoji="0" lang="en-US" sz="1400" kern="1200" smtClean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2194560" indent="-182880" algn="l" rtl="0" eaLnBrk="1" latinLnBrk="0" hangingPunct="1">
                  <a:spcBef>
                    <a:spcPts val="300"/>
                  </a:spcBef>
                  <a:buClr>
                    <a:srgbClr val="9FB8CD"/>
                  </a:buClr>
                  <a:buSzPct val="75000"/>
                  <a:buFont typeface="Wingdings 3"/>
                  <a:buChar char=""/>
                  <a:defRPr kumimoji="0" lang="en-US" sz="1200" kern="1200" smtClean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US" dirty="0"/>
                  <a:t>In general, for 2 vector spaces V and W over the same field, the tensor product space of V and W is defined another vector space U. </a:t>
                </a:r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𝑈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={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𝑢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|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𝑢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𝑣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⨂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𝑤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 ∀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𝑣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𝑉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𝑎𝑛𝑑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𝑤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𝑊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endParaRPr lang="en-US" b="0" dirty="0"/>
              </a:p>
              <a:p>
                <a:pPr lvl="1"/>
                <a:r>
                  <a:rPr lang="en-US" b="0" dirty="0"/>
                  <a:t>Use the usual definition of tensor product.</a:t>
                </a:r>
              </a:p>
              <a:p>
                <a:r>
                  <a:rPr lang="en-US" dirty="0"/>
                  <a:t>Show that U is a vector space.</a:t>
                </a:r>
              </a:p>
            </p:txBody>
          </p:sp>
        </mc:Choice>
        <mc:Fallback xmlns="">
          <p:sp>
            <p:nvSpPr>
              <p:cNvPr id="23" name="Content Placeholder 2">
                <a:extLst>
                  <a:ext uri="{FF2B5EF4-FFF2-40B4-BE49-F238E27FC236}">
                    <a16:creationId xmlns:a16="http://schemas.microsoft.com/office/drawing/2014/main" id="{130B4D80-55AC-382C-167E-2DDF16173A8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21680" y="3525520"/>
                <a:ext cx="6370320" cy="2113280"/>
              </a:xfrm>
              <a:prstGeom prst="rect">
                <a:avLst/>
              </a:prstGeom>
              <a:blipFill>
                <a:blip r:embed="rId3"/>
                <a:stretch>
                  <a:fillRect l="-670" t="-5476" r="-191" b="-547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5616458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BF08CC-1E3C-2D49-CE3E-6965006401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Tensor Products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4A430135-63AF-B328-661E-5E8BED118955}"/>
              </a:ext>
            </a:extLst>
          </p:cNvPr>
          <p:cNvGrpSpPr/>
          <p:nvPr/>
        </p:nvGrpSpPr>
        <p:grpSpPr>
          <a:xfrm>
            <a:off x="3066241" y="959974"/>
            <a:ext cx="1866481" cy="1964927"/>
            <a:chOff x="9274628" y="2227748"/>
            <a:chExt cx="1866481" cy="1964927"/>
          </a:xfrm>
        </p:grpSpPr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D8CC1329-2706-22DA-58DE-828D4C053B5D}"/>
                </a:ext>
              </a:extLst>
            </p:cNvPr>
            <p:cNvSpPr/>
            <p:nvPr/>
          </p:nvSpPr>
          <p:spPr>
            <a:xfrm>
              <a:off x="10038303" y="3155182"/>
              <a:ext cx="341644" cy="351693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69AF55B8-9E99-4E60-25B3-04F47EEA83B1}"/>
                </a:ext>
              </a:extLst>
            </p:cNvPr>
            <p:cNvSpPr/>
            <p:nvPr/>
          </p:nvSpPr>
          <p:spPr>
            <a:xfrm>
              <a:off x="9620459" y="2792603"/>
              <a:ext cx="1177332" cy="1086897"/>
            </a:xfrm>
            <a:prstGeom prst="ellipse">
              <a:avLst/>
            </a:prstGeom>
            <a:noFill/>
            <a:ln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D7356B54-6A4F-4507-35FB-EDE1B5072C3B}"/>
                </a:ext>
              </a:extLst>
            </p:cNvPr>
            <p:cNvSpPr/>
            <p:nvPr/>
          </p:nvSpPr>
          <p:spPr>
            <a:xfrm>
              <a:off x="9274628" y="2401557"/>
              <a:ext cx="1866481" cy="1791118"/>
            </a:xfrm>
            <a:prstGeom prst="ellipse">
              <a:avLst/>
            </a:prstGeom>
            <a:noFill/>
            <a:ln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TextBox 7">
                  <a:extLst>
                    <a:ext uri="{FF2B5EF4-FFF2-40B4-BE49-F238E27FC236}">
                      <a16:creationId xmlns:a16="http://schemas.microsoft.com/office/drawing/2014/main" id="{2575D42C-E3B8-76CA-70CB-BA5645CB9A07}"/>
                    </a:ext>
                  </a:extLst>
                </p:cNvPr>
                <p:cNvSpPr txBox="1"/>
                <p:nvPr/>
              </p:nvSpPr>
              <p:spPr>
                <a:xfrm>
                  <a:off x="9947868" y="2479428"/>
                  <a:ext cx="432079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begChr m:val="|"/>
                            <m:endChr m:val="⟩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e>
                        </m:d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7" name="TextBox 6">
                  <a:extLst>
                    <a:ext uri="{FF2B5EF4-FFF2-40B4-BE49-F238E27FC236}">
                      <a16:creationId xmlns:a16="http://schemas.microsoft.com/office/drawing/2014/main" id="{22C578AD-4411-EA12-39FE-6BED7FAE0B0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947868" y="2479428"/>
                  <a:ext cx="432079" cy="369332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" name="TextBox 8">
                  <a:extLst>
                    <a:ext uri="{FF2B5EF4-FFF2-40B4-BE49-F238E27FC236}">
                      <a16:creationId xmlns:a16="http://schemas.microsoft.com/office/drawing/2014/main" id="{5124CA29-B3EE-9B90-A7C6-03CB0885844A}"/>
                    </a:ext>
                  </a:extLst>
                </p:cNvPr>
                <p:cNvSpPr txBox="1"/>
                <p:nvPr/>
              </p:nvSpPr>
              <p:spPr>
                <a:xfrm>
                  <a:off x="10709030" y="2227748"/>
                  <a:ext cx="432079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begChr m:val="|"/>
                            <m:endChr m:val="⟩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d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8" name="TextBox 7">
                  <a:extLst>
                    <a:ext uri="{FF2B5EF4-FFF2-40B4-BE49-F238E27FC236}">
                      <a16:creationId xmlns:a16="http://schemas.microsoft.com/office/drawing/2014/main" id="{E668EB3E-2962-399B-61C6-A03AE06B68A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709030" y="2227748"/>
                  <a:ext cx="432079" cy="369332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CCF47D77-3BF8-F84A-48C8-3E9515D55834}"/>
              </a:ext>
            </a:extLst>
          </p:cNvPr>
          <p:cNvGrpSpPr/>
          <p:nvPr/>
        </p:nvGrpSpPr>
        <p:grpSpPr>
          <a:xfrm>
            <a:off x="868141" y="960029"/>
            <a:ext cx="1866481" cy="1964927"/>
            <a:chOff x="9274628" y="2227748"/>
            <a:chExt cx="1866481" cy="1964927"/>
          </a:xfrm>
        </p:grpSpPr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78C0194D-A386-C3F2-FB2C-E35E99AB16FD}"/>
                </a:ext>
              </a:extLst>
            </p:cNvPr>
            <p:cNvSpPr/>
            <p:nvPr/>
          </p:nvSpPr>
          <p:spPr>
            <a:xfrm>
              <a:off x="10038303" y="3155182"/>
              <a:ext cx="341644" cy="351693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A20A8FE9-7E1C-D135-4B37-9A6BDB032ED3}"/>
                </a:ext>
              </a:extLst>
            </p:cNvPr>
            <p:cNvSpPr/>
            <p:nvPr/>
          </p:nvSpPr>
          <p:spPr>
            <a:xfrm>
              <a:off x="9620459" y="2792603"/>
              <a:ext cx="1177332" cy="1086897"/>
            </a:xfrm>
            <a:prstGeom prst="ellipse">
              <a:avLst/>
            </a:prstGeom>
            <a:noFill/>
            <a:ln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BD434CC2-00E1-4ABE-1EA1-93D412689F7E}"/>
                </a:ext>
              </a:extLst>
            </p:cNvPr>
            <p:cNvSpPr/>
            <p:nvPr/>
          </p:nvSpPr>
          <p:spPr>
            <a:xfrm>
              <a:off x="9274628" y="2401557"/>
              <a:ext cx="1866481" cy="1791118"/>
            </a:xfrm>
            <a:prstGeom prst="ellipse">
              <a:avLst/>
            </a:prstGeom>
            <a:noFill/>
            <a:ln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" name="TextBox 13">
                  <a:extLst>
                    <a:ext uri="{FF2B5EF4-FFF2-40B4-BE49-F238E27FC236}">
                      <a16:creationId xmlns:a16="http://schemas.microsoft.com/office/drawing/2014/main" id="{312F3738-D3AA-D49C-4D80-27EA42E3B5D3}"/>
                    </a:ext>
                  </a:extLst>
                </p:cNvPr>
                <p:cNvSpPr txBox="1"/>
                <p:nvPr/>
              </p:nvSpPr>
              <p:spPr>
                <a:xfrm>
                  <a:off x="9947868" y="2479428"/>
                  <a:ext cx="432079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begChr m:val="|"/>
                            <m:endChr m:val="⟩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e>
                        </m:d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7" name="TextBox 6">
                  <a:extLst>
                    <a:ext uri="{FF2B5EF4-FFF2-40B4-BE49-F238E27FC236}">
                      <a16:creationId xmlns:a16="http://schemas.microsoft.com/office/drawing/2014/main" id="{22C578AD-4411-EA12-39FE-6BED7FAE0B0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947868" y="2479428"/>
                  <a:ext cx="432079" cy="369332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" name="TextBox 14">
                  <a:extLst>
                    <a:ext uri="{FF2B5EF4-FFF2-40B4-BE49-F238E27FC236}">
                      <a16:creationId xmlns:a16="http://schemas.microsoft.com/office/drawing/2014/main" id="{D7645C3B-31C0-7B28-768C-4F78F4501A48}"/>
                    </a:ext>
                  </a:extLst>
                </p:cNvPr>
                <p:cNvSpPr txBox="1"/>
                <p:nvPr/>
              </p:nvSpPr>
              <p:spPr>
                <a:xfrm>
                  <a:off x="10709030" y="2227748"/>
                  <a:ext cx="432079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begChr m:val="|"/>
                            <m:endChr m:val="⟩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d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8" name="TextBox 7">
                  <a:extLst>
                    <a:ext uri="{FF2B5EF4-FFF2-40B4-BE49-F238E27FC236}">
                      <a16:creationId xmlns:a16="http://schemas.microsoft.com/office/drawing/2014/main" id="{E668EB3E-2962-399B-61C6-A03AE06B68A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709030" y="2227748"/>
                  <a:ext cx="432079" cy="369332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85CE6BDA-EA97-825F-9B12-338C1A83ABB2}"/>
                  </a:ext>
                </a:extLst>
              </p:cNvPr>
              <p:cNvSpPr txBox="1"/>
              <p:nvPr/>
            </p:nvSpPr>
            <p:spPr>
              <a:xfrm>
                <a:off x="995838" y="3046712"/>
                <a:ext cx="1523163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𝛼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d>
                        <m:dPr>
                          <m:begChr m:val="|"/>
                          <m:endChr m:val="⟩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𝛼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|1⟩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85CE6BDA-EA97-825F-9B12-338C1A83ABB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5838" y="3046712"/>
                <a:ext cx="1523163" cy="369332"/>
              </a:xfrm>
              <a:prstGeom prst="rect">
                <a:avLst/>
              </a:prstGeom>
              <a:blipFill>
                <a:blip r:embed="rId6"/>
                <a:stretch>
                  <a:fillRect r="-800" b="-15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A76F4D03-3E21-7A26-92E6-B19B6EA6807A}"/>
                  </a:ext>
                </a:extLst>
              </p:cNvPr>
              <p:cNvSpPr txBox="1"/>
              <p:nvPr/>
            </p:nvSpPr>
            <p:spPr>
              <a:xfrm>
                <a:off x="3237899" y="3031303"/>
                <a:ext cx="1523163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d>
                        <m:dPr>
                          <m:begChr m:val="|"/>
                          <m:endChr m:val="⟩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|1⟩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A76F4D03-3E21-7A26-92E6-B19B6EA6807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37899" y="3031303"/>
                <a:ext cx="1523163" cy="369332"/>
              </a:xfrm>
              <a:prstGeom prst="rect">
                <a:avLst/>
              </a:prstGeom>
              <a:blipFill>
                <a:blip r:embed="rId7"/>
                <a:stretch>
                  <a:fillRect b="-1475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78B71713-E71C-2B83-617A-103CA23E4382}"/>
                  </a:ext>
                </a:extLst>
              </p:cNvPr>
              <p:cNvSpPr txBox="1"/>
              <p:nvPr/>
            </p:nvSpPr>
            <p:spPr>
              <a:xfrm>
                <a:off x="995419" y="3545677"/>
                <a:ext cx="1523163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∈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ℂ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78B71713-E71C-2B83-617A-103CA23E438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5419" y="3545677"/>
                <a:ext cx="1523163" cy="369332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FA81E6DE-A8D3-D887-0B5E-484B0655C026}"/>
                  </a:ext>
                </a:extLst>
              </p:cNvPr>
              <p:cNvSpPr txBox="1"/>
              <p:nvPr/>
            </p:nvSpPr>
            <p:spPr>
              <a:xfrm>
                <a:off x="3237899" y="3545677"/>
                <a:ext cx="1523163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∈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ℂ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FA81E6DE-A8D3-D887-0B5E-484B0655C02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37899" y="3545677"/>
                <a:ext cx="1523163" cy="369332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A3742C5E-45C8-094D-CCE4-72DE86B8BDB7}"/>
                  </a:ext>
                </a:extLst>
              </p:cNvPr>
              <p:cNvSpPr txBox="1"/>
              <p:nvPr/>
            </p:nvSpPr>
            <p:spPr>
              <a:xfrm>
                <a:off x="995418" y="3933045"/>
                <a:ext cx="1523163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ℋ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A3742C5E-45C8-094D-CCE4-72DE86B8BDB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5418" y="3933045"/>
                <a:ext cx="1523163" cy="369332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941F8758-19CB-38C2-CB35-B77DA84E7CFA}"/>
                  </a:ext>
                </a:extLst>
              </p:cNvPr>
              <p:cNvSpPr txBox="1"/>
              <p:nvPr/>
            </p:nvSpPr>
            <p:spPr>
              <a:xfrm>
                <a:off x="3237899" y="3933045"/>
                <a:ext cx="1523163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ℋ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941F8758-19CB-38C2-CB35-B77DA84E7CF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37899" y="3933045"/>
                <a:ext cx="1523163" cy="369332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" name="TextBox 21">
            <a:extLst>
              <a:ext uri="{FF2B5EF4-FFF2-40B4-BE49-F238E27FC236}">
                <a16:creationId xmlns:a16="http://schemas.microsoft.com/office/drawing/2014/main" id="{A4C18502-02C1-C33C-F675-A08A3C56CD42}"/>
              </a:ext>
            </a:extLst>
          </p:cNvPr>
          <p:cNvSpPr txBox="1"/>
          <p:nvPr/>
        </p:nvSpPr>
        <p:spPr>
          <a:xfrm>
            <a:off x="104861" y="3591843"/>
            <a:ext cx="1270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Vector space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A7F5D3B4-0F8E-DA7D-0712-54F1E9C68945}"/>
                  </a:ext>
                </a:extLst>
              </p:cNvPr>
              <p:cNvSpPr txBox="1"/>
              <p:nvPr/>
            </p:nvSpPr>
            <p:spPr>
              <a:xfrm>
                <a:off x="995418" y="4351064"/>
                <a:ext cx="1523163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|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𝑢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⟩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A7F5D3B4-0F8E-DA7D-0712-54F1E9C6894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5418" y="4351064"/>
                <a:ext cx="1523163" cy="369332"/>
              </a:xfrm>
              <a:prstGeom prst="rect">
                <a:avLst/>
              </a:prstGeom>
              <a:blipFill>
                <a:blip r:embed="rId12"/>
                <a:stretch>
                  <a:fillRect b="-15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58C7BD3C-5F64-D408-408E-88F6A274948B}"/>
                  </a:ext>
                </a:extLst>
              </p:cNvPr>
              <p:cNvSpPr txBox="1"/>
              <p:nvPr/>
            </p:nvSpPr>
            <p:spPr>
              <a:xfrm>
                <a:off x="3237899" y="4351064"/>
                <a:ext cx="1523163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|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𝑣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⟩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58C7BD3C-5F64-D408-408E-88F6A274948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37899" y="4351064"/>
                <a:ext cx="1523163" cy="369332"/>
              </a:xfrm>
              <a:prstGeom prst="rect">
                <a:avLst/>
              </a:prstGeom>
              <a:blipFill>
                <a:blip r:embed="rId13"/>
                <a:stretch>
                  <a:fillRect b="-15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0C908906-F44C-BA1F-A7E4-63FA50EDB1DC}"/>
                  </a:ext>
                </a:extLst>
              </p:cNvPr>
              <p:cNvSpPr txBox="1"/>
              <p:nvPr/>
            </p:nvSpPr>
            <p:spPr>
              <a:xfrm>
                <a:off x="5755640" y="3031303"/>
                <a:ext cx="460756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d>
                      <m:dPr>
                        <m:begChr m:val="|"/>
                        <m:endChr m:val="⟩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d>
                      <m:dPr>
                        <m:begChr m:val="|"/>
                        <m:endChr m:val="⟩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+</m:t>
                    </m:r>
                  </m:oMath>
                </a14:m>
                <a:r>
                  <a:rPr lang="en-US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d>
                      <m:dPr>
                        <m:begChr m:val="|"/>
                        <m:endChr m:val="⟩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+</m:t>
                    </m:r>
                  </m:oMath>
                </a14:m>
                <a:r>
                  <a:rPr lang="en-US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d>
                      <m:dPr>
                        <m:begChr m:val="|"/>
                        <m:endChr m:val="⟩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11</m:t>
                        </m:r>
                      </m:e>
                    </m:d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0C908906-F44C-BA1F-A7E4-63FA50EDB1D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55640" y="3031303"/>
                <a:ext cx="4607560" cy="369332"/>
              </a:xfrm>
              <a:prstGeom prst="rect">
                <a:avLst/>
              </a:prstGeom>
              <a:blipFill>
                <a:blip r:embed="rId14"/>
                <a:stretch>
                  <a:fillRect b="-1475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AE07C8E5-7DFD-BB68-066C-358A5A28E8C4}"/>
                  </a:ext>
                </a:extLst>
              </p:cNvPr>
              <p:cNvSpPr txBox="1"/>
              <p:nvPr/>
            </p:nvSpPr>
            <p:spPr>
              <a:xfrm>
                <a:off x="7037739" y="3545677"/>
                <a:ext cx="1523163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∈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ℂ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p>
                      </m:sSup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AE07C8E5-7DFD-BB68-066C-358A5A28E8C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37739" y="3545677"/>
                <a:ext cx="1523163" cy="369332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006FF7DF-94CE-F221-8B97-13C8E30ECEAD}"/>
                  </a:ext>
                </a:extLst>
              </p:cNvPr>
              <p:cNvSpPr txBox="1"/>
              <p:nvPr/>
            </p:nvSpPr>
            <p:spPr>
              <a:xfrm>
                <a:off x="7037739" y="3933045"/>
                <a:ext cx="1523163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ℋ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006FF7DF-94CE-F221-8B97-13C8E30ECEA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37739" y="3933045"/>
                <a:ext cx="1523163" cy="369332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2EEF2DBB-00D2-D01A-A82B-27C710E5FB84}"/>
                  </a:ext>
                </a:extLst>
              </p:cNvPr>
              <p:cNvSpPr txBox="1"/>
              <p:nvPr/>
            </p:nvSpPr>
            <p:spPr>
              <a:xfrm>
                <a:off x="7037739" y="4351064"/>
                <a:ext cx="1523163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|"/>
                          <m:endChr m:val="⟩"/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𝑢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⨂</m:t>
                      </m:r>
                      <m:d>
                        <m:dPr>
                          <m:begChr m:val="|"/>
                          <m:endChr m:val="⟩"/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𝑣</m:t>
                          </m:r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2EEF2DBB-00D2-D01A-A82B-27C710E5FB8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37739" y="4351064"/>
                <a:ext cx="1523163" cy="369332"/>
              </a:xfrm>
              <a:prstGeom prst="rect">
                <a:avLst/>
              </a:prstGeom>
              <a:blipFill>
                <a:blip r:embed="rId17"/>
                <a:stretch>
                  <a:fillRect b="-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3004174A-D3D4-2959-253A-AB94DD62E6E8}"/>
                  </a:ext>
                </a:extLst>
              </p:cNvPr>
              <p:cNvSpPr txBox="1"/>
              <p:nvPr/>
            </p:nvSpPr>
            <p:spPr>
              <a:xfrm>
                <a:off x="995418" y="4769083"/>
                <a:ext cx="1523163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|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⟩+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|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⟩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3004174A-D3D4-2959-253A-AB94DD62E6E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5418" y="4769083"/>
                <a:ext cx="1523163" cy="369332"/>
              </a:xfrm>
              <a:prstGeom prst="rect">
                <a:avLst/>
              </a:prstGeom>
              <a:blipFill>
                <a:blip r:embed="rId18"/>
                <a:stretch>
                  <a:fillRect b="-1475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1B2EBEDE-5698-94D6-CBE7-5EE3AC90333C}"/>
                  </a:ext>
                </a:extLst>
              </p:cNvPr>
              <p:cNvSpPr txBox="1"/>
              <p:nvPr/>
            </p:nvSpPr>
            <p:spPr>
              <a:xfrm>
                <a:off x="3237899" y="4769083"/>
                <a:ext cx="1523163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|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𝑣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⟩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1B2EBEDE-5698-94D6-CBE7-5EE3AC90333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37899" y="4769083"/>
                <a:ext cx="1523163" cy="369332"/>
              </a:xfrm>
              <a:prstGeom prst="rect">
                <a:avLst/>
              </a:prstGeom>
              <a:blipFill>
                <a:blip r:embed="rId19"/>
                <a:stretch>
                  <a:fillRect b="-1475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067B67F2-CE2F-502D-56A9-A70762514B3B}"/>
                  </a:ext>
                </a:extLst>
              </p:cNvPr>
              <p:cNvSpPr txBox="1"/>
              <p:nvPr/>
            </p:nvSpPr>
            <p:spPr>
              <a:xfrm>
                <a:off x="7037739" y="4769083"/>
                <a:ext cx="240090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d>
                        <m:dPr>
                          <m:begChr m:val="|"/>
                          <m:endChr m:val="⟩"/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𝑢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+|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⟩)⨂</m:t>
                      </m:r>
                      <m:d>
                        <m:dPr>
                          <m:begChr m:val="|"/>
                          <m:endChr m:val="⟩"/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𝑣</m:t>
                          </m:r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067B67F2-CE2F-502D-56A9-A70762514B3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37739" y="4769083"/>
                <a:ext cx="2400901" cy="369332"/>
              </a:xfrm>
              <a:prstGeom prst="rect">
                <a:avLst/>
              </a:prstGeom>
              <a:blipFill>
                <a:blip r:embed="rId20"/>
                <a:stretch>
                  <a:fillRect b="-1475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CBFB0DC1-3FDF-9A96-7F00-F0EC9A8FC36F}"/>
                  </a:ext>
                </a:extLst>
              </p:cNvPr>
              <p:cNvSpPr txBox="1"/>
              <p:nvPr/>
            </p:nvSpPr>
            <p:spPr>
              <a:xfrm>
                <a:off x="995418" y="5148450"/>
                <a:ext cx="1523163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|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𝑢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⟩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CBFB0DC1-3FDF-9A96-7F00-F0EC9A8FC36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5418" y="5148450"/>
                <a:ext cx="1523163" cy="369332"/>
              </a:xfrm>
              <a:prstGeom prst="rect">
                <a:avLst/>
              </a:prstGeom>
              <a:blipFill>
                <a:blip r:embed="rId21"/>
                <a:stretch>
                  <a:fillRect b="-15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9DBC390A-B486-072F-7B20-A3482FB73C3B}"/>
                  </a:ext>
                </a:extLst>
              </p:cNvPr>
              <p:cNvSpPr txBox="1"/>
              <p:nvPr/>
            </p:nvSpPr>
            <p:spPr>
              <a:xfrm>
                <a:off x="3237899" y="5148450"/>
                <a:ext cx="1523163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|"/>
                          <m:endChr m:val="⟩"/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+|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⟩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9DBC390A-B486-072F-7B20-A3482FB73C3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37899" y="5148450"/>
                <a:ext cx="1523163" cy="369332"/>
              </a:xfrm>
              <a:prstGeom prst="rect">
                <a:avLst/>
              </a:prstGeom>
              <a:blipFill>
                <a:blip r:embed="rId22"/>
                <a:stretch>
                  <a:fillRect b="-15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747B198C-ED5F-F136-2D5C-4C2FF439E951}"/>
                  </a:ext>
                </a:extLst>
              </p:cNvPr>
              <p:cNvSpPr txBox="1"/>
              <p:nvPr/>
            </p:nvSpPr>
            <p:spPr>
              <a:xfrm>
                <a:off x="7037739" y="5148450"/>
                <a:ext cx="240090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|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𝑢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⟩⨂(</m:t>
                      </m:r>
                      <m:d>
                        <m:dPr>
                          <m:begChr m:val="|"/>
                          <m:endChr m:val="⟩"/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+|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⟩)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747B198C-ED5F-F136-2D5C-4C2FF439E95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37739" y="5148450"/>
                <a:ext cx="2400901" cy="369332"/>
              </a:xfrm>
              <a:prstGeom prst="rect">
                <a:avLst/>
              </a:prstGeom>
              <a:blipFill>
                <a:blip r:embed="rId23"/>
                <a:stretch>
                  <a:fillRect b="-15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0232C428-1158-4B4F-70A7-C050CE03D5E7}"/>
                  </a:ext>
                </a:extLst>
              </p:cNvPr>
              <p:cNvSpPr txBox="1"/>
              <p:nvPr/>
            </p:nvSpPr>
            <p:spPr>
              <a:xfrm>
                <a:off x="995418" y="5527817"/>
                <a:ext cx="1523163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|0⟩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0232C428-1158-4B4F-70A7-C050CE03D5E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5418" y="5527817"/>
                <a:ext cx="1523163" cy="369332"/>
              </a:xfrm>
              <a:prstGeom prst="rect">
                <a:avLst/>
              </a:prstGeom>
              <a:blipFill>
                <a:blip r:embed="rId24"/>
                <a:stretch>
                  <a:fillRect b="-15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EF45C2EB-BBB0-B7DA-C485-4A2BF0210498}"/>
                  </a:ext>
                </a:extLst>
              </p:cNvPr>
              <p:cNvSpPr txBox="1"/>
              <p:nvPr/>
            </p:nvSpPr>
            <p:spPr>
              <a:xfrm>
                <a:off x="3237899" y="5527817"/>
                <a:ext cx="1523163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|"/>
                          <m:endChr m:val="⟩"/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</m:t>
                          </m:r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EF45C2EB-BBB0-B7DA-C485-4A2BF021049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37899" y="5527817"/>
                <a:ext cx="1523163" cy="369332"/>
              </a:xfrm>
              <a:prstGeom prst="rect">
                <a:avLst/>
              </a:prstGeom>
              <a:blipFill>
                <a:blip r:embed="rId2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6A175D35-A5BD-ADEF-9917-FDF65DF2DE46}"/>
                  </a:ext>
                </a:extLst>
              </p:cNvPr>
              <p:cNvSpPr txBox="1"/>
              <p:nvPr/>
            </p:nvSpPr>
            <p:spPr>
              <a:xfrm>
                <a:off x="7037739" y="5527817"/>
                <a:ext cx="291906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|"/>
                          <m:endChr m:val="⟩"/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⨂</m:t>
                      </m:r>
                      <m:d>
                        <m:dPr>
                          <m:begChr m:val="|"/>
                          <m:endChr m:val="⟩"/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|"/>
                          <m:endChr m:val="⟩"/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</m:t>
                          </m:r>
                        </m:e>
                      </m:d>
                      <m:d>
                        <m:dPr>
                          <m:begChr m:val="|"/>
                          <m:endChr m:val="⟩"/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=|00⟩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6A175D35-A5BD-ADEF-9917-FDF65DF2DE4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37739" y="5527817"/>
                <a:ext cx="2919061" cy="369332"/>
              </a:xfrm>
              <a:prstGeom prst="rect">
                <a:avLst/>
              </a:prstGeom>
              <a:blipFill>
                <a:blip r:embed="rId26"/>
                <a:stretch>
                  <a:fillRect b="-15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67A53F70-D519-279A-8572-1D1BCCB55898}"/>
                  </a:ext>
                </a:extLst>
              </p:cNvPr>
              <p:cNvSpPr txBox="1"/>
              <p:nvPr/>
            </p:nvSpPr>
            <p:spPr>
              <a:xfrm>
                <a:off x="995418" y="5857525"/>
                <a:ext cx="1523163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|1⟩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67A53F70-D519-279A-8572-1D1BCCB5589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5418" y="5857525"/>
                <a:ext cx="1523163" cy="369332"/>
              </a:xfrm>
              <a:prstGeom prst="rect">
                <a:avLst/>
              </a:prstGeom>
              <a:blipFill>
                <a:blip r:embed="rId27"/>
                <a:stretch>
                  <a:fillRect b="-15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533B5D48-8C03-D3CF-64B1-9410F1A98E54}"/>
                  </a:ext>
                </a:extLst>
              </p:cNvPr>
              <p:cNvSpPr txBox="1"/>
              <p:nvPr/>
            </p:nvSpPr>
            <p:spPr>
              <a:xfrm>
                <a:off x="3237899" y="5857525"/>
                <a:ext cx="1523163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|"/>
                          <m:endChr m:val="⟩"/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</m:t>
                          </m:r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533B5D48-8C03-D3CF-64B1-9410F1A98E5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37899" y="5857525"/>
                <a:ext cx="1523163" cy="369332"/>
              </a:xfrm>
              <a:prstGeom prst="rect">
                <a:avLst/>
              </a:prstGeom>
              <a:blipFill>
                <a:blip r:embed="rId2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C769B8FF-4436-E2CB-8728-8A5BFDAB27B6}"/>
                  </a:ext>
                </a:extLst>
              </p:cNvPr>
              <p:cNvSpPr txBox="1"/>
              <p:nvPr/>
            </p:nvSpPr>
            <p:spPr>
              <a:xfrm>
                <a:off x="7037739" y="5857525"/>
                <a:ext cx="291906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|10⟩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C769B8FF-4436-E2CB-8728-8A5BFDAB27B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37739" y="5857525"/>
                <a:ext cx="2919061" cy="369332"/>
              </a:xfrm>
              <a:prstGeom prst="rect">
                <a:avLst/>
              </a:prstGeom>
              <a:blipFill>
                <a:blip r:embed="rId29"/>
                <a:stretch>
                  <a:fillRect b="-15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7242827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3C4666-1742-124D-58BD-D65F070AE1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No Cloning Theorem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B77689E-EFA9-3AC7-033E-48D40D6EB097}"/>
                  </a:ext>
                </a:extLst>
              </p:cNvPr>
              <p:cNvSpPr>
                <a:spLocks noGrp="1"/>
              </p:cNvSpPr>
              <p:nvPr>
                <p:ph sz="quarter" idx="1"/>
              </p:nvPr>
            </p:nvSpPr>
            <p:spPr>
              <a:xfrm>
                <a:off x="157506" y="1032692"/>
                <a:ext cx="7114271" cy="4620258"/>
              </a:xfrm>
            </p:spPr>
            <p:txBody>
              <a:bodyPr>
                <a:normAutofit/>
              </a:bodyPr>
              <a:lstStyle/>
              <a:p>
                <a:r>
                  <a:rPr lang="en-US" sz="2400" dirty="0"/>
                  <a:t>Given a state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⟩"/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𝜓</m:t>
                        </m:r>
                      </m:e>
                    </m:d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𝛼</m:t>
                    </m:r>
                    <m:d>
                      <m:dPr>
                        <m:begChr m:val="|"/>
                        <m:endChr m:val="⟩"/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𝛽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|1⟩</m:t>
                    </m:r>
                  </m:oMath>
                </a14:m>
                <a:r>
                  <a:rPr lang="en-US" sz="2400" dirty="0"/>
                  <a:t>, and another qubit in state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⟩"/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</m:oMath>
                </a14:m>
                <a:r>
                  <a:rPr lang="en-US" sz="2400" dirty="0"/>
                  <a:t>, we want to copy the qubit.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𝛼</m:t>
                    </m:r>
                    <m:d>
                      <m:dPr>
                        <m:begChr m:val="|"/>
                        <m:endChr m:val="⟩"/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𝛽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|1⟩)⨂|0⟩→(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𝛼</m:t>
                    </m:r>
                    <m:d>
                      <m:dPr>
                        <m:begChr m:val="|"/>
                        <m:endChr m:val="⟩"/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  <m:r>
                      <a:rPr lang="en-US" sz="2000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𝛽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|1⟩)(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𝛼</m:t>
                    </m:r>
                    <m:d>
                      <m:dPr>
                        <m:begChr m:val="|"/>
                        <m:endChr m:val="⟩"/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  <m:r>
                      <a:rPr lang="en-US" sz="2000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𝛽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|1⟩)=</m:t>
                    </m:r>
                    <m:sSup>
                      <m:sSup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  <m:sup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d>
                      <m:dPr>
                        <m:begChr m:val="|"/>
                        <m:endChr m:val="⟩"/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00</m:t>
                        </m:r>
                      </m:e>
                    </m:d>
                    <m:r>
                      <a:rPr lang="en-US" sz="2000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𝛼𝛽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|01⟩+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𝛽𝛼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|10⟩+</m:t>
                    </m:r>
                    <m:sSup>
                      <m:sSup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p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2000" i="1">
                        <a:latin typeface="Cambria Math" panose="02040503050406030204" pitchFamily="18" charset="0"/>
                      </a:rPr>
                      <m:t>|1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⟩</m:t>
                    </m:r>
                  </m:oMath>
                </a14:m>
                <a:endParaRPr lang="en-US" sz="2000" dirty="0"/>
              </a:p>
              <a:p>
                <a:r>
                  <a:rPr lang="en-US" sz="2400" dirty="0"/>
                  <a:t>If this is possible by some transformation U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sz="2000" b="0" i="1" dirty="0" smtClean="0">
                        <a:latin typeface="Cambria Math" panose="02040503050406030204" pitchFamily="18" charset="0"/>
                      </a:rPr>
                      <m:t>𝑈</m:t>
                    </m:r>
                    <m:d>
                      <m:dPr>
                        <m:begChr m:val="|"/>
                        <m:endChr m:val="⟩"/>
                        <m:ctrlPr>
                          <a:rPr lang="en-US" sz="200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i="1" dirty="0" smtClean="0">
                            <a:latin typeface="Cambria Math" panose="02040503050406030204" pitchFamily="18" charset="0"/>
                          </a:rPr>
                          <m:t>00</m:t>
                        </m:r>
                      </m:e>
                    </m:d>
                    <m:r>
                      <a:rPr lang="en-US" sz="2000" b="0" i="1" dirty="0" smtClean="0">
                        <a:latin typeface="Cambria Math" panose="02040503050406030204" pitchFamily="18" charset="0"/>
                      </a:rPr>
                      <m:t>→</m:t>
                    </m:r>
                    <m:d>
                      <m:dPr>
                        <m:begChr m:val="|"/>
                        <m:endChr m:val="⟩"/>
                        <m:ctrlPr>
                          <a:rPr lang="en-US" sz="2000" b="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dirty="0" smtClean="0">
                            <a:latin typeface="Cambria Math" panose="02040503050406030204" pitchFamily="18" charset="0"/>
                          </a:rPr>
                          <m:t>00</m:t>
                        </m:r>
                      </m:e>
                    </m:d>
                  </m:oMath>
                </a14:m>
                <a:endParaRPr lang="en-US" sz="2000" b="0" dirty="0"/>
              </a:p>
              <a:p>
                <a:pPr lvl="1"/>
                <a14:m>
                  <m:oMath xmlns:m="http://schemas.openxmlformats.org/officeDocument/2006/math">
                    <m:r>
                      <a:rPr lang="en-US" sz="2000" b="0" i="1" dirty="0" smtClean="0">
                        <a:latin typeface="Cambria Math" panose="02040503050406030204" pitchFamily="18" charset="0"/>
                      </a:rPr>
                      <m:t>𝑈</m:t>
                    </m:r>
                    <m:d>
                      <m:dPr>
                        <m:begChr m:val="|"/>
                        <m:endChr m:val="⟩"/>
                        <m:ctrlPr>
                          <a:rPr lang="en-US" sz="200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en-US" sz="2000" i="1" dirty="0" smtClean="0"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  <m:r>
                      <a:rPr lang="en-US" sz="2000" b="0" i="1" dirty="0" smtClean="0">
                        <a:latin typeface="Cambria Math" panose="02040503050406030204" pitchFamily="18" charset="0"/>
                      </a:rPr>
                      <m:t>→</m:t>
                    </m:r>
                    <m:d>
                      <m:dPr>
                        <m:begChr m:val="|"/>
                        <m:endChr m:val="⟩"/>
                        <m:ctrlPr>
                          <a:rPr lang="en-US" sz="2000" b="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dirty="0" smtClean="0">
                            <a:latin typeface="Cambria Math" panose="02040503050406030204" pitchFamily="18" charset="0"/>
                          </a:rPr>
                          <m:t>11</m:t>
                        </m:r>
                      </m:e>
                    </m:d>
                  </m:oMath>
                </a14:m>
                <a:endParaRPr lang="en-US" sz="2000" b="0" dirty="0"/>
              </a:p>
              <a:p>
                <a:r>
                  <a:rPr lang="en-US" sz="2400" dirty="0"/>
                  <a:t>Where does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𝛼</m:t>
                    </m:r>
                    <m:d>
                      <m:dPr>
                        <m:begChr m:val="|"/>
                        <m:endChr m:val="⟩"/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𝛽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|1⟩)⨂|0⟩</m:t>
                    </m:r>
                  </m:oMath>
                </a14:m>
                <a:r>
                  <a:rPr lang="en-US" sz="2400" dirty="0"/>
                  <a:t> get mapped to?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𝑈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𝛼</m:t>
                    </m:r>
                    <m:d>
                      <m:dPr>
                        <m:begChr m:val="|"/>
                        <m:endChr m:val="⟩"/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𝛽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|1⟩)⨂|0⟩=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𝑈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𝛼</m:t>
                    </m:r>
                    <m:d>
                      <m:dPr>
                        <m:begChr m:val="|"/>
                        <m:endChr m:val="⟩"/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  <m:r>
                      <a:rPr lang="en-US" sz="2000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𝛽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|10⟩)</m:t>
                    </m:r>
                  </m:oMath>
                </a14:m>
                <a:endParaRPr lang="en-US" sz="2000" b="0" i="1" dirty="0">
                  <a:latin typeface="Cambria Math" panose="02040503050406030204" pitchFamily="18" charset="0"/>
                </a:endParaRPr>
              </a:p>
              <a:p>
                <a:pPr lvl="1"/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 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𝛼</m:t>
                    </m:r>
                    <m:d>
                      <m:dPr>
                        <m:begChr m:val="|"/>
                        <m:endChr m:val="⟩"/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00</m:t>
                        </m:r>
                      </m:e>
                    </m:d>
                    <m:r>
                      <a:rPr lang="en-US" sz="2000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𝛽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|11⟩≠</m:t>
                    </m:r>
                    <m:sSup>
                      <m:sSup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  <m:sup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d>
                      <m:dPr>
                        <m:begChr m:val="|"/>
                        <m:endChr m:val="⟩"/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00</m:t>
                        </m:r>
                      </m:e>
                    </m:d>
                    <m:r>
                      <a:rPr lang="en-US" sz="2000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𝛼𝛽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|01⟩+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𝛽𝛼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|10⟩+</m:t>
                    </m:r>
                    <m:sSup>
                      <m:sSup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p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2000" i="1">
                        <a:latin typeface="Cambria Math" panose="02040503050406030204" pitchFamily="18" charset="0"/>
                      </a:rPr>
                      <m:t>|11⟩</m:t>
                    </m:r>
                  </m:oMath>
                </a14:m>
                <a:r>
                  <a:rPr lang="en-US" sz="2000" dirty="0"/>
                  <a:t> 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B77689E-EFA9-3AC7-033E-48D40D6EB09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xfrm>
                <a:off x="157506" y="1032692"/>
                <a:ext cx="7114271" cy="4620258"/>
              </a:xfrm>
              <a:blipFill>
                <a:blip r:embed="rId2"/>
                <a:stretch>
                  <a:fillRect l="-600" t="-1055" r="-8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4" name="Group 13">
            <a:extLst>
              <a:ext uri="{FF2B5EF4-FFF2-40B4-BE49-F238E27FC236}">
                <a16:creationId xmlns:a16="http://schemas.microsoft.com/office/drawing/2014/main" id="{3C4C468A-6495-00FC-CF51-E050321E1FB9}"/>
              </a:ext>
            </a:extLst>
          </p:cNvPr>
          <p:cNvGrpSpPr/>
          <p:nvPr/>
        </p:nvGrpSpPr>
        <p:grpSpPr>
          <a:xfrm>
            <a:off x="7247466" y="1157620"/>
            <a:ext cx="4369708" cy="1072076"/>
            <a:chOff x="7247466" y="1157620"/>
            <a:chExt cx="4369708" cy="1072076"/>
          </a:xfrm>
        </p:grpSpPr>
        <p:sp>
          <p:nvSpPr>
            <p:cNvPr id="5" name="Rectangle: Rounded Corners 14">
              <a:extLst>
                <a:ext uri="{FF2B5EF4-FFF2-40B4-BE49-F238E27FC236}">
                  <a16:creationId xmlns:a16="http://schemas.microsoft.com/office/drawing/2014/main" id="{E8F688E6-BA2E-8A68-5CBB-FE607FB143F8}"/>
                </a:ext>
              </a:extLst>
            </p:cNvPr>
            <p:cNvSpPr/>
            <p:nvPr/>
          </p:nvSpPr>
          <p:spPr>
            <a:xfrm>
              <a:off x="9612585" y="1342286"/>
              <a:ext cx="803868" cy="816610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U</a:t>
              </a:r>
            </a:p>
          </p:txBody>
        </p:sp>
        <p:cxnSp>
          <p:nvCxnSpPr>
            <p:cNvPr id="6" name="Straight Arrow Connector 5">
              <a:extLst>
                <a:ext uri="{FF2B5EF4-FFF2-40B4-BE49-F238E27FC236}">
                  <a16:creationId xmlns:a16="http://schemas.microsoft.com/office/drawing/2014/main" id="{E8B25999-47E2-1822-D052-4CEF25368851}"/>
                </a:ext>
              </a:extLst>
            </p:cNvPr>
            <p:cNvCxnSpPr>
              <a:cxnSpLocks/>
            </p:cNvCxnSpPr>
            <p:nvPr/>
          </p:nvCxnSpPr>
          <p:spPr>
            <a:xfrm>
              <a:off x="8982394" y="1605117"/>
              <a:ext cx="630191" cy="0"/>
            </a:xfrm>
            <a:prstGeom prst="straightConnector1">
              <a:avLst/>
            </a:prstGeom>
            <a:ln>
              <a:solidFill>
                <a:srgbClr val="00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Straight Arrow Connector 6">
              <a:extLst>
                <a:ext uri="{FF2B5EF4-FFF2-40B4-BE49-F238E27FC236}">
                  <a16:creationId xmlns:a16="http://schemas.microsoft.com/office/drawing/2014/main" id="{6C981F12-366F-7B43-5043-F4D189556EB2}"/>
                </a:ext>
              </a:extLst>
            </p:cNvPr>
            <p:cNvCxnSpPr>
              <a:cxnSpLocks/>
            </p:cNvCxnSpPr>
            <p:nvPr/>
          </p:nvCxnSpPr>
          <p:spPr>
            <a:xfrm>
              <a:off x="10416453" y="1605117"/>
              <a:ext cx="592853" cy="0"/>
            </a:xfrm>
            <a:prstGeom prst="straightConnector1">
              <a:avLst/>
            </a:prstGeom>
            <a:ln>
              <a:solidFill>
                <a:srgbClr val="00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TextBox 7">
                  <a:extLst>
                    <a:ext uri="{FF2B5EF4-FFF2-40B4-BE49-F238E27FC236}">
                      <a16:creationId xmlns:a16="http://schemas.microsoft.com/office/drawing/2014/main" id="{108923FE-18ED-FA86-6465-E7A500C4C8BF}"/>
                    </a:ext>
                  </a:extLst>
                </p:cNvPr>
                <p:cNvSpPr txBox="1"/>
                <p:nvPr/>
              </p:nvSpPr>
              <p:spPr>
                <a:xfrm>
                  <a:off x="7247466" y="1205050"/>
                  <a:ext cx="2061789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begChr m:val="|"/>
                            <m:endChr m:val="⟩"/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𝜓</m:t>
                            </m:r>
                          </m:e>
                        </m:d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𝛼</m:t>
                        </m:r>
                        <m:d>
                          <m:dPr>
                            <m:begChr m:val="|"/>
                            <m:endChr m:val="⟩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e>
                        </m:d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𝛽</m:t>
                        </m:r>
                        <m:d>
                          <m:dPr>
                            <m:begChr m:val="|"/>
                            <m:endChr m:val="⟩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d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8" name="TextBox 7">
                  <a:extLst>
                    <a:ext uri="{FF2B5EF4-FFF2-40B4-BE49-F238E27FC236}">
                      <a16:creationId xmlns:a16="http://schemas.microsoft.com/office/drawing/2014/main" id="{108923FE-18ED-FA86-6465-E7A500C4C8B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247466" y="1205050"/>
                  <a:ext cx="2061789" cy="369332"/>
                </a:xfrm>
                <a:prstGeom prst="rect">
                  <a:avLst/>
                </a:prstGeom>
                <a:blipFill>
                  <a:blip r:embed="rId3"/>
                  <a:stretch>
                    <a:fillRect b="-150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9" name="Straight Arrow Connector 8">
              <a:extLst>
                <a:ext uri="{FF2B5EF4-FFF2-40B4-BE49-F238E27FC236}">
                  <a16:creationId xmlns:a16="http://schemas.microsoft.com/office/drawing/2014/main" id="{0379C225-D6DF-2584-530B-787E49CE6F8B}"/>
                </a:ext>
              </a:extLst>
            </p:cNvPr>
            <p:cNvCxnSpPr>
              <a:cxnSpLocks/>
            </p:cNvCxnSpPr>
            <p:nvPr/>
          </p:nvCxnSpPr>
          <p:spPr>
            <a:xfrm>
              <a:off x="8992785" y="1851035"/>
              <a:ext cx="619799" cy="0"/>
            </a:xfrm>
            <a:prstGeom prst="straightConnector1">
              <a:avLst/>
            </a:prstGeom>
            <a:ln>
              <a:solidFill>
                <a:srgbClr val="00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Arrow Connector 9">
              <a:extLst>
                <a:ext uri="{FF2B5EF4-FFF2-40B4-BE49-F238E27FC236}">
                  <a16:creationId xmlns:a16="http://schemas.microsoft.com/office/drawing/2014/main" id="{4F3820FA-62D6-E806-903E-BD42C0FB5B86}"/>
                </a:ext>
              </a:extLst>
            </p:cNvPr>
            <p:cNvCxnSpPr>
              <a:cxnSpLocks/>
            </p:cNvCxnSpPr>
            <p:nvPr/>
          </p:nvCxnSpPr>
          <p:spPr>
            <a:xfrm>
              <a:off x="10416453" y="1851035"/>
              <a:ext cx="592853" cy="0"/>
            </a:xfrm>
            <a:prstGeom prst="straightConnector1">
              <a:avLst/>
            </a:prstGeom>
            <a:ln>
              <a:solidFill>
                <a:srgbClr val="00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" name="TextBox 10">
                  <a:extLst>
                    <a:ext uri="{FF2B5EF4-FFF2-40B4-BE49-F238E27FC236}">
                      <a16:creationId xmlns:a16="http://schemas.microsoft.com/office/drawing/2014/main" id="{5B189DE6-4ECE-26C9-1718-4BFCD70BC502}"/>
                    </a:ext>
                  </a:extLst>
                </p:cNvPr>
                <p:cNvSpPr txBox="1"/>
                <p:nvPr/>
              </p:nvSpPr>
              <p:spPr>
                <a:xfrm>
                  <a:off x="10813306" y="1157620"/>
                  <a:ext cx="803868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begChr m:val="|"/>
                            <m:endChr m:val="⟩"/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𝜓</m:t>
                            </m:r>
                          </m:e>
                        </m:d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1" name="TextBox 10">
                  <a:extLst>
                    <a:ext uri="{FF2B5EF4-FFF2-40B4-BE49-F238E27FC236}">
                      <a16:creationId xmlns:a16="http://schemas.microsoft.com/office/drawing/2014/main" id="{5B189DE6-4ECE-26C9-1718-4BFCD70BC50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813306" y="1157620"/>
                  <a:ext cx="803868" cy="369332"/>
                </a:xfrm>
                <a:prstGeom prst="rect">
                  <a:avLst/>
                </a:prstGeom>
                <a:blipFill>
                  <a:blip r:embed="rId4"/>
                  <a:stretch>
                    <a:fillRect b="-150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" name="TextBox 11">
                  <a:extLst>
                    <a:ext uri="{FF2B5EF4-FFF2-40B4-BE49-F238E27FC236}">
                      <a16:creationId xmlns:a16="http://schemas.microsoft.com/office/drawing/2014/main" id="{A74F6675-C3F1-9483-8A6A-2552798A2AB7}"/>
                    </a:ext>
                  </a:extLst>
                </p:cNvPr>
                <p:cNvSpPr txBox="1"/>
                <p:nvPr/>
              </p:nvSpPr>
              <p:spPr>
                <a:xfrm>
                  <a:off x="7864631" y="1837213"/>
                  <a:ext cx="1444625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begChr m:val="|"/>
                            <m:endChr m:val="⟩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e>
                        </m:d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2" name="TextBox 11">
                  <a:extLst>
                    <a:ext uri="{FF2B5EF4-FFF2-40B4-BE49-F238E27FC236}">
                      <a16:creationId xmlns:a16="http://schemas.microsoft.com/office/drawing/2014/main" id="{A74F6675-C3F1-9483-8A6A-2552798A2AB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864631" y="1837213"/>
                  <a:ext cx="1444625" cy="369332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" name="TextBox 12">
                  <a:extLst>
                    <a:ext uri="{FF2B5EF4-FFF2-40B4-BE49-F238E27FC236}">
                      <a16:creationId xmlns:a16="http://schemas.microsoft.com/office/drawing/2014/main" id="{A7F44E72-8F7C-83F9-6F47-8D8AD60EAE41}"/>
                    </a:ext>
                  </a:extLst>
                </p:cNvPr>
                <p:cNvSpPr txBox="1"/>
                <p:nvPr/>
              </p:nvSpPr>
              <p:spPr>
                <a:xfrm>
                  <a:off x="10813306" y="1860364"/>
                  <a:ext cx="803868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begChr m:val="|"/>
                            <m:endChr m:val="⟩"/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𝜓</m:t>
                            </m:r>
                          </m:e>
                        </m:d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3" name="TextBox 12">
                  <a:extLst>
                    <a:ext uri="{FF2B5EF4-FFF2-40B4-BE49-F238E27FC236}">
                      <a16:creationId xmlns:a16="http://schemas.microsoft.com/office/drawing/2014/main" id="{A7F44E72-8F7C-83F9-6F47-8D8AD60EAE4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813306" y="1860364"/>
                  <a:ext cx="803868" cy="369332"/>
                </a:xfrm>
                <a:prstGeom prst="rect">
                  <a:avLst/>
                </a:prstGeom>
                <a:blipFill>
                  <a:blip r:embed="rId6"/>
                  <a:stretch>
                    <a:fillRect b="-14754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15" name="TextBox 14">
            <a:extLst>
              <a:ext uri="{FF2B5EF4-FFF2-40B4-BE49-F238E27FC236}">
                <a16:creationId xmlns:a16="http://schemas.microsoft.com/office/drawing/2014/main" id="{8B1EA844-8306-A7E7-13E2-766995F6A0F5}"/>
              </a:ext>
            </a:extLst>
          </p:cNvPr>
          <p:cNvSpPr txBox="1"/>
          <p:nvPr/>
        </p:nvSpPr>
        <p:spPr>
          <a:xfrm>
            <a:off x="7804108" y="4052774"/>
            <a:ext cx="4086578" cy="646331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No-cloning theorem: There is no Unitary transformation that copies a qubit.</a:t>
            </a:r>
          </a:p>
        </p:txBody>
      </p:sp>
    </p:spTree>
    <p:extLst>
      <p:ext uri="{BB962C8B-B14F-4D97-AF65-F5344CB8AC3E}">
        <p14:creationId xmlns:p14="http://schemas.microsoft.com/office/powerpoint/2010/main" val="414736772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D75929-7D82-6BFA-577C-73247D9998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Quantum Teleportation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DD0AFC-2C46-B105-015F-4AF04417D814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5021987" y="1083733"/>
            <a:ext cx="6644441" cy="2713055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How can Alice transfer a qubit in unknown state to Bob.</a:t>
            </a:r>
          </a:p>
          <a:p>
            <a:r>
              <a:rPr lang="en-US" dirty="0"/>
              <a:t>Cannot measure as that destroys the qubit state.</a:t>
            </a:r>
          </a:p>
          <a:p>
            <a:pPr lvl="1"/>
            <a:r>
              <a:rPr lang="en-US" dirty="0"/>
              <a:t>And learn very little about the state.</a:t>
            </a:r>
          </a:p>
          <a:p>
            <a:r>
              <a:rPr lang="en-US" dirty="0"/>
              <a:t>Problem especially important because of the no-cloning theorem.</a:t>
            </a:r>
          </a:p>
        </p:txBody>
      </p:sp>
      <p:pic>
        <p:nvPicPr>
          <p:cNvPr id="5" name="Graphic 4" descr="Woman outline">
            <a:extLst>
              <a:ext uri="{FF2B5EF4-FFF2-40B4-BE49-F238E27FC236}">
                <a16:creationId xmlns:a16="http://schemas.microsoft.com/office/drawing/2014/main" id="{F93C5272-AB4A-9C71-66BE-CCAF7C7BBE6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71534" y="1463114"/>
            <a:ext cx="914400" cy="9144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E4179E19-3C35-3553-DFB5-C625EBFFDAFF}"/>
              </a:ext>
            </a:extLst>
          </p:cNvPr>
          <p:cNvSpPr txBox="1"/>
          <p:nvPr/>
        </p:nvSpPr>
        <p:spPr>
          <a:xfrm>
            <a:off x="1371535" y="1083733"/>
            <a:ext cx="914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Alice</a:t>
            </a:r>
          </a:p>
        </p:txBody>
      </p:sp>
      <p:pic>
        <p:nvPicPr>
          <p:cNvPr id="7" name="Graphic 6" descr="Man with solid fill">
            <a:extLst>
              <a:ext uri="{FF2B5EF4-FFF2-40B4-BE49-F238E27FC236}">
                <a16:creationId xmlns:a16="http://schemas.microsoft.com/office/drawing/2014/main" id="{5F165090-FE3D-7349-0328-AD359FB6A56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274637" y="1500201"/>
            <a:ext cx="914400" cy="91440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158C3C68-0EE5-D0E0-44F1-5C436DDB676D}"/>
              </a:ext>
            </a:extLst>
          </p:cNvPr>
          <p:cNvSpPr txBox="1"/>
          <p:nvPr/>
        </p:nvSpPr>
        <p:spPr>
          <a:xfrm>
            <a:off x="3274636" y="1099454"/>
            <a:ext cx="7586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Bob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DA87E778-222C-C3BE-FD4F-B67802FE70D1}"/>
              </a:ext>
            </a:extLst>
          </p:cNvPr>
          <p:cNvCxnSpPr>
            <a:cxnSpLocks/>
          </p:cNvCxnSpPr>
          <p:nvPr/>
        </p:nvCxnSpPr>
        <p:spPr>
          <a:xfrm>
            <a:off x="2548570" y="1182989"/>
            <a:ext cx="0" cy="1639233"/>
          </a:xfrm>
          <a:prstGeom prst="line">
            <a:avLst/>
          </a:prstGeom>
          <a:ln>
            <a:solidFill>
              <a:srgbClr val="000000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7CD5E4FA-A808-4944-7015-6B5346663E50}"/>
                  </a:ext>
                </a:extLst>
              </p:cNvPr>
              <p:cNvSpPr txBox="1"/>
              <p:nvPr/>
            </p:nvSpPr>
            <p:spPr>
              <a:xfrm>
                <a:off x="287430" y="2539516"/>
                <a:ext cx="2048864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|"/>
                          <m:endChr m:val="⟩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𝜓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𝛼</m:t>
                      </m:r>
                      <m:d>
                        <m:dPr>
                          <m:begChr m:val="|"/>
                          <m:endChr m:val="⟩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𝛽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|1⟩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7CD5E4FA-A808-4944-7015-6B5346663E5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7430" y="2539516"/>
                <a:ext cx="2048864" cy="369332"/>
              </a:xfrm>
              <a:prstGeom prst="rect">
                <a:avLst/>
              </a:prstGeom>
              <a:blipFill>
                <a:blip r:embed="rId6"/>
                <a:stretch>
                  <a:fillRect r="-595" b="-15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" name="Arrow: Striped Right 20">
            <a:extLst>
              <a:ext uri="{FF2B5EF4-FFF2-40B4-BE49-F238E27FC236}">
                <a16:creationId xmlns:a16="http://schemas.microsoft.com/office/drawing/2014/main" id="{F3074ABA-70A7-2A99-B705-145699404816}"/>
              </a:ext>
            </a:extLst>
          </p:cNvPr>
          <p:cNvSpPr/>
          <p:nvPr/>
        </p:nvSpPr>
        <p:spPr>
          <a:xfrm>
            <a:off x="1888747" y="2822183"/>
            <a:ext cx="1264355" cy="339906"/>
          </a:xfrm>
          <a:prstGeom prst="stripedRightArrow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861741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2F3694-44FD-EDD1-9572-6656F33301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Using CNOT Gate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616C08C-732A-453F-7B3E-7E9B23112A85}"/>
                  </a:ext>
                </a:extLst>
              </p:cNvPr>
              <p:cNvSpPr>
                <a:spLocks noGrp="1"/>
              </p:cNvSpPr>
              <p:nvPr>
                <p:ph sz="quarter" idx="1"/>
              </p:nvPr>
            </p:nvSpPr>
            <p:spPr>
              <a:xfrm>
                <a:off x="341540" y="969477"/>
                <a:ext cx="7387676" cy="5295855"/>
              </a:xfrm>
            </p:spPr>
            <p:txBody>
              <a:bodyPr>
                <a:normAutofit/>
              </a:bodyPr>
              <a:lstStyle/>
              <a:p>
                <a:r>
                  <a:rPr lang="en-US" sz="1800" dirty="0"/>
                  <a:t>Assume:</a:t>
                </a:r>
              </a:p>
              <a:p>
                <a:pPr lvl="1"/>
                <a:r>
                  <a:rPr lang="en-US" sz="1600" dirty="0"/>
                  <a:t>Alice’s qubit =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⟩"/>
                        <m:ctrlPr>
                          <a:rPr lang="en-US" sz="16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𝜓</m:t>
                        </m:r>
                      </m:e>
                    </m:d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𝛼</m:t>
                    </m:r>
                    <m:d>
                      <m:dPr>
                        <m:begChr m:val="|"/>
                        <m:endChr m:val="⟩"/>
                        <m:ctrlPr>
                          <a:rPr lang="en-US" sz="16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𝛽</m:t>
                    </m:r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1⟩</m:t>
                    </m:r>
                  </m:oMath>
                </a14:m>
                <a:endParaRPr lang="en-US" sz="1600" dirty="0"/>
              </a:p>
              <a:p>
                <a:pPr lvl="1"/>
                <a:r>
                  <a:rPr lang="en-US" sz="1600" dirty="0"/>
                  <a:t>Bob’s qubit is at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⟩"/>
                        <m:ctrlPr>
                          <a:rPr lang="en-US" sz="16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</m:oMath>
                </a14:m>
                <a:endParaRPr lang="en-US" sz="1600" b="0" dirty="0"/>
              </a:p>
              <a:p>
                <a:r>
                  <a:rPr lang="en-US" sz="1800" dirty="0"/>
                  <a:t>Alice applies CNOT on Bob’s qubit, with her qubit as the control qubit.</a:t>
                </a:r>
              </a:p>
              <a:p>
                <a:r>
                  <a:rPr lang="en-US" sz="1800" dirty="0"/>
                  <a:t>Alice measures her qubit in {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⟩"/>
                        <m:ctrlPr>
                          <a:rPr lang="en-US" sz="1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, |1⟩</m:t>
                    </m:r>
                  </m:oMath>
                </a14:m>
                <a:r>
                  <a:rPr lang="en-US" sz="1800" dirty="0"/>
                  <a:t>} basis.</a:t>
                </a:r>
              </a:p>
              <a:p>
                <a:pPr lvl="1"/>
                <a:r>
                  <a:rPr lang="en-US" sz="1600" dirty="0"/>
                  <a:t>No good, since after the measurement, the state is either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⟩"/>
                        <m:ctrlPr>
                          <a:rPr lang="en-US" sz="16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00</m:t>
                        </m:r>
                      </m:e>
                    </m:d>
                  </m:oMath>
                </a14:m>
                <a:r>
                  <a:rPr lang="en-US" sz="1600" dirty="0"/>
                  <a:t> or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⟩"/>
                        <m:ctrlPr>
                          <a:rPr lang="en-US" sz="16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11</m:t>
                        </m:r>
                      </m:e>
                    </m:d>
                  </m:oMath>
                </a14:m>
                <a:endParaRPr lang="en-US" sz="1600" dirty="0"/>
              </a:p>
              <a:p>
                <a:pPr lvl="1"/>
                <a:r>
                  <a:rPr lang="en-US" sz="1600" dirty="0"/>
                  <a:t>We want it to be something like 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𝛼</m:t>
                    </m:r>
                    <m:d>
                      <m:dPr>
                        <m:begChr m:val="|"/>
                        <m:endChr m:val="⟩"/>
                        <m:ctrlPr>
                          <a:rPr lang="en-US" sz="16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𝛽</m:t>
                    </m:r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1⟩</m:t>
                    </m:r>
                  </m:oMath>
                </a14:m>
                <a:endParaRPr lang="en-US" sz="1600" dirty="0"/>
              </a:p>
              <a:p>
                <a:r>
                  <a:rPr lang="en-US" sz="1800" dirty="0"/>
                  <a:t>Alice measures her qubit in {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⟩"/>
                        <m:ctrlPr>
                          <a:rPr lang="en-US" sz="1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+</m:t>
                        </m:r>
                      </m:e>
                    </m:d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, |−⟩</m:t>
                    </m:r>
                  </m:oMath>
                </a14:m>
                <a:r>
                  <a:rPr lang="en-US" sz="1800" dirty="0"/>
                  <a:t>} basis. </a:t>
                </a:r>
              </a:p>
              <a:p>
                <a:pPr lvl="1"/>
                <a:r>
                  <a:rPr lang="en-US" sz="1600" dirty="0"/>
                  <a:t>What will be the new state?</a:t>
                </a:r>
              </a:p>
              <a:p>
                <a:pPr lvl="1"/>
                <a:r>
                  <a:rPr lang="en-US" sz="1600" dirty="0"/>
                  <a:t>Write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⟩"/>
                        <m:ctrlPr>
                          <a:rPr lang="en-US" sz="16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𝜓</m:t>
                            </m:r>
                          </m:e>
                          <m:sub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sz="1600" dirty="0"/>
                  <a:t> in terms of {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⟩"/>
                        <m:ctrlPr>
                          <a:rPr lang="en-US" sz="16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+</m:t>
                        </m:r>
                      </m:e>
                    </m:d>
                    <m:r>
                      <a:rPr lang="en-US" sz="1600" i="1">
                        <a:latin typeface="Cambria Math" panose="02040503050406030204" pitchFamily="18" charset="0"/>
                      </a:rPr>
                      <m:t>, |−⟩</m:t>
                    </m:r>
                  </m:oMath>
                </a14:m>
                <a:r>
                  <a:rPr lang="en-US" sz="1600" dirty="0"/>
                  <a:t>} basis.</a:t>
                </a:r>
              </a:p>
              <a:p>
                <a:pPr lvl="1"/>
                <a14:m>
                  <m:oMath xmlns:m="http://schemas.openxmlformats.org/officeDocument/2006/math">
                    <m:d>
                      <m:dPr>
                        <m:begChr m:val="|"/>
                        <m:endChr m:val="⟩"/>
                        <m:ctrlPr>
                          <a:rPr lang="en-US" sz="16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𝜓</m:t>
                            </m:r>
                          </m:e>
                          <m:sub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  <m:r>
                      <a:rPr lang="en-US" sz="1600" i="1">
                        <a:latin typeface="Cambria Math" panose="02040503050406030204" pitchFamily="18" charset="0"/>
                      </a:rPr>
                      <m:t>= </m:t>
                    </m:r>
                    <m:r>
                      <a:rPr lang="en-US" sz="1600" i="1">
                        <a:latin typeface="Cambria Math" panose="02040503050406030204" pitchFamily="18" charset="0"/>
                      </a:rPr>
                      <m:t>𝛼</m:t>
                    </m:r>
                    <m:d>
                      <m:dPr>
                        <m:begChr m:val="|"/>
                        <m:endChr m:val="⟩"/>
                        <m:ctrlPr>
                          <a:rPr lang="en-US" sz="16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00</m:t>
                        </m:r>
                      </m:e>
                    </m:d>
                    <m:r>
                      <a:rPr lang="en-US" sz="1600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1600" i="1">
                        <a:latin typeface="Cambria Math" panose="02040503050406030204" pitchFamily="18" charset="0"/>
                      </a:rPr>
                      <m:t>𝛽</m:t>
                    </m:r>
                    <m:d>
                      <m:dPr>
                        <m:begChr m:val="|"/>
                        <m:endChr m:val="⟩"/>
                        <m:ctrlPr>
                          <a:rPr lang="en-US" sz="16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𝛼</m:t>
                    </m:r>
                    <m:d>
                      <m:dPr>
                        <m:ctrlPr>
                          <a:rPr lang="en-US" sz="16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sz="16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16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ad>
                              <m:radPr>
                                <m:degHide m:val="on"/>
                                <m:ctrlPr>
                                  <a:rPr lang="en-US" sz="1600" i="1"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US" sz="160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rad>
                          </m:den>
                        </m:f>
                        <m:d>
                          <m:dPr>
                            <m:begChr m:val="|"/>
                            <m:endChr m:val="⟩"/>
                            <m:ctrlPr>
                              <a:rPr lang="en-US" sz="16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+</m:t>
                            </m:r>
                          </m:e>
                        </m:d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ctrlPr>
                              <a:rPr lang="en-US" sz="16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16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ad>
                              <m:radPr>
                                <m:degHide m:val="on"/>
                                <m:ctrlPr>
                                  <a:rPr lang="en-US" sz="1600" i="1"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US" sz="160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rad>
                          </m:den>
                        </m:f>
                        <m:d>
                          <m:dPr>
                            <m:begChr m:val="|"/>
                            <m:endChr m:val="⟩"/>
                            <m:ctrlP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</m:e>
                        </m:d>
                      </m:e>
                    </m:d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⨂</m:t>
                    </m:r>
                    <m:d>
                      <m:dPr>
                        <m:begChr m:val="|"/>
                        <m:endChr m:val="⟩"/>
                        <m:ctrlPr>
                          <a:rPr lang="en-US" sz="16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𝛽</m:t>
                    </m:r>
                    <m:d>
                      <m:dPr>
                        <m:ctrlPr>
                          <a:rPr lang="en-US" sz="16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sz="16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16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ad>
                              <m:radPr>
                                <m:degHide m:val="on"/>
                                <m:ctrlPr>
                                  <a:rPr lang="en-US" sz="1600" i="1"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US" sz="160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rad>
                          </m:den>
                        </m:f>
                        <m:d>
                          <m:dPr>
                            <m:begChr m:val="|"/>
                            <m:endChr m:val="⟩"/>
                            <m:ctrlPr>
                              <a:rPr lang="en-US" sz="16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600" i="1">
                                <a:latin typeface="Cambria Math" panose="02040503050406030204" pitchFamily="18" charset="0"/>
                              </a:rPr>
                              <m:t>+</m:t>
                            </m:r>
                          </m:e>
                        </m:d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ctrlPr>
                              <a:rPr lang="en-US" sz="16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16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ad>
                              <m:radPr>
                                <m:degHide m:val="on"/>
                                <m:ctrlPr>
                                  <a:rPr lang="en-US" sz="1600" i="1"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US" sz="160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rad>
                          </m:den>
                        </m:f>
                        <m:d>
                          <m:dPr>
                            <m:begChr m:val="|"/>
                            <m:endChr m:val="⟩"/>
                            <m:ctrlPr>
                              <a:rPr lang="en-US" sz="16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600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</m:e>
                        </m:d>
                      </m:e>
                    </m:d>
                    <m:r>
                      <a:rPr lang="en-US" sz="1600" i="1">
                        <a:latin typeface="Cambria Math" panose="02040503050406030204" pitchFamily="18" charset="0"/>
                      </a:rPr>
                      <m:t>⨂</m:t>
                    </m:r>
                    <m:d>
                      <m:dPr>
                        <m:begChr m:val="|"/>
                        <m:endChr m:val="⟩"/>
                        <m:ctrlPr>
                          <a:rPr lang="en-US" sz="16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</m:oMath>
                </a14:m>
                <a:endParaRPr lang="en-US" sz="1600" dirty="0"/>
              </a:p>
              <a:p>
                <a:pPr lvl="1"/>
                <a14:m>
                  <m:oMath xmlns:m="http://schemas.openxmlformats.org/officeDocument/2006/math">
                    <m:d>
                      <m:dPr>
                        <m:begChr m:val="|"/>
                        <m:endChr m:val="⟩"/>
                        <m:ctrlPr>
                          <a:rPr lang="en-US" sz="16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𝜓</m:t>
                            </m:r>
                          </m:e>
                          <m:sub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  <m:r>
                      <a:rPr lang="en-US" sz="1600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16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US" sz="1600" i="1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sz="16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den>
                    </m:f>
                    <m:d>
                      <m:dPr>
                        <m:begChr m:val="|"/>
                        <m:endChr m:val="⟩"/>
                        <m:ctrlPr>
                          <a:rPr lang="en-US" sz="16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+</m:t>
                        </m:r>
                      </m:e>
                    </m:d>
                    <m:d>
                      <m:dPr>
                        <m:endChr m:val="⟩"/>
                        <m:ctrlPr>
                          <a:rPr lang="en-US" sz="16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𝛽</m:t>
                    </m:r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|1⟩)+</m:t>
                    </m:r>
                    <m:f>
                      <m:fPr>
                        <m:ctrlPr>
                          <a:rPr lang="en-US" sz="16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US" sz="1600" i="1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sz="16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den>
                    </m:f>
                    <m:d>
                      <m:dPr>
                        <m:begChr m:val="|"/>
                        <m:endChr m:val="⟩"/>
                        <m:ctrlPr>
                          <a:rPr lang="en-US" sz="16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−</m:t>
                        </m:r>
                      </m:e>
                    </m:d>
                    <m:d>
                      <m:dPr>
                        <m:endChr m:val="⟩"/>
                        <m:ctrlPr>
                          <a:rPr lang="en-US" sz="16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  <m:e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sz="1600" i="1">
                        <a:latin typeface="Cambria Math" panose="02040503050406030204" pitchFamily="18" charset="0"/>
                      </a:rPr>
                      <m:t>𝛽</m:t>
                    </m:r>
                    <m:r>
                      <a:rPr lang="en-US" sz="1600" i="1">
                        <a:latin typeface="Cambria Math" panose="02040503050406030204" pitchFamily="18" charset="0"/>
                      </a:rPr>
                      <m:t>|1⟩)</m:t>
                    </m:r>
                  </m:oMath>
                </a14:m>
                <a:endParaRPr lang="en-US" sz="1600" dirty="0"/>
              </a:p>
              <a:p>
                <a:pPr lvl="1"/>
                <a:r>
                  <a:rPr lang="en-US" sz="1600" dirty="0"/>
                  <a:t>If Alice measures </a:t>
                </a:r>
                <a14:m>
                  <m:oMath xmlns:m="http://schemas.openxmlformats.org/officeDocument/2006/math">
                    <m:r>
                      <a:rPr lang="en-US" sz="1600" b="0" i="0" dirty="0" smtClean="0">
                        <a:latin typeface="Cambria Math" panose="02040503050406030204" pitchFamily="18" charset="0"/>
                      </a:rPr>
                      <m:t>|+</m:t>
                    </m:r>
                    <m:r>
                      <a:rPr lang="en-US" sz="1600" b="0" i="1" dirty="0" smtClean="0">
                        <a:latin typeface="Cambria Math" panose="02040503050406030204" pitchFamily="18" charset="0"/>
                      </a:rPr>
                      <m:t>⟩</m:t>
                    </m:r>
                  </m:oMath>
                </a14:m>
                <a:r>
                  <a:rPr lang="en-US" sz="1600" dirty="0"/>
                  <a:t> then state of Bob’s Qubit = 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𝛼</m:t>
                    </m:r>
                    <m:d>
                      <m:dPr>
                        <m:begChr m:val="|"/>
                        <m:endChr m:val="⟩"/>
                        <m:ctrlPr>
                          <a:rPr lang="en-US" sz="16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𝛽</m:t>
                    </m:r>
                    <m:d>
                      <m:dPr>
                        <m:begChr m:val="|"/>
                        <m:endChr m:val="⟩"/>
                        <m:ctrlPr>
                          <a:rPr lang="en-US" sz="16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|"/>
                        <m:endChr m:val="⟩"/>
                        <m:ctrlPr>
                          <a:rPr lang="en-US" sz="16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𝜓</m:t>
                        </m:r>
                      </m:e>
                    </m:d>
                  </m:oMath>
                </a14:m>
                <a:endParaRPr lang="en-US" sz="1600" b="0" dirty="0"/>
              </a:p>
              <a:p>
                <a:pPr lvl="1"/>
                <a:r>
                  <a:rPr lang="en-US" sz="1600" dirty="0"/>
                  <a:t>If Alice measures </a:t>
                </a:r>
                <a14:m>
                  <m:oMath xmlns:m="http://schemas.openxmlformats.org/officeDocument/2006/math">
                    <m:r>
                      <a:rPr lang="en-US" sz="1600" b="0" i="0" dirty="0" smtClean="0">
                        <a:latin typeface="Cambria Math" panose="02040503050406030204" pitchFamily="18" charset="0"/>
                      </a:rPr>
                      <m:t>|</m:t>
                    </m:r>
                    <m:r>
                      <a:rPr lang="en-US" sz="1600" b="0" i="1" dirty="0" smtClean="0">
                        <a:latin typeface="Cambria Math" panose="02040503050406030204" pitchFamily="18" charset="0"/>
                      </a:rPr>
                      <m:t>−⟩</m:t>
                    </m:r>
                  </m:oMath>
                </a14:m>
                <a:r>
                  <a:rPr lang="en-US" sz="1600" dirty="0"/>
                  <a:t> then state of Bob’s Qubit = 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𝛼</m:t>
                    </m:r>
                    <m:d>
                      <m:dPr>
                        <m:begChr m:val="|"/>
                        <m:endChr m:val="⟩"/>
                        <m:ctrlPr>
                          <a:rPr lang="en-US" sz="16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𝛽</m:t>
                    </m:r>
                    <m:d>
                      <m:dPr>
                        <m:begChr m:val="|"/>
                        <m:endChr m:val="⟩"/>
                        <m:ctrlPr>
                          <a:rPr lang="en-US" sz="16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</m:oMath>
                </a14:m>
                <a:endParaRPr lang="en-US" sz="1600" dirty="0"/>
              </a:p>
              <a:p>
                <a:pPr lvl="2"/>
                <a:r>
                  <a:rPr lang="en-US" sz="1600" dirty="0"/>
                  <a:t>What gate will change this to 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𝛼</m:t>
                    </m:r>
                    <m:d>
                      <m:dPr>
                        <m:begChr m:val="|"/>
                        <m:endChr m:val="⟩"/>
                        <m:ctrlPr>
                          <a:rPr lang="en-US" sz="16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𝛽</m:t>
                    </m:r>
                    <m:d>
                      <m:dPr>
                        <m:begChr m:val="|"/>
                        <m:endChr m:val="⟩"/>
                        <m:ctrlPr>
                          <a:rPr lang="en-US" sz="16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</m:oMath>
                </a14:m>
                <a:r>
                  <a:rPr lang="en-US" sz="1600" dirty="0"/>
                  <a:t> - Z gate.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616C08C-732A-453F-7B3E-7E9B23112A8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xfrm>
                <a:off x="341540" y="969477"/>
                <a:ext cx="7387676" cy="5295855"/>
              </a:xfrm>
              <a:blipFill>
                <a:blip r:embed="rId2"/>
                <a:stretch>
                  <a:fillRect l="-83" t="-57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5" name="Group 24">
            <a:extLst>
              <a:ext uri="{FF2B5EF4-FFF2-40B4-BE49-F238E27FC236}">
                <a16:creationId xmlns:a16="http://schemas.microsoft.com/office/drawing/2014/main" id="{60012A4E-46F6-5D10-B1BC-498CB1B4C9A9}"/>
              </a:ext>
            </a:extLst>
          </p:cNvPr>
          <p:cNvGrpSpPr/>
          <p:nvPr/>
        </p:nvGrpSpPr>
        <p:grpSpPr>
          <a:xfrm>
            <a:off x="6186312" y="158044"/>
            <a:ext cx="5840987" cy="2803654"/>
            <a:chOff x="2141411" y="172274"/>
            <a:chExt cx="5840987" cy="2803654"/>
          </a:xfrm>
        </p:grpSpPr>
        <p:cxnSp>
          <p:nvCxnSpPr>
            <p:cNvPr id="5" name="Straight Arrow Connector 4">
              <a:extLst>
                <a:ext uri="{FF2B5EF4-FFF2-40B4-BE49-F238E27FC236}">
                  <a16:creationId xmlns:a16="http://schemas.microsoft.com/office/drawing/2014/main" id="{4E549029-504A-9A97-3B2E-EBFC8162D06E}"/>
                </a:ext>
              </a:extLst>
            </p:cNvPr>
            <p:cNvCxnSpPr>
              <a:cxnSpLocks/>
              <a:endCxn id="9" idx="2"/>
            </p:cNvCxnSpPr>
            <p:nvPr/>
          </p:nvCxnSpPr>
          <p:spPr>
            <a:xfrm>
              <a:off x="5205675" y="1191600"/>
              <a:ext cx="756400" cy="14276"/>
            </a:xfrm>
            <a:prstGeom prst="straightConnector1">
              <a:avLst/>
            </a:prstGeom>
            <a:ln>
              <a:solidFill>
                <a:srgbClr val="00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Straight Arrow Connector 5">
              <a:extLst>
                <a:ext uri="{FF2B5EF4-FFF2-40B4-BE49-F238E27FC236}">
                  <a16:creationId xmlns:a16="http://schemas.microsoft.com/office/drawing/2014/main" id="{624469D7-42E6-6579-6B87-217BA63EB8A3}"/>
                </a:ext>
              </a:extLst>
            </p:cNvPr>
            <p:cNvCxnSpPr>
              <a:cxnSpLocks/>
              <a:stCxn id="9" idx="6"/>
            </p:cNvCxnSpPr>
            <p:nvPr/>
          </p:nvCxnSpPr>
          <p:spPr>
            <a:xfrm>
              <a:off x="6285502" y="1205876"/>
              <a:ext cx="798133" cy="0"/>
            </a:xfrm>
            <a:prstGeom prst="straightConnector1">
              <a:avLst/>
            </a:prstGeom>
            <a:ln>
              <a:solidFill>
                <a:srgbClr val="00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Straight Arrow Connector 6">
              <a:extLst>
                <a:ext uri="{FF2B5EF4-FFF2-40B4-BE49-F238E27FC236}">
                  <a16:creationId xmlns:a16="http://schemas.microsoft.com/office/drawing/2014/main" id="{5757303B-35D1-6E18-0FF8-21FEDEEC8323}"/>
                </a:ext>
              </a:extLst>
            </p:cNvPr>
            <p:cNvCxnSpPr>
              <a:cxnSpLocks/>
              <a:endCxn id="10" idx="2"/>
            </p:cNvCxnSpPr>
            <p:nvPr/>
          </p:nvCxnSpPr>
          <p:spPr>
            <a:xfrm>
              <a:off x="5205675" y="1806688"/>
              <a:ext cx="756400" cy="6730"/>
            </a:xfrm>
            <a:prstGeom prst="straightConnector1">
              <a:avLst/>
            </a:prstGeom>
            <a:ln>
              <a:solidFill>
                <a:srgbClr val="00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Arrow Connector 7">
              <a:extLst>
                <a:ext uri="{FF2B5EF4-FFF2-40B4-BE49-F238E27FC236}">
                  <a16:creationId xmlns:a16="http://schemas.microsoft.com/office/drawing/2014/main" id="{85E2484E-0301-9C3C-A962-F55AE7DB73AB}"/>
                </a:ext>
              </a:extLst>
            </p:cNvPr>
            <p:cNvCxnSpPr>
              <a:cxnSpLocks/>
              <a:stCxn id="10" idx="6"/>
            </p:cNvCxnSpPr>
            <p:nvPr/>
          </p:nvCxnSpPr>
          <p:spPr>
            <a:xfrm>
              <a:off x="6285502" y="1813418"/>
              <a:ext cx="798133" cy="0"/>
            </a:xfrm>
            <a:prstGeom prst="straightConnector1">
              <a:avLst/>
            </a:prstGeom>
            <a:ln>
              <a:solidFill>
                <a:srgbClr val="00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BC57D49A-8593-3F76-AACF-D3F22CE251A0}"/>
                </a:ext>
              </a:extLst>
            </p:cNvPr>
            <p:cNvSpPr/>
            <p:nvPr/>
          </p:nvSpPr>
          <p:spPr>
            <a:xfrm>
              <a:off x="5962076" y="1056068"/>
              <a:ext cx="323426" cy="299616"/>
            </a:xfrm>
            <a:prstGeom prst="ellipse">
              <a:avLst/>
            </a:prstGeom>
            <a:solidFill>
              <a:schemeClr val="tx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Flowchart: Or 9">
              <a:extLst>
                <a:ext uri="{FF2B5EF4-FFF2-40B4-BE49-F238E27FC236}">
                  <a16:creationId xmlns:a16="http://schemas.microsoft.com/office/drawing/2014/main" id="{601CCE91-89A2-806F-2F6F-9E5CD4791B6D}"/>
                </a:ext>
              </a:extLst>
            </p:cNvPr>
            <p:cNvSpPr/>
            <p:nvPr/>
          </p:nvSpPr>
          <p:spPr>
            <a:xfrm>
              <a:off x="5962076" y="1649334"/>
              <a:ext cx="323426" cy="328168"/>
            </a:xfrm>
            <a:prstGeom prst="flowChartOr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E9AA3397-AF33-0B2D-3A6E-A33650D7764C}"/>
                </a:ext>
              </a:extLst>
            </p:cNvPr>
            <p:cNvCxnSpPr>
              <a:cxnSpLocks/>
              <a:stCxn id="10" idx="0"/>
              <a:endCxn id="9" idx="4"/>
            </p:cNvCxnSpPr>
            <p:nvPr/>
          </p:nvCxnSpPr>
          <p:spPr>
            <a:xfrm flipV="1">
              <a:off x="6123789" y="1355684"/>
              <a:ext cx="0" cy="293650"/>
            </a:xfrm>
            <a:prstGeom prst="line">
              <a:avLst/>
            </a:prstGeom>
            <a:ln w="19050">
              <a:headEnd type="none" w="med" len="med"/>
              <a:tailEnd type="non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" name="TextBox 11">
                  <a:extLst>
                    <a:ext uri="{FF2B5EF4-FFF2-40B4-BE49-F238E27FC236}">
                      <a16:creationId xmlns:a16="http://schemas.microsoft.com/office/drawing/2014/main" id="{9F21FFBF-3030-0137-FDC9-9E76B4B4634A}"/>
                    </a:ext>
                  </a:extLst>
                </p:cNvPr>
                <p:cNvSpPr txBox="1"/>
                <p:nvPr/>
              </p:nvSpPr>
              <p:spPr>
                <a:xfrm>
                  <a:off x="3614482" y="1003475"/>
                  <a:ext cx="1709869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𝛼</m:t>
                        </m:r>
                        <m:d>
                          <m:dPr>
                            <m:begChr m:val="|"/>
                            <m:endChr m:val="⟩"/>
                            <m:ctrlP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e>
                        </m:d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𝛽</m:t>
                        </m:r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|1⟩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2" name="TextBox 11">
                  <a:extLst>
                    <a:ext uri="{FF2B5EF4-FFF2-40B4-BE49-F238E27FC236}">
                      <a16:creationId xmlns:a16="http://schemas.microsoft.com/office/drawing/2014/main" id="{9F21FFBF-3030-0137-FDC9-9E76B4B4634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614482" y="1003475"/>
                  <a:ext cx="1709869" cy="369332"/>
                </a:xfrm>
                <a:prstGeom prst="rect">
                  <a:avLst/>
                </a:prstGeom>
                <a:blipFill>
                  <a:blip r:embed="rId3"/>
                  <a:stretch>
                    <a:fillRect b="-14754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" name="TextBox 12">
                  <a:extLst>
                    <a:ext uri="{FF2B5EF4-FFF2-40B4-BE49-F238E27FC236}">
                      <a16:creationId xmlns:a16="http://schemas.microsoft.com/office/drawing/2014/main" id="{279DA8A1-10F0-BE09-5C10-82AA06E815E3}"/>
                    </a:ext>
                  </a:extLst>
                </p:cNvPr>
                <p:cNvSpPr txBox="1"/>
                <p:nvPr/>
              </p:nvSpPr>
              <p:spPr>
                <a:xfrm>
                  <a:off x="4296545" y="1574630"/>
                  <a:ext cx="354726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|0⟩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3" name="TextBox 12">
                  <a:extLst>
                    <a:ext uri="{FF2B5EF4-FFF2-40B4-BE49-F238E27FC236}">
                      <a16:creationId xmlns:a16="http://schemas.microsoft.com/office/drawing/2014/main" id="{279DA8A1-10F0-BE09-5C10-82AA06E815E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296545" y="1574630"/>
                  <a:ext cx="354726" cy="369332"/>
                </a:xfrm>
                <a:prstGeom prst="rect">
                  <a:avLst/>
                </a:prstGeom>
                <a:blipFill>
                  <a:blip r:embed="rId4"/>
                  <a:stretch>
                    <a:fillRect l="-5085" r="-35593" b="-13115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1303667F-FC43-B002-2914-9F1F875AB7E6}"/>
                </a:ext>
              </a:extLst>
            </p:cNvPr>
            <p:cNvSpPr txBox="1"/>
            <p:nvPr/>
          </p:nvSpPr>
          <p:spPr>
            <a:xfrm>
              <a:off x="2144889" y="1056068"/>
              <a:ext cx="170986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Alice’s Qubit</a:t>
              </a: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1F24CD9F-F5A5-4981-F9DD-A9E0EC661B18}"/>
                </a:ext>
              </a:extLst>
            </p:cNvPr>
            <p:cNvSpPr txBox="1"/>
            <p:nvPr/>
          </p:nvSpPr>
          <p:spPr>
            <a:xfrm>
              <a:off x="2141411" y="1628752"/>
              <a:ext cx="170986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Bob’s Qubit</a:t>
              </a:r>
            </a:p>
          </p:txBody>
        </p: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D58B7726-497A-46F3-4948-F86E7E65C42E}"/>
                </a:ext>
              </a:extLst>
            </p:cNvPr>
            <p:cNvCxnSpPr>
              <a:cxnSpLocks/>
            </p:cNvCxnSpPr>
            <p:nvPr/>
          </p:nvCxnSpPr>
          <p:spPr>
            <a:xfrm>
              <a:off x="5470985" y="1003475"/>
              <a:ext cx="0" cy="1938216"/>
            </a:xfrm>
            <a:prstGeom prst="line">
              <a:avLst/>
            </a:prstGeom>
            <a:ln>
              <a:solidFill>
                <a:srgbClr val="000000"/>
              </a:solidFill>
              <a:prstDash val="dash"/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2" name="TextBox 21">
                  <a:extLst>
                    <a:ext uri="{FF2B5EF4-FFF2-40B4-BE49-F238E27FC236}">
                      <a16:creationId xmlns:a16="http://schemas.microsoft.com/office/drawing/2014/main" id="{53579657-D244-4244-C14B-4EFE43AEF1A5}"/>
                    </a:ext>
                  </a:extLst>
                </p:cNvPr>
                <p:cNvSpPr txBox="1"/>
                <p:nvPr/>
              </p:nvSpPr>
              <p:spPr>
                <a:xfrm>
                  <a:off x="4988827" y="2335945"/>
                  <a:ext cx="2993571" cy="639983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lvl="1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begChr m:val="|"/>
                            <m:endChr m:val="⟩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𝜓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e>
                        </m:d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d>
                          <m:dPr>
                            <m:endChr m:val="⟩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𝛼</m:t>
                            </m:r>
                            <m:d>
                              <m:dPr>
                                <m:begChr m:val="|"/>
                                <m:endChr m:val="⟩"/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d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𝛽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d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⨂</m:t>
                        </m:r>
                        <m:d>
                          <m:dPr>
                            <m:begChr m:val="|"/>
                            <m:endChr m:val="⟩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e>
                        </m:d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𝛼</m:t>
                        </m:r>
                        <m:d>
                          <m:dPr>
                            <m:begChr m:val="|"/>
                            <m:endChr m:val="⟩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00</m:t>
                            </m:r>
                          </m:e>
                        </m:d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𝛽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|10⟩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22" name="TextBox 21">
                  <a:extLst>
                    <a:ext uri="{FF2B5EF4-FFF2-40B4-BE49-F238E27FC236}">
                      <a16:creationId xmlns:a16="http://schemas.microsoft.com/office/drawing/2014/main" id="{53579657-D244-4244-C14B-4EFE43AEF1A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988827" y="2335945"/>
                  <a:ext cx="2993571" cy="639983"/>
                </a:xfrm>
                <a:prstGeom prst="rect">
                  <a:avLst/>
                </a:prstGeom>
                <a:blipFill>
                  <a:blip r:embed="rId5"/>
                  <a:stretch>
                    <a:fillRect b="-7619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9154C49D-29E8-DBAF-6738-1DC5C2D7EBE2}"/>
                </a:ext>
              </a:extLst>
            </p:cNvPr>
            <p:cNvCxnSpPr>
              <a:cxnSpLocks/>
            </p:cNvCxnSpPr>
            <p:nvPr/>
          </p:nvCxnSpPr>
          <p:spPr>
            <a:xfrm>
              <a:off x="6842586" y="172274"/>
              <a:ext cx="0" cy="1912642"/>
            </a:xfrm>
            <a:prstGeom prst="line">
              <a:avLst/>
            </a:prstGeom>
            <a:ln>
              <a:solidFill>
                <a:srgbClr val="000000"/>
              </a:solidFill>
              <a:prstDash val="dash"/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4" name="TextBox 23">
                  <a:extLst>
                    <a:ext uri="{FF2B5EF4-FFF2-40B4-BE49-F238E27FC236}">
                      <a16:creationId xmlns:a16="http://schemas.microsoft.com/office/drawing/2014/main" id="{82735025-793D-AB0A-1CCA-5AF6893879D5}"/>
                    </a:ext>
                  </a:extLst>
                </p:cNvPr>
                <p:cNvSpPr txBox="1"/>
                <p:nvPr/>
              </p:nvSpPr>
              <p:spPr>
                <a:xfrm>
                  <a:off x="3203177" y="227083"/>
                  <a:ext cx="3639409" cy="639983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lvl="1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begChr m:val="|"/>
                            <m:endChr m:val="⟩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𝜓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e>
                        </m:d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𝐶𝑁𝑂𝑇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𝛼</m:t>
                        </m:r>
                        <m:d>
                          <m:dPr>
                            <m:begChr m:val="|"/>
                            <m:endChr m:val="⟩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00</m:t>
                            </m:r>
                          </m:e>
                        </m:d>
                        <m:r>
                          <a:rPr lang="en-US" i="1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𝛽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|10⟩)=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𝛼</m:t>
                        </m:r>
                        <m:d>
                          <m:dPr>
                            <m:begChr m:val="|"/>
                            <m:endChr m:val="⟩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00</m:t>
                            </m:r>
                          </m:e>
                        </m:d>
                        <m:r>
                          <a:rPr lang="en-US" i="1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𝛽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|11⟩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24" name="TextBox 23">
                  <a:extLst>
                    <a:ext uri="{FF2B5EF4-FFF2-40B4-BE49-F238E27FC236}">
                      <a16:creationId xmlns:a16="http://schemas.microsoft.com/office/drawing/2014/main" id="{82735025-793D-AB0A-1CCA-5AF6893879D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203177" y="227083"/>
                  <a:ext cx="3639409" cy="639983"/>
                </a:xfrm>
                <a:prstGeom prst="rect">
                  <a:avLst/>
                </a:prstGeom>
                <a:blipFill>
                  <a:blip r:embed="rId6"/>
                  <a:stretch>
                    <a:fillRect b="-7619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EB89B09B-BB04-B419-FA17-3E336B72CFB9}"/>
                  </a:ext>
                </a:extLst>
              </p:cNvPr>
              <p:cNvSpPr txBox="1"/>
              <p:nvPr/>
            </p:nvSpPr>
            <p:spPr>
              <a:xfrm>
                <a:off x="6897511" y="4876801"/>
                <a:ext cx="5249333" cy="1938992"/>
              </a:xfrm>
              <a:prstGeom prst="rect">
                <a:avLst/>
              </a:prstGeom>
            </p:spPr>
            <p:style>
              <a:lnRef idx="1">
                <a:schemeClr val="accent2"/>
              </a:lnRef>
              <a:fillRef idx="2">
                <a:schemeClr val="accent2"/>
              </a:fillRef>
              <a:effectRef idx="1">
                <a:schemeClr val="accent2"/>
              </a:effectRef>
              <a:fontRef idx="minor">
                <a:schemeClr val="dk1"/>
              </a:fontRef>
            </p:style>
            <p:txBody>
              <a:bodyPr wrap="square">
                <a:spAutoFit/>
              </a:bodyPr>
              <a:lstStyle/>
              <a:p>
                <a:r>
                  <a:rPr lang="en-US" sz="2000" b="1" dirty="0"/>
                  <a:t>Solution</a:t>
                </a:r>
              </a:p>
              <a:p>
                <a:pPr marL="342900" indent="-342900">
                  <a:buFont typeface="+mj-lt"/>
                  <a:buAutoNum type="arabicPeriod"/>
                </a:pPr>
                <a:r>
                  <a:rPr lang="en-US" sz="1600" dirty="0"/>
                  <a:t>Bob initializes his Qubit in </a:t>
                </a:r>
                <a14:m>
                  <m:oMath xmlns:m="http://schemas.openxmlformats.org/officeDocument/2006/math">
                    <m:r>
                      <a:rPr lang="en-US" sz="1600" b="0" i="0" dirty="0" smtClean="0">
                        <a:latin typeface="Cambria Math" panose="02040503050406030204" pitchFamily="18" charset="0"/>
                      </a:rPr>
                      <m:t>|</m:t>
                    </m:r>
                    <m:r>
                      <a:rPr lang="en-US" sz="1600" b="0" i="1" dirty="0" smtClean="0">
                        <a:latin typeface="Cambria Math" panose="02040503050406030204" pitchFamily="18" charset="0"/>
                      </a:rPr>
                      <m:t>0⟩</m:t>
                    </m:r>
                  </m:oMath>
                </a14:m>
                <a:r>
                  <a:rPr lang="en-US" sz="1600" dirty="0"/>
                  <a:t> state.</a:t>
                </a:r>
              </a:p>
              <a:p>
                <a:pPr marL="342900" indent="-342900">
                  <a:buFont typeface="+mj-lt"/>
                  <a:buAutoNum type="arabicPeriod"/>
                </a:pPr>
                <a:r>
                  <a:rPr lang="en-US" sz="1600" dirty="0"/>
                  <a:t>Alice applies CNOT on Bob’s Qubit, with her Qubit as the control Qubit.</a:t>
                </a:r>
              </a:p>
              <a:p>
                <a:pPr marL="342900" indent="-342900">
                  <a:buFont typeface="+mj-lt"/>
                  <a:buAutoNum type="arabicPeriod"/>
                </a:pPr>
                <a:r>
                  <a:rPr lang="en-US" sz="1600" dirty="0"/>
                  <a:t>Alice measures her Qubit in the {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⟩"/>
                        <m:ctrlPr>
                          <a:rPr lang="en-US" sz="16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+</m:t>
                        </m:r>
                      </m:e>
                    </m:d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, |−⟩</m:t>
                    </m:r>
                  </m:oMath>
                </a14:m>
                <a:r>
                  <a:rPr lang="en-US" sz="1600" dirty="0"/>
                  <a:t>} basis.</a:t>
                </a:r>
              </a:p>
              <a:p>
                <a:pPr lvl="1"/>
                <a:r>
                  <a:rPr lang="en-US" sz="1200" dirty="0"/>
                  <a:t>- If Alice measures </a:t>
                </a:r>
                <a14:m>
                  <m:oMath xmlns:m="http://schemas.openxmlformats.org/officeDocument/2006/math">
                    <m:r>
                      <a:rPr lang="en-US" sz="1200" b="0" i="0" dirty="0" smtClean="0">
                        <a:latin typeface="Cambria Math" panose="02040503050406030204" pitchFamily="18" charset="0"/>
                      </a:rPr>
                      <m:t>|+</m:t>
                    </m:r>
                    <m:r>
                      <a:rPr lang="en-US" sz="1200" b="0" i="1" dirty="0" smtClean="0">
                        <a:latin typeface="Cambria Math" panose="02040503050406030204" pitchFamily="18" charset="0"/>
                      </a:rPr>
                      <m:t>⟩</m:t>
                    </m:r>
                  </m:oMath>
                </a14:m>
                <a:r>
                  <a:rPr lang="en-US" sz="1200" dirty="0"/>
                  <a:t>, then Bob has Alice’s qubit.</a:t>
                </a:r>
              </a:p>
              <a:p>
                <a:pPr lvl="1"/>
                <a:r>
                  <a:rPr lang="en-US" sz="1200" dirty="0"/>
                  <a:t>- If Alice measures </a:t>
                </a:r>
                <a14:m>
                  <m:oMath xmlns:m="http://schemas.openxmlformats.org/officeDocument/2006/math">
                    <m:r>
                      <a:rPr lang="en-US" sz="1200" b="0" i="0" dirty="0" smtClean="0">
                        <a:latin typeface="Cambria Math" panose="02040503050406030204" pitchFamily="18" charset="0"/>
                      </a:rPr>
                      <m:t>|</m:t>
                    </m:r>
                    <m:r>
                      <a:rPr lang="en-US" sz="1200" b="0" i="1" dirty="0" smtClean="0">
                        <a:latin typeface="Cambria Math" panose="02040503050406030204" pitchFamily="18" charset="0"/>
                      </a:rPr>
                      <m:t>−⟩</m:t>
                    </m:r>
                  </m:oMath>
                </a14:m>
                <a:r>
                  <a:rPr lang="en-US" sz="1200" dirty="0"/>
                  <a:t>, then Bob applies Z gate to his qubit, and then he has Alice’s qubit.</a:t>
                </a:r>
                <a:endParaRPr lang="en-US" sz="1400" dirty="0"/>
              </a:p>
            </p:txBody>
          </p:sp>
        </mc:Choice>
        <mc:Fallback xmlns="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EB89B09B-BB04-B419-FA17-3E336B72CFB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97511" y="4876801"/>
                <a:ext cx="5249333" cy="193899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404845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2566F8-B6AB-79D2-2C6A-30D0989956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Bell State Circuit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CA4BEE8-6E25-218C-220F-A10680CBE455}"/>
                  </a:ext>
                </a:extLst>
              </p:cNvPr>
              <p:cNvSpPr>
                <a:spLocks noGrp="1"/>
              </p:cNvSpPr>
              <p:nvPr>
                <p:ph sz="quarter" idx="1"/>
              </p:nvPr>
            </p:nvSpPr>
            <p:spPr>
              <a:xfrm>
                <a:off x="5427655" y="3429000"/>
                <a:ext cx="6660444" cy="2556854"/>
              </a:xfrm>
            </p:spPr>
            <p:txBody>
              <a:bodyPr>
                <a:normAutofit fontScale="77500" lnSpcReduction="20000"/>
              </a:bodyPr>
              <a:lstStyle/>
              <a:p>
                <a:r>
                  <a:rPr lang="en-US" dirty="0"/>
                  <a:t>What is the output for inputs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|01⟩</m:t>
                    </m:r>
                  </m:oMath>
                </a14:m>
                <a:r>
                  <a:rPr lang="en-US" dirty="0"/>
                  <a:t>, </a:t>
                </a:r>
                <a14:m>
                  <m:oMath xmlns:m="http://schemas.openxmlformats.org/officeDocument/2006/math"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|10⟩</m:t>
                    </m:r>
                  </m:oMath>
                </a14:m>
                <a:r>
                  <a:rPr lang="en-US" dirty="0"/>
                  <a:t>, and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|11⟩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Output for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|00⟩</m:t>
                    </m:r>
                  </m:oMath>
                </a14:m>
                <a:r>
                  <a:rPr lang="en-US" dirty="0"/>
                  <a:t>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den>
                    </m:f>
                    <m:d>
                      <m:dPr>
                        <m:begChr m:val="|"/>
                        <m:endChr m:val="⟩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00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den>
                    </m:f>
                    <m:d>
                      <m:dPr>
                        <m:begChr m:val="|"/>
                        <m:endChr m:val="⟩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11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=|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𝜙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⟩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Output for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|01⟩</m:t>
                    </m:r>
                  </m:oMath>
                </a14:m>
                <a:r>
                  <a:rPr lang="en-US" dirty="0"/>
                  <a:t>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den>
                    </m:f>
                    <m:d>
                      <m:dPr>
                        <m:begChr m:val="|"/>
                        <m:endChr m:val="⟩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den>
                    </m:f>
                    <m:d>
                      <m:dPr>
                        <m:begChr m:val="|"/>
                        <m:endChr m:val="⟩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=|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𝜓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+</m:t>
                        </m:r>
                      </m:sup>
                    </m:sSup>
                    <m:r>
                      <a:rPr lang="en-US" i="1">
                        <a:latin typeface="Cambria Math" panose="02040503050406030204" pitchFamily="18" charset="0"/>
                      </a:rPr>
                      <m:t>⟩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Output for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|10⟩</m:t>
                    </m:r>
                  </m:oMath>
                </a14:m>
                <a:r>
                  <a:rPr lang="en-US" dirty="0"/>
                  <a:t>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den>
                    </m:f>
                    <m:d>
                      <m:dPr>
                        <m:begChr m:val="|"/>
                        <m:endChr m:val="⟩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00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den>
                    </m:f>
                    <m:d>
                      <m:dPr>
                        <m:begChr m:val="|"/>
                        <m:endChr m:val="⟩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11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=|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𝜙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</m:t>
                        </m:r>
                      </m:sup>
                    </m:sSup>
                    <m:r>
                      <a:rPr lang="en-US" i="1">
                        <a:latin typeface="Cambria Math" panose="02040503050406030204" pitchFamily="18" charset="0"/>
                      </a:rPr>
                      <m:t>⟩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Output for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|11⟩</m:t>
                    </m:r>
                  </m:oMath>
                </a14:m>
                <a:r>
                  <a:rPr lang="en-US" dirty="0"/>
                  <a:t>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den>
                    </m:f>
                    <m:d>
                      <m:dPr>
                        <m:begChr m:val="|"/>
                        <m:endChr m:val="⟩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den>
                    </m:f>
                    <m:d>
                      <m:dPr>
                        <m:begChr m:val="|"/>
                        <m:endChr m:val="⟩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=|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𝜓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</m:t>
                        </m:r>
                      </m:sup>
                    </m:sSup>
                    <m:r>
                      <a:rPr lang="en-US" i="1">
                        <a:latin typeface="Cambria Math" panose="02040503050406030204" pitchFamily="18" charset="0"/>
                      </a:rPr>
                      <m:t>⟩</m:t>
                    </m:r>
                  </m:oMath>
                </a14:m>
                <a:endParaRPr lang="en-US" dirty="0"/>
              </a:p>
              <a:p>
                <a:r>
                  <a:rPr lang="en-US" dirty="0"/>
                  <a:t>They form an orthonormal basis.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CA4BEE8-6E25-218C-220F-A10680CBE45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xfrm>
                <a:off x="5427655" y="3429000"/>
                <a:ext cx="6660444" cy="2556854"/>
              </a:xfrm>
              <a:blipFill>
                <a:blip r:embed="rId2"/>
                <a:stretch>
                  <a:fillRect l="-457" t="-405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DC55427C-F8E1-667F-3755-52B7B2B85840}"/>
              </a:ext>
            </a:extLst>
          </p:cNvPr>
          <p:cNvCxnSpPr>
            <a:cxnSpLocks/>
            <a:stCxn id="20" idx="3"/>
            <a:endCxn id="9" idx="2"/>
          </p:cNvCxnSpPr>
          <p:nvPr/>
        </p:nvCxnSpPr>
        <p:spPr>
          <a:xfrm flipV="1">
            <a:off x="2680442" y="1552182"/>
            <a:ext cx="756402" cy="2364"/>
          </a:xfrm>
          <a:prstGeom prst="straightConnector1">
            <a:avLst/>
          </a:prstGeom>
          <a:ln>
            <a:solidFill>
              <a:srgbClr val="0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37BCC050-8720-EB5F-7976-44CA2B591404}"/>
              </a:ext>
            </a:extLst>
          </p:cNvPr>
          <p:cNvCxnSpPr>
            <a:cxnSpLocks/>
            <a:stCxn id="9" idx="6"/>
          </p:cNvCxnSpPr>
          <p:nvPr/>
        </p:nvCxnSpPr>
        <p:spPr>
          <a:xfrm>
            <a:off x="3760270" y="1552182"/>
            <a:ext cx="798133" cy="0"/>
          </a:xfrm>
          <a:prstGeom prst="straightConnector1">
            <a:avLst/>
          </a:prstGeom>
          <a:ln>
            <a:solidFill>
              <a:srgbClr val="0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7A9F997B-632C-F37A-940B-F67CA5B68B86}"/>
              </a:ext>
            </a:extLst>
          </p:cNvPr>
          <p:cNvCxnSpPr>
            <a:cxnSpLocks/>
            <a:endCxn id="10" idx="2"/>
          </p:cNvCxnSpPr>
          <p:nvPr/>
        </p:nvCxnSpPr>
        <p:spPr>
          <a:xfrm>
            <a:off x="903111" y="2159724"/>
            <a:ext cx="2533733" cy="0"/>
          </a:xfrm>
          <a:prstGeom prst="straightConnector1">
            <a:avLst/>
          </a:prstGeom>
          <a:ln>
            <a:solidFill>
              <a:srgbClr val="0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508E64BC-F652-9EC6-4D5A-30C0236DE81F}"/>
              </a:ext>
            </a:extLst>
          </p:cNvPr>
          <p:cNvCxnSpPr>
            <a:cxnSpLocks/>
            <a:stCxn id="10" idx="6"/>
          </p:cNvCxnSpPr>
          <p:nvPr/>
        </p:nvCxnSpPr>
        <p:spPr>
          <a:xfrm>
            <a:off x="3760270" y="2159724"/>
            <a:ext cx="798133" cy="0"/>
          </a:xfrm>
          <a:prstGeom prst="straightConnector1">
            <a:avLst/>
          </a:prstGeom>
          <a:ln>
            <a:solidFill>
              <a:srgbClr val="0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Oval 8">
            <a:extLst>
              <a:ext uri="{FF2B5EF4-FFF2-40B4-BE49-F238E27FC236}">
                <a16:creationId xmlns:a16="http://schemas.microsoft.com/office/drawing/2014/main" id="{A5FAC939-5147-69EC-108A-B6DC83E80974}"/>
              </a:ext>
            </a:extLst>
          </p:cNvPr>
          <p:cNvSpPr/>
          <p:nvPr/>
        </p:nvSpPr>
        <p:spPr>
          <a:xfrm>
            <a:off x="3436844" y="1402374"/>
            <a:ext cx="323426" cy="299616"/>
          </a:xfrm>
          <a:prstGeom prst="ellipse">
            <a:avLst/>
          </a:prstGeom>
          <a:solidFill>
            <a:schemeClr val="tx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lowchart: Or 9">
            <a:extLst>
              <a:ext uri="{FF2B5EF4-FFF2-40B4-BE49-F238E27FC236}">
                <a16:creationId xmlns:a16="http://schemas.microsoft.com/office/drawing/2014/main" id="{DA88034C-CE09-48B2-8271-6BCA03102555}"/>
              </a:ext>
            </a:extLst>
          </p:cNvPr>
          <p:cNvSpPr/>
          <p:nvPr/>
        </p:nvSpPr>
        <p:spPr>
          <a:xfrm>
            <a:off x="3436844" y="1995640"/>
            <a:ext cx="323426" cy="328168"/>
          </a:xfrm>
          <a:prstGeom prst="flowChartOr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448CCA96-F49B-D6DB-8326-5B8DFDA1D6B5}"/>
              </a:ext>
            </a:extLst>
          </p:cNvPr>
          <p:cNvCxnSpPr>
            <a:cxnSpLocks/>
            <a:stCxn id="10" idx="0"/>
            <a:endCxn id="9" idx="4"/>
          </p:cNvCxnSpPr>
          <p:nvPr/>
        </p:nvCxnSpPr>
        <p:spPr>
          <a:xfrm flipV="1">
            <a:off x="3598557" y="1701990"/>
            <a:ext cx="0" cy="293650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ECDBAE60-D9D6-AD6A-41F3-4C4471DA5006}"/>
              </a:ext>
            </a:extLst>
          </p:cNvPr>
          <p:cNvCxnSpPr>
            <a:cxnSpLocks/>
          </p:cNvCxnSpPr>
          <p:nvPr/>
        </p:nvCxnSpPr>
        <p:spPr>
          <a:xfrm>
            <a:off x="1173397" y="1402374"/>
            <a:ext cx="0" cy="1404377"/>
          </a:xfrm>
          <a:prstGeom prst="line">
            <a:avLst/>
          </a:prstGeom>
          <a:ln>
            <a:solidFill>
              <a:srgbClr val="000000"/>
            </a:solidFill>
            <a:prstDash val="dash"/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FFE209C4-E49C-8E3F-3CC9-1CA1F6607762}"/>
              </a:ext>
            </a:extLst>
          </p:cNvPr>
          <p:cNvCxnSpPr>
            <a:cxnSpLocks/>
          </p:cNvCxnSpPr>
          <p:nvPr/>
        </p:nvCxnSpPr>
        <p:spPr>
          <a:xfrm>
            <a:off x="2915223" y="1367487"/>
            <a:ext cx="0" cy="1811794"/>
          </a:xfrm>
          <a:prstGeom prst="line">
            <a:avLst/>
          </a:prstGeom>
          <a:ln>
            <a:solidFill>
              <a:srgbClr val="000000"/>
            </a:solidFill>
            <a:prstDash val="dash"/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ectangle: Rounded Corners 14">
            <a:extLst>
              <a:ext uri="{FF2B5EF4-FFF2-40B4-BE49-F238E27FC236}">
                <a16:creationId xmlns:a16="http://schemas.microsoft.com/office/drawing/2014/main" id="{CF442839-94CF-2C73-B1E9-994562A14728}"/>
              </a:ext>
            </a:extLst>
          </p:cNvPr>
          <p:cNvSpPr/>
          <p:nvPr/>
        </p:nvSpPr>
        <p:spPr>
          <a:xfrm>
            <a:off x="2180589" y="1313465"/>
            <a:ext cx="499853" cy="482162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H</a:t>
            </a:r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E4F9F8D1-DD91-F3CE-A09B-0C03C4430DCB}"/>
              </a:ext>
            </a:extLst>
          </p:cNvPr>
          <p:cNvCxnSpPr>
            <a:cxnSpLocks/>
            <a:endCxn id="20" idx="1"/>
          </p:cNvCxnSpPr>
          <p:nvPr/>
        </p:nvCxnSpPr>
        <p:spPr>
          <a:xfrm>
            <a:off x="903111" y="1554546"/>
            <a:ext cx="1277478" cy="0"/>
          </a:xfrm>
          <a:prstGeom prst="straightConnector1">
            <a:avLst/>
          </a:prstGeom>
          <a:ln>
            <a:solidFill>
              <a:srgbClr val="0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4BFD3E03-B0AE-1ABD-1A15-C66F7330FBD2}"/>
              </a:ext>
            </a:extLst>
          </p:cNvPr>
          <p:cNvSpPr/>
          <p:nvPr/>
        </p:nvSpPr>
        <p:spPr>
          <a:xfrm>
            <a:off x="1873956" y="868536"/>
            <a:ext cx="2144888" cy="1938215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0C794B57-CBBE-2FAD-B68A-25BA805912C4}"/>
                  </a:ext>
                </a:extLst>
              </p:cNvPr>
              <p:cNvSpPr txBox="1"/>
              <p:nvPr/>
            </p:nvSpPr>
            <p:spPr>
              <a:xfrm>
                <a:off x="316821" y="1217708"/>
                <a:ext cx="743695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|"/>
                          <m:endChr m:val="⟩"/>
                          <m:ctrlPr>
                            <a:rPr lang="en-US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0C794B57-CBBE-2FAD-B68A-25BA805912C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6821" y="1217708"/>
                <a:ext cx="743695" cy="3693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AD9BD6A3-EC89-8FA6-827B-3475AD83BA1A}"/>
                  </a:ext>
                </a:extLst>
              </p:cNvPr>
              <p:cNvSpPr txBox="1"/>
              <p:nvPr/>
            </p:nvSpPr>
            <p:spPr>
              <a:xfrm>
                <a:off x="316821" y="1848327"/>
                <a:ext cx="743695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|"/>
                          <m:endChr m:val="⟩"/>
                          <m:ctrlPr>
                            <a:rPr lang="en-US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AD9BD6A3-EC89-8FA6-827B-3475AD83BA1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6821" y="1848327"/>
                <a:ext cx="743695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7681173B-C434-5141-0D74-A6A3DE00BF54}"/>
              </a:ext>
            </a:extLst>
          </p:cNvPr>
          <p:cNvCxnSpPr>
            <a:cxnSpLocks/>
          </p:cNvCxnSpPr>
          <p:nvPr/>
        </p:nvCxnSpPr>
        <p:spPr>
          <a:xfrm>
            <a:off x="4331979" y="1217708"/>
            <a:ext cx="0" cy="1912642"/>
          </a:xfrm>
          <a:prstGeom prst="line">
            <a:avLst/>
          </a:prstGeom>
          <a:ln>
            <a:solidFill>
              <a:srgbClr val="000000"/>
            </a:solidFill>
            <a:prstDash val="dash"/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AC702AB5-5085-88D6-D8C2-5C2530A929F0}"/>
                  </a:ext>
                </a:extLst>
              </p:cNvPr>
              <p:cNvSpPr txBox="1"/>
              <p:nvPr/>
            </p:nvSpPr>
            <p:spPr>
              <a:xfrm>
                <a:off x="550645" y="2809949"/>
                <a:ext cx="132331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|"/>
                          <m:endChr m:val="⟩"/>
                          <m:ctrlPr>
                            <a:rPr lang="en-US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𝜓</m:t>
                              </m:r>
                            </m:e>
                            <m:sub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|"/>
                          <m:endChr m:val="⟩"/>
                          <m:ctrlPr>
                            <a:rPr lang="en-US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00</m:t>
                          </m:r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AC702AB5-5085-88D6-D8C2-5C2530A929F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0645" y="2809949"/>
                <a:ext cx="1323311" cy="369332"/>
              </a:xfrm>
              <a:prstGeom prst="rect">
                <a:avLst/>
              </a:prstGeom>
              <a:blipFill>
                <a:blip r:embed="rId5"/>
                <a:stretch>
                  <a:fillRect b="-1311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F30D1F1F-4030-78F2-2A52-B1A808B58474}"/>
                  </a:ext>
                </a:extLst>
              </p:cNvPr>
              <p:cNvSpPr txBox="1"/>
              <p:nvPr/>
            </p:nvSpPr>
            <p:spPr>
              <a:xfrm>
                <a:off x="1873956" y="3194211"/>
                <a:ext cx="3405645" cy="99168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|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𝜓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⟩=</m:t>
                      </m:r>
                      <m:d>
                        <m:dPr>
                          <m:begChr m:val="|"/>
                          <m:endChr m:val="⟩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+0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ad>
                                <m:radPr>
                                  <m:degHide m:val="on"/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e>
                              </m:rad>
                            </m:den>
                          </m:f>
                          <m:d>
                            <m:dPr>
                              <m:begChr m:val="|"/>
                              <m:endChr m:val="⟩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d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+</m:t>
                          </m:r>
                          <m:f>
                            <m:f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ad>
                                <m:radPr>
                                  <m:degHide m:val="on"/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e>
                              </m:rad>
                            </m:den>
                          </m:f>
                          <m:d>
                            <m:dPr>
                              <m:begChr m:val="|"/>
                              <m:endChr m:val="⟩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d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⨂</m:t>
                      </m:r>
                      <m:d>
                        <m:dPr>
                          <m:begChr m:val="|"/>
                          <m:endChr m:val="⟩"/>
                          <m:ctrlPr>
                            <a:rPr lang="en-US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F30D1F1F-4030-78F2-2A52-B1A808B5847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73956" y="3194211"/>
                <a:ext cx="3405645" cy="99168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C12D1AC5-7A2F-9073-DC5E-1882FA16A02D}"/>
                  </a:ext>
                </a:extLst>
              </p:cNvPr>
              <p:cNvSpPr txBox="1"/>
              <p:nvPr/>
            </p:nvSpPr>
            <p:spPr>
              <a:xfrm>
                <a:off x="4634835" y="1222537"/>
                <a:ext cx="4123042" cy="25568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|"/>
                          <m:endChr m:val="⟩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𝜓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𝐶𝑁𝑂𝑇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ad>
                                    <m:radPr>
                                      <m:degHide m:val="on"/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radPr>
                                    <m:deg/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e>
                                  </m:rad>
                                </m:den>
                              </m:f>
                              <m:d>
                                <m:dPr>
                                  <m:begChr m:val="|"/>
                                  <m:endChr m:val="⟩"/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</m:d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f>
                                <m:f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ad>
                                    <m:radPr>
                                      <m:degHide m:val="on"/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radPr>
                                    <m:deg/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e>
                                  </m:rad>
                                </m:den>
                              </m:f>
                              <m:d>
                                <m:dPr>
                                  <m:begChr m:val="|"/>
                                  <m:endChr m:val="⟩"/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e>
                              </m:d>
                            </m:e>
                          </m:d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⨂</m:t>
                          </m:r>
                          <m:d>
                            <m:dPr>
                              <m:begChr m:val="|"/>
                              <m:endChr m:val="⟩"/>
                              <m:ctrlP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d>
                        </m:e>
                      </m:d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𝐶𝑁𝑂𝑇</m:t>
                      </m:r>
                      <m:d>
                        <m:dPr>
                          <m:ctrlPr>
                            <a:rPr lang="en-US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ad>
                                <m:radPr>
                                  <m:degHide m:val="on"/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e>
                              </m:rad>
                            </m:den>
                          </m:f>
                          <m:d>
                            <m:dPr>
                              <m:begChr m:val="|"/>
                              <m:endChr m:val="⟩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d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+</m:t>
                          </m:r>
                          <m:f>
                            <m:f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ad>
                                <m:radPr>
                                  <m:degHide m:val="on"/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e>
                              </m:rad>
                            </m:den>
                          </m:f>
                          <m:d>
                            <m:dPr>
                              <m:begChr m:val="|"/>
                              <m:endChr m:val="⟩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d>
                        </m:e>
                      </m:d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rad>
                        </m:den>
                      </m:f>
                      <m:d>
                        <m:dPr>
                          <m:begChr m:val="|"/>
                          <m:endChr m:val="⟩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00</m:t>
                          </m:r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rad>
                        </m:den>
                      </m:f>
                      <m:d>
                        <m:dPr>
                          <m:begChr m:val="|"/>
                          <m:endChr m:val="⟩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=|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𝜙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⟩</m:t>
                      </m:r>
                    </m:oMath>
                  </m:oMathPara>
                </a14:m>
                <a:endParaRPr lang="en-US" dirty="0"/>
              </a:p>
              <a:p>
                <a:endParaRPr lang="en-US" b="0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C12D1AC5-7A2F-9073-DC5E-1882FA16A02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34835" y="1222537"/>
                <a:ext cx="4123042" cy="2556854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4140895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D4DA74-A9ED-5ACB-9A5A-4B682F321D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Using Bell State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113A1A5-06EA-F86B-DE89-C57DFDBA0B7E}"/>
                  </a:ext>
                </a:extLst>
              </p:cNvPr>
              <p:cNvSpPr>
                <a:spLocks noGrp="1"/>
              </p:cNvSpPr>
              <p:nvPr>
                <p:ph sz="quarter" idx="1"/>
              </p:nvPr>
            </p:nvSpPr>
            <p:spPr>
              <a:xfrm>
                <a:off x="157507" y="1038577"/>
                <a:ext cx="5898984" cy="5350933"/>
              </a:xfrm>
            </p:spPr>
            <p:txBody>
              <a:bodyPr>
                <a:normAutofit fontScale="70000" lnSpcReduction="20000"/>
              </a:bodyPr>
              <a:lstStyle/>
              <a:p>
                <a:r>
                  <a:rPr lang="en-US" sz="2000" dirty="0"/>
                  <a:t>Alice performs CNOT of her Qubit with her Qubit of the shared Bell state</a:t>
                </a:r>
              </a:p>
              <a:p>
                <a:pPr lvl="1"/>
                <a14:m>
                  <m:oMath xmlns:m="http://schemas.openxmlformats.org/officeDocument/2006/math">
                    <m:d>
                      <m:dPr>
                        <m:begChr m:val="|"/>
                        <m:endChr m:val="⟩"/>
                        <m:ctrlPr>
                          <a:rPr lang="en-US" sz="1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  <m:t>𝜓</m:t>
                            </m:r>
                          </m:e>
                          <m:sub>
                            <m: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=(</m:t>
                    </m:r>
                    <m:r>
                      <a:rPr lang="en-US" sz="1800" i="1">
                        <a:latin typeface="Cambria Math" panose="02040503050406030204" pitchFamily="18" charset="0"/>
                      </a:rPr>
                      <m:t>𝛼</m:t>
                    </m:r>
                    <m:d>
                      <m:dPr>
                        <m:begChr m:val="|"/>
                        <m:endChr m:val="⟩"/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  <m:r>
                      <a:rPr lang="en-US" sz="1800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1800" i="1">
                        <a:latin typeface="Cambria Math" panose="02040503050406030204" pitchFamily="18" charset="0"/>
                      </a:rPr>
                      <m:t>𝛽</m:t>
                    </m:r>
                    <m:r>
                      <a:rPr lang="en-US" sz="1800" i="1">
                        <a:latin typeface="Cambria Math" panose="02040503050406030204" pitchFamily="18" charset="0"/>
                      </a:rPr>
                      <m:t>|1⟩)⨂(</m:t>
                    </m:r>
                    <m:f>
                      <m:fPr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US" sz="1800" i="1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sz="18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den>
                    </m:f>
                    <m:d>
                      <m:dPr>
                        <m:begChr m:val="|"/>
                        <m:endChr m:val="⟩"/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00</m:t>
                        </m:r>
                      </m:e>
                    </m:d>
                    <m:r>
                      <a:rPr lang="en-US" sz="1800" i="1"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US" sz="1800" i="1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sz="18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den>
                    </m:f>
                    <m:d>
                      <m:dPr>
                        <m:begChr m:val="|"/>
                        <m:endChr m:val="⟩"/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11</m:t>
                        </m:r>
                      </m:e>
                    </m:d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1800" b="0" i="1" dirty="0">
                  <a:latin typeface="Cambria Math" panose="02040503050406030204" pitchFamily="18" charset="0"/>
                </a:endParaRPr>
              </a:p>
              <a:p>
                <a:pPr lvl="1"/>
                <a14:m>
                  <m:oMath xmlns:m="http://schemas.openxmlformats.org/officeDocument/2006/math">
                    <m:d>
                      <m:dPr>
                        <m:begChr m:val="|"/>
                        <m:endChr m:val="⟩"/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1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800" i="1">
                                <a:latin typeface="Cambria Math" panose="02040503050406030204" pitchFamily="18" charset="0"/>
                              </a:rPr>
                              <m:t>𝜓</m:t>
                            </m:r>
                          </m:e>
                          <m:sub>
                            <m:r>
                              <a:rPr lang="en-US" sz="18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𝛼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US" sz="1800" i="1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sz="18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den>
                    </m:f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|000⟩+</m:t>
                    </m:r>
                    <m:f>
                      <m:fPr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𝛼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US" sz="1800" i="1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sz="18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den>
                    </m:f>
                    <m:r>
                      <a:rPr lang="en-US" sz="1800" i="1">
                        <a:latin typeface="Cambria Math" panose="02040503050406030204" pitchFamily="18" charset="0"/>
                      </a:rPr>
                      <m:t>|0</m:t>
                    </m:r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11</m:t>
                    </m:r>
                    <m:r>
                      <a:rPr lang="en-US" sz="1800" i="1">
                        <a:latin typeface="Cambria Math" panose="02040503050406030204" pitchFamily="18" charset="0"/>
                      </a:rPr>
                      <m:t>⟩+</m:t>
                    </m:r>
                  </m:oMath>
                </a14:m>
                <a:r>
                  <a:rPr lang="en-US" sz="1800" dirty="0"/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𝛽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US" sz="1800" i="1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sz="18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den>
                    </m:f>
                    <m:r>
                      <a:rPr lang="en-US" sz="1800" i="1">
                        <a:latin typeface="Cambria Math" panose="02040503050406030204" pitchFamily="18" charset="0"/>
                      </a:rPr>
                      <m:t>|</m:t>
                    </m:r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sz="1800" i="1">
                        <a:latin typeface="Cambria Math" panose="02040503050406030204" pitchFamily="18" charset="0"/>
                      </a:rPr>
                      <m:t>00⟩+ </m:t>
                    </m:r>
                    <m:f>
                      <m:fPr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𝛽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US" sz="1800" i="1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sz="18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den>
                    </m:f>
                    <m:r>
                      <a:rPr lang="en-US" sz="1800" i="1">
                        <a:latin typeface="Cambria Math" panose="02040503050406030204" pitchFamily="18" charset="0"/>
                      </a:rPr>
                      <m:t>|</m:t>
                    </m:r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111</m:t>
                    </m:r>
                    <m:r>
                      <a:rPr lang="en-US" sz="1800" i="1">
                        <a:latin typeface="Cambria Math" panose="02040503050406030204" pitchFamily="18" charset="0"/>
                      </a:rPr>
                      <m:t>⟩</m:t>
                    </m:r>
                  </m:oMath>
                </a14:m>
                <a:endParaRPr lang="en-US" sz="1800" dirty="0"/>
              </a:p>
              <a:p>
                <a:pPr lvl="1"/>
                <a:endParaRPr lang="en-US" sz="1800" b="0" i="1" dirty="0">
                  <a:latin typeface="Cambria Math" panose="02040503050406030204" pitchFamily="18" charset="0"/>
                </a:endParaRPr>
              </a:p>
              <a:p>
                <a:pPr lvl="1"/>
                <a14:m>
                  <m:oMath xmlns:m="http://schemas.openxmlformats.org/officeDocument/2006/math">
                    <m:d>
                      <m:dPr>
                        <m:begChr m:val="|"/>
                        <m:endChr m:val="⟩"/>
                        <m:ctrlPr>
                          <a:rPr lang="en-US" sz="1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  <m:t>𝜓</m:t>
                            </m:r>
                          </m:e>
                          <m:sub>
                            <m: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𝐶𝑁𝑂𝑇</m:t>
                    </m:r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(|</m:t>
                    </m:r>
                    <m:sSub>
                      <m:sSubPr>
                        <m:ctrlPr>
                          <a:rPr lang="en-US" sz="1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𝜓</m:t>
                        </m:r>
                      </m:e>
                      <m:sub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⟩, 1, 2)</m:t>
                    </m:r>
                  </m:oMath>
                </a14:m>
                <a:endParaRPr lang="en-US" sz="1800" b="0" i="1" dirty="0">
                  <a:latin typeface="Cambria Math" panose="02040503050406030204" pitchFamily="18" charset="0"/>
                </a:endParaRPr>
              </a:p>
              <a:p>
                <a:pPr lvl="1"/>
                <a14:m>
                  <m:oMath xmlns:m="http://schemas.openxmlformats.org/officeDocument/2006/math">
                    <m:d>
                      <m:dPr>
                        <m:begChr m:val="|"/>
                        <m:endChr m:val="⟩"/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1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800" i="1">
                                <a:latin typeface="Cambria Math" panose="02040503050406030204" pitchFamily="18" charset="0"/>
                              </a:rPr>
                              <m:t>𝜓</m:t>
                            </m:r>
                          </m:e>
                          <m:sub>
                            <m:r>
                              <a:rPr lang="en-US" sz="18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𝛼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US" sz="1800" i="1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sz="18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den>
                    </m:f>
                    <m:r>
                      <a:rPr lang="en-US" sz="1800" i="1">
                        <a:latin typeface="Cambria Math" panose="02040503050406030204" pitchFamily="18" charset="0"/>
                      </a:rPr>
                      <m:t>|000⟩+</m:t>
                    </m:r>
                    <m:f>
                      <m:fPr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𝛼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US" sz="1800" i="1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sz="18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den>
                    </m:f>
                    <m:r>
                      <a:rPr lang="en-US" sz="1800" i="1">
                        <a:latin typeface="Cambria Math" panose="02040503050406030204" pitchFamily="18" charset="0"/>
                      </a:rPr>
                      <m:t>|</m:t>
                    </m:r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0</m:t>
                    </m:r>
                    <m:r>
                      <a:rPr lang="en-US" sz="1800" i="1">
                        <a:latin typeface="Cambria Math" panose="02040503050406030204" pitchFamily="18" charset="0"/>
                      </a:rPr>
                      <m:t>11⟩+</m:t>
                    </m:r>
                    <m:r>
                      <m:rPr>
                        <m:nor/>
                      </m:rPr>
                      <a:rPr lang="en-US" sz="1800" dirty="0"/>
                      <m:t> </m:t>
                    </m:r>
                    <m:f>
                      <m:fPr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𝛽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US" sz="1800" i="1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sz="18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den>
                    </m:f>
                    <m:r>
                      <a:rPr lang="en-US" sz="1800" i="1">
                        <a:latin typeface="Cambria Math" panose="02040503050406030204" pitchFamily="18" charset="0"/>
                      </a:rPr>
                      <m:t>|1</m:t>
                    </m:r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sz="1800" i="1">
                        <a:latin typeface="Cambria Math" panose="02040503050406030204" pitchFamily="18" charset="0"/>
                      </a:rPr>
                      <m:t>0⟩+ </m:t>
                    </m:r>
                    <m:f>
                      <m:fPr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𝛽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US" sz="1800" i="1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sz="18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den>
                    </m:f>
                    <m:r>
                      <a:rPr lang="en-US" sz="1800" i="1">
                        <a:latin typeface="Cambria Math" panose="02040503050406030204" pitchFamily="18" charset="0"/>
                      </a:rPr>
                      <m:t>|1</m:t>
                    </m:r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0</m:t>
                    </m:r>
                    <m:r>
                      <a:rPr lang="en-US" sz="1800" i="1">
                        <a:latin typeface="Cambria Math" panose="02040503050406030204" pitchFamily="18" charset="0"/>
                      </a:rPr>
                      <m:t>1⟩</m:t>
                    </m:r>
                  </m:oMath>
                </a14:m>
                <a:endParaRPr lang="en-US" sz="1800" dirty="0"/>
              </a:p>
              <a:p>
                <a:endParaRPr lang="en-US" sz="2200" dirty="0"/>
              </a:p>
              <a:p>
                <a:r>
                  <a:rPr lang="en-US" sz="2200" dirty="0"/>
                  <a:t>Now Alice measures middle Qubit.</a:t>
                </a:r>
              </a:p>
              <a:p>
                <a:pPr lvl="1"/>
                <a14:m>
                  <m:oMath xmlns:m="http://schemas.openxmlformats.org/officeDocument/2006/math">
                    <m:d>
                      <m:dPr>
                        <m:begChr m:val="|"/>
                        <m:endChr m:val="⟩"/>
                        <m:ctrlPr>
                          <a:rPr lang="en-US" sz="200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𝜓</m:t>
                            </m:r>
                          </m:e>
                          <m:sub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𝛼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den>
                    </m:f>
                    <m:d>
                      <m:dPr>
                        <m:begChr m:val="|"/>
                        <m:endChr m:val="⟩"/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000</m:t>
                        </m:r>
                      </m:e>
                    </m:d>
                    <m:r>
                      <a:rPr lang="en-US" sz="2000" i="1"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𝛽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den>
                    </m:f>
                    <m:d>
                      <m:dPr>
                        <m:begChr m:val="|"/>
                        <m:endChr m:val="⟩"/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101</m:t>
                        </m:r>
                      </m:e>
                    </m:d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𝛼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den>
                    </m:f>
                    <m:r>
                      <a:rPr lang="en-US" sz="2000" i="1">
                        <a:latin typeface="Cambria Math" panose="02040503050406030204" pitchFamily="18" charset="0"/>
                      </a:rPr>
                      <m:t>|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0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11⟩+</m:t>
                    </m:r>
                    <m:f>
                      <m:f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𝛽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den>
                    </m:f>
                    <m:r>
                      <a:rPr lang="en-US" sz="2000" i="1">
                        <a:latin typeface="Cambria Math" panose="02040503050406030204" pitchFamily="18" charset="0"/>
                      </a:rPr>
                      <m:t>|1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0⟩</m:t>
                    </m:r>
                  </m:oMath>
                </a14:m>
                <a:endParaRPr lang="en-US" sz="2200" dirty="0"/>
              </a:p>
              <a:p>
                <a:pPr lvl="1"/>
                <a:r>
                  <a:rPr lang="en-US" sz="1800" dirty="0"/>
                  <a:t>If Alice measures </a:t>
                </a:r>
                <a14:m>
                  <m:oMath xmlns:m="http://schemas.openxmlformats.org/officeDocument/2006/math"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en-US" sz="1800" dirty="0"/>
                  <a:t>, then final state of 1</a:t>
                </a:r>
                <a:r>
                  <a:rPr lang="en-US" sz="1800" baseline="30000" dirty="0"/>
                  <a:t>st</a:t>
                </a:r>
                <a:r>
                  <a:rPr lang="en-US" sz="1800" dirty="0"/>
                  <a:t>  and 3</a:t>
                </a:r>
                <a:r>
                  <a:rPr lang="en-US" sz="1800" baseline="30000" dirty="0"/>
                  <a:t>rd</a:t>
                </a:r>
                <a:r>
                  <a:rPr lang="en-US" sz="1800" dirty="0"/>
                  <a:t> Qubit</a:t>
                </a:r>
              </a:p>
              <a:p>
                <a:pPr lvl="2"/>
                <a14:m>
                  <m:oMath xmlns:m="http://schemas.openxmlformats.org/officeDocument/2006/math">
                    <m:d>
                      <m:dPr>
                        <m:begChr m:val="|"/>
                        <m:endChr m:val="⟩"/>
                        <m:ctrlPr>
                          <a:rPr lang="en-US" sz="200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𝜓</m:t>
                            </m:r>
                          </m:e>
                          <m:sub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e>
                    </m:d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𝛼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den>
                    </m:f>
                    <m:d>
                      <m:dPr>
                        <m:begChr m:val="|"/>
                        <m:endChr m:val="⟩"/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00</m:t>
                        </m:r>
                      </m:e>
                    </m:d>
                    <m:r>
                      <a:rPr lang="en-US" sz="2000" i="1"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𝛽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den>
                    </m:f>
                    <m:d>
                      <m:dPr>
                        <m:begChr m:val="|"/>
                        <m:endChr m:val="⟩"/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11</m:t>
                        </m:r>
                      </m:e>
                    </m:d>
                  </m:oMath>
                </a14:m>
                <a:endParaRPr lang="en-US" dirty="0"/>
              </a:p>
              <a:p>
                <a:pPr lvl="1"/>
                <a:r>
                  <a:rPr lang="en-US" sz="1900" dirty="0"/>
                  <a:t>Bob measures 3</a:t>
                </a:r>
                <a:r>
                  <a:rPr lang="en-US" sz="1900" baseline="30000" dirty="0"/>
                  <a:t>rd</a:t>
                </a:r>
                <a:r>
                  <a:rPr lang="en-US" sz="1900" dirty="0"/>
                  <a:t> Qubit -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19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1900" i="1">
                            <a:latin typeface="Cambria Math" panose="02040503050406030204" pitchFamily="18" charset="0"/>
                          </a:rPr>
                          <m:t>𝛼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US" sz="1900" i="1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sz="19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den>
                    </m:f>
                    <m:d>
                      <m:dPr>
                        <m:begChr m:val="|"/>
                        <m:endChr m:val="⟩"/>
                        <m:ctrlPr>
                          <a:rPr lang="en-US" sz="19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900" i="1"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  <m:r>
                      <a:rPr lang="en-US" sz="1900" i="1"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en-US" sz="19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1900" i="1">
                            <a:latin typeface="Cambria Math" panose="02040503050406030204" pitchFamily="18" charset="0"/>
                          </a:rPr>
                          <m:t>𝛽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US" sz="1900" i="1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sz="19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den>
                    </m:f>
                    <m:d>
                      <m:dPr>
                        <m:begChr m:val="|"/>
                        <m:endChr m:val="⟩"/>
                        <m:ctrlPr>
                          <a:rPr lang="en-US" sz="19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900" i="1"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</m:oMath>
                </a14:m>
                <a:endParaRPr lang="en-US" sz="1900" dirty="0"/>
              </a:p>
              <a:p>
                <a:pPr lvl="1"/>
                <a:r>
                  <a:rPr lang="en-US" sz="1800" dirty="0"/>
                  <a:t>If Alice measures </a:t>
                </a:r>
                <a14:m>
                  <m:oMath xmlns:m="http://schemas.openxmlformats.org/officeDocument/2006/math"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en-US" sz="1800" dirty="0"/>
                  <a:t>, then final state is </a:t>
                </a:r>
              </a:p>
              <a:p>
                <a:pPr lvl="2"/>
                <a14:m>
                  <m:oMath xmlns:m="http://schemas.openxmlformats.org/officeDocument/2006/math">
                    <m:d>
                      <m:dPr>
                        <m:begChr m:val="|"/>
                        <m:endChr m:val="⟩"/>
                        <m:ctrlPr>
                          <a:rPr lang="en-US" sz="200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𝜓</m:t>
                            </m:r>
                          </m:e>
                          <m:sub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e>
                    </m:d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𝛼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den>
                    </m:f>
                    <m:r>
                      <a:rPr lang="en-US" sz="2000" i="1">
                        <a:latin typeface="Cambria Math" panose="02040503050406030204" pitchFamily="18" charset="0"/>
                      </a:rPr>
                      <m:t>|01⟩+</m:t>
                    </m:r>
                    <m:f>
                      <m:f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𝛽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den>
                    </m:f>
                    <m:r>
                      <a:rPr lang="en-US" sz="2000" i="1">
                        <a:latin typeface="Cambria Math" panose="02040503050406030204" pitchFamily="18" charset="0"/>
                      </a:rPr>
                      <m:t>|10⟩</m:t>
                    </m:r>
                  </m:oMath>
                </a14:m>
                <a:endParaRPr lang="en-US" dirty="0"/>
              </a:p>
              <a:p>
                <a:pPr lvl="1"/>
                <a:r>
                  <a:rPr lang="en-US" sz="2000" dirty="0"/>
                  <a:t>Bob measures 3</a:t>
                </a:r>
                <a:r>
                  <a:rPr lang="en-US" sz="2000" baseline="30000" dirty="0"/>
                  <a:t>rd</a:t>
                </a:r>
                <a:r>
                  <a:rPr lang="en-US" sz="2000" dirty="0"/>
                  <a:t> Qubit -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0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𝛼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den>
                    </m:f>
                    <m:d>
                      <m:dPr>
                        <m:begChr m:val="|"/>
                        <m:endChr m:val="⟩"/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  <m:r>
                      <a:rPr lang="en-US" sz="2000" i="1"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𝛽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den>
                    </m:f>
                    <m:d>
                      <m:dPr>
                        <m:begChr m:val="|"/>
                        <m:endChr m:val="⟩"/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</m:oMath>
                </a14:m>
                <a:endParaRPr lang="en-US" sz="2000" dirty="0"/>
              </a:p>
              <a:p>
                <a:pPr lvl="1"/>
                <a:r>
                  <a:rPr lang="en-US" sz="2000" dirty="0"/>
                  <a:t>Bob can fix this by X gate.</a:t>
                </a: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113A1A5-06EA-F86B-DE89-C57DFDBA0B7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xfrm>
                <a:off x="157507" y="1038577"/>
                <a:ext cx="5898984" cy="5350933"/>
              </a:xfrm>
              <a:blipFill>
                <a:blip r:embed="rId2"/>
                <a:stretch>
                  <a:fillRect t="-79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25DBD3DA-7B5B-C944-E751-C08653CCB681}"/>
              </a:ext>
            </a:extLst>
          </p:cNvPr>
          <p:cNvCxnSpPr>
            <a:cxnSpLocks/>
          </p:cNvCxnSpPr>
          <p:nvPr/>
        </p:nvCxnSpPr>
        <p:spPr>
          <a:xfrm>
            <a:off x="6265333" y="2540000"/>
            <a:ext cx="5836356" cy="28721"/>
          </a:xfrm>
          <a:prstGeom prst="line">
            <a:avLst/>
          </a:prstGeom>
          <a:ln>
            <a:solidFill>
              <a:srgbClr val="0070C0"/>
            </a:solidFill>
            <a:prstDash val="dash"/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662D68B4-A59F-35B7-4029-E0F7E9CFB15B}"/>
              </a:ext>
            </a:extLst>
          </p:cNvPr>
          <p:cNvSpPr txBox="1"/>
          <p:nvPr/>
        </p:nvSpPr>
        <p:spPr>
          <a:xfrm>
            <a:off x="6135510" y="2066781"/>
            <a:ext cx="9821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Alice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0A6133B-0591-B845-C003-574CDCA363A6}"/>
              </a:ext>
            </a:extLst>
          </p:cNvPr>
          <p:cNvSpPr txBox="1"/>
          <p:nvPr/>
        </p:nvSpPr>
        <p:spPr>
          <a:xfrm>
            <a:off x="6135510" y="2653165"/>
            <a:ext cx="9821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Bob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D928CB2F-7226-EFCD-9A9A-75EBE228158B}"/>
              </a:ext>
            </a:extLst>
          </p:cNvPr>
          <p:cNvGrpSpPr/>
          <p:nvPr/>
        </p:nvGrpSpPr>
        <p:grpSpPr>
          <a:xfrm>
            <a:off x="8229600" y="1965254"/>
            <a:ext cx="191911" cy="1140216"/>
            <a:chOff x="1391604" y="1046849"/>
            <a:chExt cx="267815" cy="1907297"/>
          </a:xfrm>
        </p:grpSpPr>
        <p:sp>
          <p:nvSpPr>
            <p:cNvPr id="8" name="Freeform 30">
              <a:extLst>
                <a:ext uri="{FF2B5EF4-FFF2-40B4-BE49-F238E27FC236}">
                  <a16:creationId xmlns:a16="http://schemas.microsoft.com/office/drawing/2014/main" id="{86EDBDB9-D60C-F892-47A3-FD1984712985}"/>
                </a:ext>
              </a:extLst>
            </p:cNvPr>
            <p:cNvSpPr/>
            <p:nvPr/>
          </p:nvSpPr>
          <p:spPr>
            <a:xfrm rot="5400000">
              <a:off x="631440" y="1884169"/>
              <a:ext cx="1773716" cy="253388"/>
            </a:xfrm>
            <a:custGeom>
              <a:avLst/>
              <a:gdLst>
                <a:gd name="connsiteX0" fmla="*/ 0 w 1773716"/>
                <a:gd name="connsiteY0" fmla="*/ 187287 h 253388"/>
                <a:gd name="connsiteX1" fmla="*/ 22034 w 1773716"/>
                <a:gd name="connsiteY1" fmla="*/ 88135 h 253388"/>
                <a:gd name="connsiteX2" fmla="*/ 44068 w 1773716"/>
                <a:gd name="connsiteY2" fmla="*/ 55084 h 253388"/>
                <a:gd name="connsiteX3" fmla="*/ 77118 w 1773716"/>
                <a:gd name="connsiteY3" fmla="*/ 22034 h 253388"/>
                <a:gd name="connsiteX4" fmla="*/ 143219 w 1773716"/>
                <a:gd name="connsiteY4" fmla="*/ 0 h 253388"/>
                <a:gd name="connsiteX5" fmla="*/ 220338 w 1773716"/>
                <a:gd name="connsiteY5" fmla="*/ 33051 h 253388"/>
                <a:gd name="connsiteX6" fmla="*/ 231354 w 1773716"/>
                <a:gd name="connsiteY6" fmla="*/ 66101 h 253388"/>
                <a:gd name="connsiteX7" fmla="*/ 253388 w 1773716"/>
                <a:gd name="connsiteY7" fmla="*/ 99152 h 253388"/>
                <a:gd name="connsiteX8" fmla="*/ 308472 w 1773716"/>
                <a:gd name="connsiteY8" fmla="*/ 198304 h 253388"/>
                <a:gd name="connsiteX9" fmla="*/ 418641 w 1773716"/>
                <a:gd name="connsiteY9" fmla="*/ 253388 h 253388"/>
                <a:gd name="connsiteX10" fmla="*/ 484742 w 1773716"/>
                <a:gd name="connsiteY10" fmla="*/ 242371 h 253388"/>
                <a:gd name="connsiteX11" fmla="*/ 528810 w 1773716"/>
                <a:gd name="connsiteY11" fmla="*/ 176270 h 253388"/>
                <a:gd name="connsiteX12" fmla="*/ 561860 w 1773716"/>
                <a:gd name="connsiteY12" fmla="*/ 132202 h 253388"/>
                <a:gd name="connsiteX13" fmla="*/ 649995 w 1773716"/>
                <a:gd name="connsiteY13" fmla="*/ 33051 h 253388"/>
                <a:gd name="connsiteX14" fmla="*/ 683046 w 1773716"/>
                <a:gd name="connsiteY14" fmla="*/ 11017 h 253388"/>
                <a:gd name="connsiteX15" fmla="*/ 727113 w 1773716"/>
                <a:gd name="connsiteY15" fmla="*/ 0 h 253388"/>
                <a:gd name="connsiteX16" fmla="*/ 771181 w 1773716"/>
                <a:gd name="connsiteY16" fmla="*/ 11017 h 253388"/>
                <a:gd name="connsiteX17" fmla="*/ 804232 w 1773716"/>
                <a:gd name="connsiteY17" fmla="*/ 44067 h 253388"/>
                <a:gd name="connsiteX18" fmla="*/ 837282 w 1773716"/>
                <a:gd name="connsiteY18" fmla="*/ 154236 h 253388"/>
                <a:gd name="connsiteX19" fmla="*/ 859316 w 1773716"/>
                <a:gd name="connsiteY19" fmla="*/ 187287 h 253388"/>
                <a:gd name="connsiteX20" fmla="*/ 925417 w 1773716"/>
                <a:gd name="connsiteY20" fmla="*/ 231354 h 253388"/>
                <a:gd name="connsiteX21" fmla="*/ 980501 w 1773716"/>
                <a:gd name="connsiteY21" fmla="*/ 220337 h 253388"/>
                <a:gd name="connsiteX22" fmla="*/ 1046603 w 1773716"/>
                <a:gd name="connsiteY22" fmla="*/ 165253 h 253388"/>
                <a:gd name="connsiteX23" fmla="*/ 1090670 w 1773716"/>
                <a:gd name="connsiteY23" fmla="*/ 99152 h 253388"/>
                <a:gd name="connsiteX24" fmla="*/ 1123721 w 1773716"/>
                <a:gd name="connsiteY24" fmla="*/ 33051 h 253388"/>
                <a:gd name="connsiteX25" fmla="*/ 1167788 w 1773716"/>
                <a:gd name="connsiteY25" fmla="*/ 0 h 253388"/>
                <a:gd name="connsiteX26" fmla="*/ 1266940 w 1773716"/>
                <a:gd name="connsiteY26" fmla="*/ 22034 h 253388"/>
                <a:gd name="connsiteX27" fmla="*/ 1299991 w 1773716"/>
                <a:gd name="connsiteY27" fmla="*/ 44067 h 253388"/>
                <a:gd name="connsiteX28" fmla="*/ 1355075 w 1773716"/>
                <a:gd name="connsiteY28" fmla="*/ 110169 h 253388"/>
                <a:gd name="connsiteX29" fmla="*/ 1421176 w 1773716"/>
                <a:gd name="connsiteY29" fmla="*/ 154236 h 253388"/>
                <a:gd name="connsiteX30" fmla="*/ 1487277 w 1773716"/>
                <a:gd name="connsiteY30" fmla="*/ 209320 h 253388"/>
                <a:gd name="connsiteX31" fmla="*/ 1564395 w 1773716"/>
                <a:gd name="connsiteY31" fmla="*/ 231354 h 253388"/>
                <a:gd name="connsiteX32" fmla="*/ 1641513 w 1773716"/>
                <a:gd name="connsiteY32" fmla="*/ 220337 h 253388"/>
                <a:gd name="connsiteX33" fmla="*/ 1718632 w 1773716"/>
                <a:gd name="connsiteY33" fmla="*/ 132202 h 253388"/>
                <a:gd name="connsiteX34" fmla="*/ 1740665 w 1773716"/>
                <a:gd name="connsiteY34" fmla="*/ 99152 h 253388"/>
                <a:gd name="connsiteX35" fmla="*/ 1773716 w 1773716"/>
                <a:gd name="connsiteY35" fmla="*/ 22034 h 253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</a:cxnLst>
              <a:rect l="l" t="t" r="r" b="b"/>
              <a:pathLst>
                <a:path w="1773716" h="253388">
                  <a:moveTo>
                    <a:pt x="0" y="187287"/>
                  </a:moveTo>
                  <a:cubicBezTo>
                    <a:pt x="1961" y="177482"/>
                    <a:pt x="16199" y="101750"/>
                    <a:pt x="22034" y="88135"/>
                  </a:cubicBezTo>
                  <a:cubicBezTo>
                    <a:pt x="27250" y="75965"/>
                    <a:pt x="35591" y="65256"/>
                    <a:pt x="44068" y="55084"/>
                  </a:cubicBezTo>
                  <a:cubicBezTo>
                    <a:pt x="54042" y="43115"/>
                    <a:pt x="63499" y="29600"/>
                    <a:pt x="77118" y="22034"/>
                  </a:cubicBezTo>
                  <a:cubicBezTo>
                    <a:pt x="97421" y="10755"/>
                    <a:pt x="143219" y="0"/>
                    <a:pt x="143219" y="0"/>
                  </a:cubicBezTo>
                  <a:cubicBezTo>
                    <a:pt x="169681" y="6616"/>
                    <a:pt x="201318" y="9275"/>
                    <a:pt x="220338" y="33051"/>
                  </a:cubicBezTo>
                  <a:cubicBezTo>
                    <a:pt x="227592" y="42119"/>
                    <a:pt x="226161" y="55714"/>
                    <a:pt x="231354" y="66101"/>
                  </a:cubicBezTo>
                  <a:cubicBezTo>
                    <a:pt x="237275" y="77944"/>
                    <a:pt x="247466" y="87309"/>
                    <a:pt x="253388" y="99152"/>
                  </a:cubicBezTo>
                  <a:cubicBezTo>
                    <a:pt x="273478" y="139332"/>
                    <a:pt x="256370" y="163570"/>
                    <a:pt x="308472" y="198304"/>
                  </a:cubicBezTo>
                  <a:cubicBezTo>
                    <a:pt x="387172" y="250770"/>
                    <a:pt x="348883" y="235948"/>
                    <a:pt x="418641" y="253388"/>
                  </a:cubicBezTo>
                  <a:cubicBezTo>
                    <a:pt x="440675" y="249716"/>
                    <a:pt x="466442" y="255181"/>
                    <a:pt x="484742" y="242371"/>
                  </a:cubicBezTo>
                  <a:cubicBezTo>
                    <a:pt x="506436" y="227185"/>
                    <a:pt x="512922" y="197455"/>
                    <a:pt x="528810" y="176270"/>
                  </a:cubicBezTo>
                  <a:cubicBezTo>
                    <a:pt x="539827" y="161581"/>
                    <a:pt x="551188" y="147143"/>
                    <a:pt x="561860" y="132202"/>
                  </a:cubicBezTo>
                  <a:cubicBezTo>
                    <a:pt x="591963" y="90058"/>
                    <a:pt x="596221" y="68900"/>
                    <a:pt x="649995" y="33051"/>
                  </a:cubicBezTo>
                  <a:cubicBezTo>
                    <a:pt x="661012" y="25706"/>
                    <a:pt x="670876" y="16233"/>
                    <a:pt x="683046" y="11017"/>
                  </a:cubicBezTo>
                  <a:cubicBezTo>
                    <a:pt x="696963" y="5053"/>
                    <a:pt x="712424" y="3672"/>
                    <a:pt x="727113" y="0"/>
                  </a:cubicBezTo>
                  <a:cubicBezTo>
                    <a:pt x="741802" y="3672"/>
                    <a:pt x="758034" y="3505"/>
                    <a:pt x="771181" y="11017"/>
                  </a:cubicBezTo>
                  <a:cubicBezTo>
                    <a:pt x="784708" y="18747"/>
                    <a:pt x="796502" y="30540"/>
                    <a:pt x="804232" y="44067"/>
                  </a:cubicBezTo>
                  <a:cubicBezTo>
                    <a:pt x="865824" y="151854"/>
                    <a:pt x="741520" y="10593"/>
                    <a:pt x="837282" y="154236"/>
                  </a:cubicBezTo>
                  <a:cubicBezTo>
                    <a:pt x="844627" y="165253"/>
                    <a:pt x="849351" y="178568"/>
                    <a:pt x="859316" y="187287"/>
                  </a:cubicBezTo>
                  <a:cubicBezTo>
                    <a:pt x="879245" y="204725"/>
                    <a:pt x="925417" y="231354"/>
                    <a:pt x="925417" y="231354"/>
                  </a:cubicBezTo>
                  <a:cubicBezTo>
                    <a:pt x="943778" y="227682"/>
                    <a:pt x="962968" y="226912"/>
                    <a:pt x="980501" y="220337"/>
                  </a:cubicBezTo>
                  <a:cubicBezTo>
                    <a:pt x="1000472" y="212848"/>
                    <a:pt x="1034835" y="180383"/>
                    <a:pt x="1046603" y="165253"/>
                  </a:cubicBezTo>
                  <a:cubicBezTo>
                    <a:pt x="1062861" y="144350"/>
                    <a:pt x="1090670" y="99152"/>
                    <a:pt x="1090670" y="99152"/>
                  </a:cubicBezTo>
                  <a:cubicBezTo>
                    <a:pt x="1099631" y="72270"/>
                    <a:pt x="1102363" y="54409"/>
                    <a:pt x="1123721" y="33051"/>
                  </a:cubicBezTo>
                  <a:cubicBezTo>
                    <a:pt x="1136704" y="20068"/>
                    <a:pt x="1153099" y="11017"/>
                    <a:pt x="1167788" y="0"/>
                  </a:cubicBezTo>
                  <a:cubicBezTo>
                    <a:pt x="1193178" y="4232"/>
                    <a:pt x="1239818" y="8473"/>
                    <a:pt x="1266940" y="22034"/>
                  </a:cubicBezTo>
                  <a:cubicBezTo>
                    <a:pt x="1278783" y="27955"/>
                    <a:pt x="1288974" y="36723"/>
                    <a:pt x="1299991" y="44067"/>
                  </a:cubicBezTo>
                  <a:cubicBezTo>
                    <a:pt x="1319577" y="73447"/>
                    <a:pt x="1325711" y="87330"/>
                    <a:pt x="1355075" y="110169"/>
                  </a:cubicBezTo>
                  <a:cubicBezTo>
                    <a:pt x="1375978" y="126427"/>
                    <a:pt x="1402451" y="135511"/>
                    <a:pt x="1421176" y="154236"/>
                  </a:cubicBezTo>
                  <a:cubicBezTo>
                    <a:pt x="1445541" y="178601"/>
                    <a:pt x="1456601" y="193982"/>
                    <a:pt x="1487277" y="209320"/>
                  </a:cubicBezTo>
                  <a:cubicBezTo>
                    <a:pt x="1503082" y="217222"/>
                    <a:pt x="1550276" y="227824"/>
                    <a:pt x="1564395" y="231354"/>
                  </a:cubicBezTo>
                  <a:cubicBezTo>
                    <a:pt x="1590101" y="227682"/>
                    <a:pt x="1616641" y="227798"/>
                    <a:pt x="1641513" y="220337"/>
                  </a:cubicBezTo>
                  <a:cubicBezTo>
                    <a:pt x="1679768" y="208861"/>
                    <a:pt x="1700881" y="158829"/>
                    <a:pt x="1718632" y="132202"/>
                  </a:cubicBezTo>
                  <a:cubicBezTo>
                    <a:pt x="1725976" y="121185"/>
                    <a:pt x="1736478" y="111713"/>
                    <a:pt x="1740665" y="99152"/>
                  </a:cubicBezTo>
                  <a:cubicBezTo>
                    <a:pt x="1764341" y="28124"/>
                    <a:pt x="1746276" y="49474"/>
                    <a:pt x="1773716" y="22034"/>
                  </a:cubicBezTo>
                </a:path>
              </a:pathLst>
            </a:custGeom>
            <a:noFill/>
            <a:ln w="38100">
              <a:solidFill>
                <a:srgbClr val="0070C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4E1E9149-A7CB-83E6-FA59-2D697B47C1EE}"/>
                </a:ext>
              </a:extLst>
            </p:cNvPr>
            <p:cNvSpPr/>
            <p:nvPr/>
          </p:nvSpPr>
          <p:spPr>
            <a:xfrm>
              <a:off x="1489090" y="2799834"/>
              <a:ext cx="170329" cy="154312"/>
            </a:xfrm>
            <a:prstGeom prst="ellipse">
              <a:avLst/>
            </a:prstGeom>
            <a:solidFill>
              <a:schemeClr val="bg2"/>
            </a:solidFill>
            <a:ln>
              <a:solidFill>
                <a:srgbClr val="0070C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3A920F18-4525-28D3-AB35-F1A7498B12C3}"/>
                </a:ext>
              </a:extLst>
            </p:cNvPr>
            <p:cNvSpPr/>
            <p:nvPr/>
          </p:nvSpPr>
          <p:spPr>
            <a:xfrm>
              <a:off x="1391604" y="1046849"/>
              <a:ext cx="170329" cy="154312"/>
            </a:xfrm>
            <a:prstGeom prst="ellipse">
              <a:avLst/>
            </a:prstGeom>
            <a:solidFill>
              <a:schemeClr val="bg2"/>
            </a:solidFill>
            <a:ln>
              <a:solidFill>
                <a:srgbClr val="0070C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C20AB985-B548-5914-0DE1-4279AC5E3EA7}"/>
              </a:ext>
            </a:extLst>
          </p:cNvPr>
          <p:cNvCxnSpPr>
            <a:cxnSpLocks/>
          </p:cNvCxnSpPr>
          <p:nvPr/>
        </p:nvCxnSpPr>
        <p:spPr>
          <a:xfrm>
            <a:off x="8229600" y="1354667"/>
            <a:ext cx="3872089" cy="0"/>
          </a:xfrm>
          <a:prstGeom prst="line">
            <a:avLst/>
          </a:prstGeom>
          <a:ln>
            <a:solidFill>
              <a:srgbClr val="000000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2E1174B2-41DB-8C19-7436-9BA82567FC33}"/>
              </a:ext>
            </a:extLst>
          </p:cNvPr>
          <p:cNvCxnSpPr>
            <a:cxnSpLocks/>
            <a:stCxn id="10" idx="1"/>
            <a:endCxn id="32" idx="1"/>
          </p:cNvCxnSpPr>
          <p:nvPr/>
        </p:nvCxnSpPr>
        <p:spPr>
          <a:xfrm flipV="1">
            <a:off x="8247474" y="1971774"/>
            <a:ext cx="2372853" cy="6990"/>
          </a:xfrm>
          <a:prstGeom prst="line">
            <a:avLst/>
          </a:prstGeom>
          <a:ln>
            <a:solidFill>
              <a:srgbClr val="000000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05A2C78D-7F7F-A776-361E-ABEC64986AB9}"/>
              </a:ext>
            </a:extLst>
          </p:cNvPr>
          <p:cNvCxnSpPr>
            <a:cxnSpLocks/>
          </p:cNvCxnSpPr>
          <p:nvPr/>
        </p:nvCxnSpPr>
        <p:spPr>
          <a:xfrm flipV="1">
            <a:off x="8290627" y="3013220"/>
            <a:ext cx="3811062" cy="34836"/>
          </a:xfrm>
          <a:prstGeom prst="line">
            <a:avLst/>
          </a:prstGeom>
          <a:ln>
            <a:solidFill>
              <a:srgbClr val="000000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6D7BCDF1-0AB2-EB47-E35A-7F84CD9F6390}"/>
                  </a:ext>
                </a:extLst>
              </p:cNvPr>
              <p:cNvSpPr txBox="1"/>
              <p:nvPr/>
            </p:nvSpPr>
            <p:spPr>
              <a:xfrm>
                <a:off x="6626577" y="1120074"/>
                <a:ext cx="1603023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𝛼</m:t>
                      </m:r>
                      <m:d>
                        <m:dPr>
                          <m:begChr m:val="|"/>
                          <m:endChr m:val="⟩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𝛽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|1⟩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6D7BCDF1-0AB2-EB47-E35A-7F84CD9F639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26577" y="1120074"/>
                <a:ext cx="1603023" cy="369332"/>
              </a:xfrm>
              <a:prstGeom prst="rect">
                <a:avLst/>
              </a:prstGeom>
              <a:blipFill>
                <a:blip r:embed="rId3"/>
                <a:stretch>
                  <a:fillRect b="-15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DFC53021-C98D-2CC5-3384-37781B9F20CB}"/>
                  </a:ext>
                </a:extLst>
              </p:cNvPr>
              <p:cNvSpPr txBox="1"/>
              <p:nvPr/>
            </p:nvSpPr>
            <p:spPr>
              <a:xfrm>
                <a:off x="6767798" y="2061403"/>
                <a:ext cx="1592686" cy="50731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sz="1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sz="120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12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ad>
                                <m:radPr>
                                  <m:degHide m:val="on"/>
                                  <m:ctrlPr>
                                    <a:rPr lang="en-US" sz="1200" i="1">
                                      <a:latin typeface="Cambria Math" panose="020405030504060302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r>
                                    <a:rPr lang="en-US" sz="12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e>
                              </m:rad>
                            </m:den>
                          </m:f>
                          <m:d>
                            <m:dPr>
                              <m:begChr m:val="|"/>
                              <m:endChr m:val="⟩"/>
                              <m:ctrlPr>
                                <a:rPr lang="en-US" sz="12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200" b="0" i="1" smtClean="0">
                                  <a:latin typeface="Cambria Math" panose="02040503050406030204" pitchFamily="18" charset="0"/>
                                </a:rPr>
                                <m:t>00</m:t>
                              </m:r>
                            </m:e>
                          </m:d>
                          <m:r>
                            <a:rPr lang="en-US" sz="1200" i="1">
                              <a:latin typeface="Cambria Math" panose="02040503050406030204" pitchFamily="18" charset="0"/>
                            </a:rPr>
                            <m:t>+</m:t>
                          </m:r>
                          <m:f>
                            <m:fPr>
                              <m:ctrlPr>
                                <a:rPr lang="en-US" sz="12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12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ad>
                                <m:radPr>
                                  <m:degHide m:val="on"/>
                                  <m:ctrlPr>
                                    <a:rPr lang="en-US" sz="1200" i="1">
                                      <a:latin typeface="Cambria Math" panose="020405030504060302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r>
                                    <a:rPr lang="en-US" sz="12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e>
                              </m:rad>
                            </m:den>
                          </m:f>
                          <m:d>
                            <m:dPr>
                              <m:begChr m:val="|"/>
                              <m:endChr m:val="⟩"/>
                              <m:ctrlPr>
                                <a:rPr lang="en-US" sz="12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200" b="0" i="1" smtClean="0">
                                  <a:latin typeface="Cambria Math" panose="02040503050406030204" pitchFamily="18" charset="0"/>
                                </a:rPr>
                                <m:t>11</m:t>
                              </m:r>
                            </m:e>
                          </m:d>
                        </m:e>
                      </m:d>
                    </m:oMath>
                  </m:oMathPara>
                </a14:m>
                <a:endParaRPr lang="en-US" sz="1200" dirty="0"/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DFC53021-C98D-2CC5-3384-37781B9F20C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67798" y="2061403"/>
                <a:ext cx="1592686" cy="507318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" name="Oval 20">
            <a:extLst>
              <a:ext uri="{FF2B5EF4-FFF2-40B4-BE49-F238E27FC236}">
                <a16:creationId xmlns:a16="http://schemas.microsoft.com/office/drawing/2014/main" id="{2D485C3F-CB3E-CE72-9C81-A3E7A57D971C}"/>
              </a:ext>
            </a:extLst>
          </p:cNvPr>
          <p:cNvSpPr/>
          <p:nvPr/>
        </p:nvSpPr>
        <p:spPr>
          <a:xfrm>
            <a:off x="9222243" y="1217588"/>
            <a:ext cx="323426" cy="299616"/>
          </a:xfrm>
          <a:prstGeom prst="ellipse">
            <a:avLst/>
          </a:prstGeom>
          <a:solidFill>
            <a:schemeClr val="tx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Flowchart: Or 21">
            <a:extLst>
              <a:ext uri="{FF2B5EF4-FFF2-40B4-BE49-F238E27FC236}">
                <a16:creationId xmlns:a16="http://schemas.microsoft.com/office/drawing/2014/main" id="{22A37E08-1383-ED03-1AAE-ED5002B428FE}"/>
              </a:ext>
            </a:extLst>
          </p:cNvPr>
          <p:cNvSpPr/>
          <p:nvPr/>
        </p:nvSpPr>
        <p:spPr>
          <a:xfrm>
            <a:off x="9222243" y="1810854"/>
            <a:ext cx="323426" cy="328168"/>
          </a:xfrm>
          <a:prstGeom prst="flowChartOr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3AEEDAD1-6B11-4D30-DA46-0D3A71FBA28B}"/>
              </a:ext>
            </a:extLst>
          </p:cNvPr>
          <p:cNvCxnSpPr>
            <a:stCxn id="21" idx="4"/>
            <a:endCxn id="22" idx="0"/>
          </p:cNvCxnSpPr>
          <p:nvPr/>
        </p:nvCxnSpPr>
        <p:spPr>
          <a:xfrm>
            <a:off x="9383956" y="1517204"/>
            <a:ext cx="0" cy="293650"/>
          </a:xfrm>
          <a:prstGeom prst="line">
            <a:avLst/>
          </a:prstGeom>
          <a:ln>
            <a:solidFill>
              <a:srgbClr val="000000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F8FB5CC3-B74C-750F-E910-A3BC4D90BFA7}"/>
              </a:ext>
            </a:extLst>
          </p:cNvPr>
          <p:cNvCxnSpPr/>
          <p:nvPr/>
        </p:nvCxnSpPr>
        <p:spPr>
          <a:xfrm>
            <a:off x="8806656" y="1120074"/>
            <a:ext cx="20930" cy="2605259"/>
          </a:xfrm>
          <a:prstGeom prst="line">
            <a:avLst/>
          </a:prstGeom>
          <a:ln>
            <a:solidFill>
              <a:srgbClr val="000000"/>
            </a:solidFill>
            <a:prstDash val="dash"/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BA98885F-0884-F3C6-E140-9BDD85B95975}"/>
                  </a:ext>
                </a:extLst>
              </p:cNvPr>
              <p:cNvSpPr txBox="1"/>
              <p:nvPr/>
            </p:nvSpPr>
            <p:spPr>
              <a:xfrm>
                <a:off x="8755778" y="3334204"/>
                <a:ext cx="676223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|"/>
                          <m:endChr m:val="⟩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𝜓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BA98885F-0884-F3C6-E140-9BDD85B9597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55778" y="3334204"/>
                <a:ext cx="676223" cy="369332"/>
              </a:xfrm>
              <a:prstGeom prst="rect">
                <a:avLst/>
              </a:prstGeom>
              <a:blipFill>
                <a:blip r:embed="rId5"/>
                <a:stretch>
                  <a:fillRect b="-1311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10AB0DA3-FB12-ACD3-E71F-AD54FA8739C3}"/>
              </a:ext>
            </a:extLst>
          </p:cNvPr>
          <p:cNvCxnSpPr/>
          <p:nvPr/>
        </p:nvCxnSpPr>
        <p:spPr>
          <a:xfrm>
            <a:off x="10266389" y="1133483"/>
            <a:ext cx="20930" cy="2605259"/>
          </a:xfrm>
          <a:prstGeom prst="line">
            <a:avLst/>
          </a:prstGeom>
          <a:ln>
            <a:solidFill>
              <a:srgbClr val="000000"/>
            </a:solidFill>
            <a:prstDash val="dash"/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B6386985-FA37-449A-1F86-AA98E83152B4}"/>
                  </a:ext>
                </a:extLst>
              </p:cNvPr>
              <p:cNvSpPr txBox="1"/>
              <p:nvPr/>
            </p:nvSpPr>
            <p:spPr>
              <a:xfrm>
                <a:off x="10215511" y="3347613"/>
                <a:ext cx="676223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|"/>
                          <m:endChr m:val="⟩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𝜓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B6386985-FA37-449A-1F86-AA98E83152B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15511" y="3347613"/>
                <a:ext cx="676223" cy="369332"/>
              </a:xfrm>
              <a:prstGeom prst="rect">
                <a:avLst/>
              </a:prstGeom>
              <a:blipFill>
                <a:blip r:embed="rId6"/>
                <a:stretch>
                  <a:fillRect b="-1475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2" name="Graphic 31" descr="Speedometer Low outline">
            <a:extLst>
              <a:ext uri="{FF2B5EF4-FFF2-40B4-BE49-F238E27FC236}">
                <a16:creationId xmlns:a16="http://schemas.microsoft.com/office/drawing/2014/main" id="{CB508B93-79AB-3A34-1D17-24A3160E4CFC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0620327" y="1700367"/>
            <a:ext cx="542813" cy="542813"/>
          </a:xfrm>
          <a:prstGeom prst="rect">
            <a:avLst/>
          </a:prstGeom>
        </p:spPr>
      </p:pic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31729E16-AC6B-69CF-0FB4-269E11F8BFD4}"/>
              </a:ext>
            </a:extLst>
          </p:cNvPr>
          <p:cNvCxnSpPr>
            <a:cxnSpLocks/>
            <a:stCxn id="32" idx="3"/>
          </p:cNvCxnSpPr>
          <p:nvPr/>
        </p:nvCxnSpPr>
        <p:spPr>
          <a:xfrm>
            <a:off x="11163140" y="1971774"/>
            <a:ext cx="938549" cy="1616"/>
          </a:xfrm>
          <a:prstGeom prst="line">
            <a:avLst/>
          </a:prstGeom>
          <a:ln>
            <a:solidFill>
              <a:srgbClr val="000000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AFD27096-879C-E83F-A98C-727ADBE45A32}"/>
              </a:ext>
            </a:extLst>
          </p:cNvPr>
          <p:cNvCxnSpPr/>
          <p:nvPr/>
        </p:nvCxnSpPr>
        <p:spPr>
          <a:xfrm>
            <a:off x="11585264" y="1127276"/>
            <a:ext cx="20930" cy="2605259"/>
          </a:xfrm>
          <a:prstGeom prst="line">
            <a:avLst/>
          </a:prstGeom>
          <a:ln>
            <a:solidFill>
              <a:srgbClr val="000000"/>
            </a:solidFill>
            <a:prstDash val="dash"/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D72BC4B6-6B15-D048-2F34-92D16F811CE1}"/>
                  </a:ext>
                </a:extLst>
              </p:cNvPr>
              <p:cNvSpPr txBox="1"/>
              <p:nvPr/>
            </p:nvSpPr>
            <p:spPr>
              <a:xfrm>
                <a:off x="11534386" y="3341406"/>
                <a:ext cx="676223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|"/>
                          <m:endChr m:val="⟩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𝜓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D72BC4B6-6B15-D048-2F34-92D16F811CE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534386" y="3341406"/>
                <a:ext cx="676223" cy="369332"/>
              </a:xfrm>
              <a:prstGeom prst="rect">
                <a:avLst/>
              </a:prstGeom>
              <a:blipFill>
                <a:blip r:embed="rId9"/>
                <a:stretch>
                  <a:fillRect b="-1475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8086713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A5D9F5-0FC1-8D23-7B76-AF17D561C0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Complete Teleportation Protocol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ACB74D8-3A88-3CA2-C441-0CE58A7C318C}"/>
                  </a:ext>
                </a:extLst>
              </p:cNvPr>
              <p:cNvSpPr>
                <a:spLocks noGrp="1"/>
              </p:cNvSpPr>
              <p:nvPr>
                <p:ph sz="quarter" idx="1"/>
              </p:nvPr>
            </p:nvSpPr>
            <p:spPr>
              <a:xfrm>
                <a:off x="157508" y="1079096"/>
                <a:ext cx="5720638" cy="5280639"/>
              </a:xfrm>
            </p:spPr>
            <p:txBody>
              <a:bodyPr>
                <a:normAutofit fontScale="40000" lnSpcReduction="20000"/>
              </a:bodyPr>
              <a:lstStyle/>
              <a:p>
                <a14:m>
                  <m:oMath xmlns:m="http://schemas.openxmlformats.org/officeDocument/2006/math">
                    <m:d>
                      <m:dPr>
                        <m:begChr m:val="|"/>
                        <m:endChr m:val="⟩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𝜓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𝛼</m:t>
                    </m:r>
                    <m:d>
                      <m:dPr>
                        <m:begChr m:val="|"/>
                        <m:endChr m:val="⟩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𝛽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|1⟩)⨂(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den>
                    </m:f>
                    <m:d>
                      <m:dPr>
                        <m:begChr m:val="|"/>
                        <m:endChr m:val="⟩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00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den>
                    </m:f>
                    <m:d>
                      <m:dPr>
                        <m:begChr m:val="|"/>
                        <m:endChr m:val="⟩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11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)=</m:t>
                    </m:r>
                    <m:f>
                      <m:f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𝛼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den>
                    </m:f>
                    <m:d>
                      <m:dPr>
                        <m:begChr m:val="|"/>
                        <m:endChr m:val="⟩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00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 panose="02040503050406030204" pitchFamily="18" charset="0"/>
                          </a:rPr>
                          <m:t>𝛼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den>
                    </m:f>
                    <m:d>
                      <m:dPr>
                        <m:begChr m:val="|"/>
                        <m:endChr m:val="⟩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11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 panose="02040503050406030204" pitchFamily="18" charset="0"/>
                          </a:rPr>
                          <m:t>𝛽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den>
                    </m:f>
                    <m:d>
                      <m:dPr>
                        <m:begChr m:val="|"/>
                        <m:endChr m:val="⟩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00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𝛽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den>
                    </m:f>
                    <m:d>
                      <m:dPr>
                        <m:begChr m:val="|"/>
                        <m:endChr m:val="⟩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11</m:t>
                        </m:r>
                      </m:e>
                    </m:d>
                  </m:oMath>
                </a14:m>
                <a:endParaRPr lang="en-US" dirty="0"/>
              </a:p>
              <a:p>
                <a14:m>
                  <m:oMath xmlns:m="http://schemas.openxmlformats.org/officeDocument/2006/math">
                    <m:d>
                      <m:dPr>
                        <m:begChr m:val="|"/>
                        <m:endChr m:val="⟩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𝜓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𝐶𝑁𝑂𝑇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(|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𝜓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⟩)=</m:t>
                    </m:r>
                    <m:f>
                      <m:f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𝛼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den>
                    </m:f>
                    <m:d>
                      <m:dPr>
                        <m:begChr m:val="|"/>
                        <m:endChr m:val="⟩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00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 panose="02040503050406030204" pitchFamily="18" charset="0"/>
                          </a:rPr>
                          <m:t>𝛼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den>
                    </m:f>
                    <m:d>
                      <m:dPr>
                        <m:begChr m:val="|"/>
                        <m:endChr m:val="⟩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11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 panose="02040503050406030204" pitchFamily="18" charset="0"/>
                          </a:rPr>
                          <m:t>𝛽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den>
                    </m:f>
                    <m:d>
                      <m:dPr>
                        <m:begChr m:val="|"/>
                        <m:endChr m:val="⟩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10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𝛽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den>
                    </m:f>
                    <m:d>
                      <m:dPr>
                        <m:begChr m:val="|"/>
                        <m:endChr m:val="⟩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10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</m:oMath>
                </a14:m>
                <a:endParaRPr lang="en-US" dirty="0"/>
              </a:p>
              <a:p>
                <a:r>
                  <a:rPr lang="en-US" dirty="0"/>
                  <a:t>Measure 2</a:t>
                </a:r>
                <a:r>
                  <a:rPr lang="en-US" baseline="30000" dirty="0"/>
                  <a:t>nd</a:t>
                </a:r>
                <a:r>
                  <a:rPr lang="en-US" dirty="0"/>
                  <a:t> Qubit in {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⟩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,|1⟩</m:t>
                    </m:r>
                  </m:oMath>
                </a14:m>
                <a:r>
                  <a:rPr lang="en-US" dirty="0"/>
                  <a:t>} basis</a:t>
                </a:r>
              </a:p>
              <a:p>
                <a:pPr lvl="1"/>
                <a14:m>
                  <m:oMath xmlns:m="http://schemas.openxmlformats.org/officeDocument/2006/math">
                    <m:d>
                      <m:dPr>
                        <m:begChr m:val="|"/>
                        <m:endChr m:val="⟩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𝜓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𝛼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den>
                    </m:f>
                    <m:d>
                      <m:dPr>
                        <m:begChr m:val="|"/>
                        <m:endChr m:val="⟩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00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 panose="02040503050406030204" pitchFamily="18" charset="0"/>
                          </a:rPr>
                          <m:t>𝛽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den>
                    </m:f>
                    <m:d>
                      <m:dPr>
                        <m:begChr m:val="|"/>
                        <m:endChr m:val="⟩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101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 panose="02040503050406030204" pitchFamily="18" charset="0"/>
                          </a:rPr>
                          <m:t>𝛼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den>
                    </m:f>
                    <m:d>
                      <m:dPr>
                        <m:begChr m:val="|"/>
                        <m:endChr m:val="⟩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11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 panose="02040503050406030204" pitchFamily="18" charset="0"/>
                          </a:rPr>
                          <m:t>𝛽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den>
                    </m:f>
                    <m:d>
                      <m:dPr>
                        <m:begChr m:val="|"/>
                        <m:endChr m:val="⟩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10</m:t>
                        </m:r>
                      </m:e>
                    </m:d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If 2</a:t>
                </a:r>
                <a:r>
                  <a:rPr lang="en-US" baseline="30000" dirty="0"/>
                  <a:t>nd</a:t>
                </a:r>
                <a:r>
                  <a:rPr lang="en-US" dirty="0"/>
                  <a:t> Qubit =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⟩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</m:oMath>
                </a14:m>
                <a:r>
                  <a:rPr lang="en-US" dirty="0"/>
                  <a:t>, then state of 1</a:t>
                </a:r>
                <a:r>
                  <a:rPr lang="en-US" baseline="30000" dirty="0"/>
                  <a:t>st</a:t>
                </a:r>
                <a:r>
                  <a:rPr lang="en-US" dirty="0"/>
                  <a:t> and 3</a:t>
                </a:r>
                <a:r>
                  <a:rPr lang="en-US" baseline="30000" dirty="0"/>
                  <a:t>rd</a:t>
                </a:r>
                <a:r>
                  <a:rPr lang="en-US" dirty="0"/>
                  <a:t> Qubits is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|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𝜓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⟩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 panose="02040503050406030204" pitchFamily="18" charset="0"/>
                          </a:rPr>
                          <m:t>𝛼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den>
                    </m:f>
                    <m:d>
                      <m:dPr>
                        <m:begChr m:val="|"/>
                        <m:endChr m:val="⟩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00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 panose="02040503050406030204" pitchFamily="18" charset="0"/>
                          </a:rPr>
                          <m:t>𝛽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den>
                    </m:f>
                    <m:d>
                      <m:dPr>
                        <m:begChr m:val="|"/>
                        <m:endChr m:val="⟩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11</m:t>
                        </m:r>
                      </m:e>
                    </m:d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If 2</a:t>
                </a:r>
                <a:r>
                  <a:rPr lang="en-US" baseline="30000" dirty="0"/>
                  <a:t>nd</a:t>
                </a:r>
                <a:r>
                  <a:rPr lang="en-US" dirty="0"/>
                  <a:t> Qubit =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⟩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</m:oMath>
                </a14:m>
                <a:r>
                  <a:rPr lang="en-US" dirty="0"/>
                  <a:t>, then state of 1</a:t>
                </a:r>
                <a:r>
                  <a:rPr lang="en-US" baseline="30000" dirty="0"/>
                  <a:t>st</a:t>
                </a:r>
                <a:r>
                  <a:rPr lang="en-US" dirty="0"/>
                  <a:t> and 3</a:t>
                </a:r>
                <a:r>
                  <a:rPr lang="en-US" baseline="30000" dirty="0"/>
                  <a:t>rd</a:t>
                </a:r>
                <a:r>
                  <a:rPr lang="en-US" dirty="0"/>
                  <a:t> Qubits is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|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𝜓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⟩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 panose="02040503050406030204" pitchFamily="18" charset="0"/>
                          </a:rPr>
                          <m:t>𝛼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den>
                    </m:f>
                    <m:d>
                      <m:dPr>
                        <m:begChr m:val="|"/>
                        <m:endChr m:val="⟩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01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 panose="02040503050406030204" pitchFamily="18" charset="0"/>
                          </a:rPr>
                          <m:t>𝛽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den>
                    </m:f>
                    <m:d>
                      <m:dPr>
                        <m:begChr m:val="|"/>
                        <m:endChr m:val="⟩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</m:oMath>
                </a14:m>
                <a:endParaRPr lang="en-US" dirty="0"/>
              </a:p>
              <a:p>
                <a:r>
                  <a:rPr lang="en-US" dirty="0"/>
                  <a:t>Measure 1</a:t>
                </a:r>
                <a:r>
                  <a:rPr lang="en-US" baseline="30000" dirty="0"/>
                  <a:t>st</a:t>
                </a:r>
                <a:r>
                  <a:rPr lang="en-US" dirty="0"/>
                  <a:t> Qubit in {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⟩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,|−⟩</m:t>
                    </m:r>
                  </m:oMath>
                </a14:m>
                <a:r>
                  <a:rPr lang="en-US" dirty="0"/>
                  <a:t>} basis</a:t>
                </a:r>
              </a:p>
              <a:p>
                <a:pPr lvl="1"/>
                <a:r>
                  <a:rPr lang="en-US" dirty="0"/>
                  <a:t>If 2</a:t>
                </a:r>
                <a:r>
                  <a:rPr lang="en-US" baseline="30000" dirty="0"/>
                  <a:t>nd</a:t>
                </a:r>
                <a:r>
                  <a:rPr lang="en-US" dirty="0"/>
                  <a:t> Qubit =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⟩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</m:oMath>
                </a14:m>
                <a:r>
                  <a:rPr lang="en-US" dirty="0"/>
                  <a:t>, then state of 1</a:t>
                </a:r>
                <a:r>
                  <a:rPr lang="en-US" baseline="30000" dirty="0"/>
                  <a:t>st</a:t>
                </a:r>
                <a:r>
                  <a:rPr lang="en-US" dirty="0"/>
                  <a:t> and 3</a:t>
                </a:r>
                <a:r>
                  <a:rPr lang="en-US" baseline="30000" dirty="0"/>
                  <a:t>rd</a:t>
                </a:r>
                <a:r>
                  <a:rPr lang="en-US" dirty="0"/>
                  <a:t> Qubits is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⟩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𝜓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 panose="02040503050406030204" pitchFamily="18" charset="0"/>
                          </a:rPr>
                          <m:t>𝛼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den>
                    </m:f>
                    <m:d>
                      <m:dPr>
                        <m:begChr m:val="|"/>
                        <m:endChr m:val="⟩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00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 panose="02040503050406030204" pitchFamily="18" charset="0"/>
                          </a:rPr>
                          <m:t>𝛽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den>
                    </m:f>
                    <m:d>
                      <m:dPr>
                        <m:begChr m:val="|"/>
                        <m:endChr m:val="⟩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11</m:t>
                        </m:r>
                      </m:e>
                    </m:d>
                  </m:oMath>
                </a14:m>
                <a:endParaRPr lang="en-US" dirty="0"/>
              </a:p>
              <a:p>
                <a:pPr lvl="2"/>
                <a14:m>
                  <m:oMath xmlns:m="http://schemas.openxmlformats.org/officeDocument/2006/math">
                    <m:d>
                      <m:dPr>
                        <m:begChr m:val="|"/>
                        <m:endChr m:val="⟩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𝜓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 panose="02040503050406030204" pitchFamily="18" charset="0"/>
                          </a:rPr>
                          <m:t>𝛼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den>
                    </m:f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den>
                    </m:f>
                    <m:d>
                      <m:dPr>
                        <m:begChr m:val="|"/>
                        <m:endChr m:val="⟩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den>
                    </m:f>
                    <m:d>
                      <m:dPr>
                        <m:begChr m:val="|"/>
                        <m:endChr m:val="⟩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  <m:d>
                      <m:dPr>
                        <m:begChr m:val="|"/>
                        <m:endChr m:val="⟩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 panose="02040503050406030204" pitchFamily="18" charset="0"/>
                          </a:rPr>
                          <m:t>𝛽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den>
                    </m:f>
                    <m:r>
                      <a:rPr lang="en-US" i="1">
                        <a:latin typeface="Cambria Math" panose="02040503050406030204" pitchFamily="18" charset="0"/>
                      </a:rPr>
                      <m:t>(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den>
                    </m:f>
                    <m:d>
                      <m:dPr>
                        <m:begChr m:val="|"/>
                        <m:endChr m:val="⟩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+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den>
                    </m:f>
                    <m:d>
                      <m:dPr>
                        <m:begChr m:val="|"/>
                        <m:endChr m:val="⟩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−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)</m:t>
                    </m:r>
                    <m:d>
                      <m:dPr>
                        <m:begChr m:val="|"/>
                        <m:endChr m:val="⟩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</m:oMath>
                </a14:m>
                <a:endParaRPr lang="en-US" dirty="0"/>
              </a:p>
              <a:p>
                <a:pPr lvl="2"/>
                <a14:m>
                  <m:oMath xmlns:m="http://schemas.openxmlformats.org/officeDocument/2006/math">
                    <m:d>
                      <m:dPr>
                        <m:begChr m:val="|"/>
                        <m:endChr m:val="⟩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𝜓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|"/>
                        <m:endChr m:val="⟩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 panose="02040503050406030204" pitchFamily="18" charset="0"/>
                          </a:rPr>
                          <m:t>𝛼</m:t>
                        </m:r>
                      </m:num>
                      <m:den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d>
                      <m:dPr>
                        <m:begChr m:val="|"/>
                        <m:endChr m:val="⟩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𝛽</m:t>
                        </m:r>
                      </m:num>
                      <m:den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d>
                      <m:dPr>
                        <m:begChr m:val="|"/>
                        <m:endChr m:val="⟩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+</m:t>
                    </m:r>
                    <m:d>
                      <m:dPr>
                        <m:begChr m:val="|"/>
                        <m:endChr m:val="⟩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(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 panose="02040503050406030204" pitchFamily="18" charset="0"/>
                          </a:rPr>
                          <m:t>𝛼</m:t>
                        </m:r>
                      </m:num>
                      <m:den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d>
                      <m:dPr>
                        <m:begChr m:val="|"/>
                        <m:endChr m:val="⟩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 panose="02040503050406030204" pitchFamily="18" charset="0"/>
                          </a:rPr>
                          <m:t>𝛽</m:t>
                        </m:r>
                      </m:num>
                      <m:den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d>
                      <m:dPr>
                        <m:begChr m:val="|"/>
                        <m:endChr m:val="⟩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  <a:p>
                <a:pPr lvl="2"/>
                <a:r>
                  <a:rPr lang="en-US" dirty="0"/>
                  <a:t>If 1</a:t>
                </a:r>
                <a:r>
                  <a:rPr lang="en-US" baseline="30000" dirty="0"/>
                  <a:t>st</a:t>
                </a:r>
                <a:r>
                  <a:rPr lang="en-US" dirty="0"/>
                  <a:t> Qubit =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⟩"/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</m:t>
                        </m:r>
                      </m:e>
                    </m:d>
                  </m:oMath>
                </a14:m>
                <a:r>
                  <a:rPr lang="en-US" dirty="0"/>
                  <a:t>, then state of 3</a:t>
                </a:r>
                <a:r>
                  <a:rPr lang="en-US" baseline="30000" dirty="0"/>
                  <a:t>rd</a:t>
                </a:r>
                <a:r>
                  <a:rPr lang="en-US" dirty="0"/>
                  <a:t> Qubit =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⟩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𝜓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4</m:t>
                            </m:r>
                          </m:sub>
                        </m:sSub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𝛼</m:t>
                    </m:r>
                    <m:d>
                      <m:dPr>
                        <m:begChr m:val="|"/>
                        <m:endChr m:val="⟩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𝛽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|1⟩</m:t>
                    </m:r>
                  </m:oMath>
                </a14:m>
                <a:endParaRPr lang="en-US" dirty="0"/>
              </a:p>
              <a:p>
                <a:pPr lvl="2"/>
                <a:r>
                  <a:rPr lang="en-US" dirty="0"/>
                  <a:t>If 1</a:t>
                </a:r>
                <a:r>
                  <a:rPr lang="en-US" baseline="30000" dirty="0"/>
                  <a:t>st</a:t>
                </a:r>
                <a:r>
                  <a:rPr lang="en-US" dirty="0"/>
                  <a:t> Qubit =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⟩"/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</m:t>
                        </m:r>
                      </m:e>
                    </m:d>
                  </m:oMath>
                </a14:m>
                <a:r>
                  <a:rPr lang="en-US" dirty="0"/>
                  <a:t>, then state of 3</a:t>
                </a:r>
                <a:r>
                  <a:rPr lang="en-US" baseline="30000" dirty="0"/>
                  <a:t>rd</a:t>
                </a:r>
                <a:r>
                  <a:rPr lang="en-US" dirty="0"/>
                  <a:t> Qubit =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⟩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𝜓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4</m:t>
                            </m:r>
                          </m:sub>
                        </m:sSub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𝛼</m:t>
                    </m:r>
                    <m:d>
                      <m:dPr>
                        <m:begChr m:val="|"/>
                        <m:endChr m:val="⟩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𝛽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|1⟩</m:t>
                    </m:r>
                  </m:oMath>
                </a14:m>
                <a:endParaRPr lang="en-US" dirty="0"/>
              </a:p>
              <a:p>
                <a:pPr lvl="2"/>
                <a:r>
                  <a:rPr lang="en-US" dirty="0"/>
                  <a:t>Need only a Z gate if 1</a:t>
                </a:r>
                <a:r>
                  <a:rPr lang="en-US" baseline="30000" dirty="0"/>
                  <a:t>st</a:t>
                </a:r>
                <a:r>
                  <a:rPr lang="en-US" dirty="0"/>
                  <a:t> Qubit =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⟩"/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</m:t>
                        </m:r>
                      </m:e>
                    </m:d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If 2</a:t>
                </a:r>
                <a:r>
                  <a:rPr lang="en-US" baseline="30000" dirty="0"/>
                  <a:t>nd</a:t>
                </a:r>
                <a:r>
                  <a:rPr lang="en-US" dirty="0"/>
                  <a:t> Qubit =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⟩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</m:oMath>
                </a14:m>
                <a:r>
                  <a:rPr lang="en-US" dirty="0"/>
                  <a:t>, then state of 1</a:t>
                </a:r>
                <a:r>
                  <a:rPr lang="en-US" baseline="30000" dirty="0"/>
                  <a:t>st</a:t>
                </a:r>
                <a:r>
                  <a:rPr lang="en-US" dirty="0"/>
                  <a:t> and 3</a:t>
                </a:r>
                <a:r>
                  <a:rPr lang="en-US" baseline="30000" dirty="0"/>
                  <a:t>rd</a:t>
                </a:r>
                <a:r>
                  <a:rPr lang="en-US" dirty="0"/>
                  <a:t> Qubits is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|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𝜓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⟩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 panose="02040503050406030204" pitchFamily="18" charset="0"/>
                          </a:rPr>
                          <m:t>𝛼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den>
                    </m:f>
                    <m:d>
                      <m:dPr>
                        <m:begChr m:val="|"/>
                        <m:endChr m:val="⟩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01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 panose="02040503050406030204" pitchFamily="18" charset="0"/>
                          </a:rPr>
                          <m:t>𝛽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den>
                    </m:f>
                    <m:d>
                      <m:dPr>
                        <m:begChr m:val="|"/>
                        <m:endChr m:val="⟩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</m:oMath>
                </a14:m>
                <a:endParaRPr lang="en-US" dirty="0"/>
              </a:p>
              <a:p>
                <a:pPr lvl="2"/>
                <a14:m>
                  <m:oMath xmlns:m="http://schemas.openxmlformats.org/officeDocument/2006/math">
                    <m:d>
                      <m:dPr>
                        <m:begChr m:val="|"/>
                        <m:endChr m:val="⟩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𝜓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 panose="02040503050406030204" pitchFamily="18" charset="0"/>
                          </a:rPr>
                          <m:t>𝛼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den>
                    </m:f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den>
                    </m:f>
                    <m:d>
                      <m:dPr>
                        <m:begChr m:val="|"/>
                        <m:endChr m:val="⟩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den>
                    </m:f>
                    <m:d>
                      <m:dPr>
                        <m:begChr m:val="|"/>
                        <m:endChr m:val="⟩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  <m:d>
                      <m:dPr>
                        <m:begChr m:val="|"/>
                        <m:endChr m:val="⟩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 panose="02040503050406030204" pitchFamily="18" charset="0"/>
                          </a:rPr>
                          <m:t>𝛽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den>
                    </m:f>
                    <m:r>
                      <a:rPr lang="en-US" i="1">
                        <a:latin typeface="Cambria Math" panose="02040503050406030204" pitchFamily="18" charset="0"/>
                      </a:rPr>
                      <m:t>(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den>
                    </m:f>
                    <m:d>
                      <m:dPr>
                        <m:begChr m:val="|"/>
                        <m:endChr m:val="⟩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+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den>
                    </m:f>
                    <m:d>
                      <m:dPr>
                        <m:begChr m:val="|"/>
                        <m:endChr m:val="⟩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−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)</m:t>
                    </m:r>
                    <m:d>
                      <m:dPr>
                        <m:begChr m:val="|"/>
                        <m:endChr m:val="⟩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</m:oMath>
                </a14:m>
                <a:endParaRPr lang="en-US" dirty="0"/>
              </a:p>
              <a:p>
                <a:pPr lvl="2"/>
                <a14:m>
                  <m:oMath xmlns:m="http://schemas.openxmlformats.org/officeDocument/2006/math">
                    <m:d>
                      <m:dPr>
                        <m:begChr m:val="|"/>
                        <m:endChr m:val="⟩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𝜓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|"/>
                        <m:endChr m:val="⟩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 panose="02040503050406030204" pitchFamily="18" charset="0"/>
                          </a:rPr>
                          <m:t>𝛼</m:t>
                        </m:r>
                      </m:num>
                      <m:den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d>
                      <m:dPr>
                        <m:begChr m:val="|"/>
                        <m:endChr m:val="⟩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𝛽</m:t>
                        </m:r>
                      </m:num>
                      <m:den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d>
                      <m:dPr>
                        <m:begChr m:val="|"/>
                        <m:endChr m:val="⟩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+</m:t>
                    </m:r>
                    <m:d>
                      <m:dPr>
                        <m:begChr m:val="|"/>
                        <m:endChr m:val="⟩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(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 panose="02040503050406030204" pitchFamily="18" charset="0"/>
                          </a:rPr>
                          <m:t>𝛼</m:t>
                        </m:r>
                      </m:num>
                      <m:den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d>
                      <m:dPr>
                        <m:begChr m:val="|"/>
                        <m:endChr m:val="⟩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 panose="02040503050406030204" pitchFamily="18" charset="0"/>
                          </a:rPr>
                          <m:t>𝛽</m:t>
                        </m:r>
                      </m:num>
                      <m:den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d>
                      <m:dPr>
                        <m:begChr m:val="|"/>
                        <m:endChr m:val="⟩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  <a:p>
                <a:pPr lvl="2"/>
                <a14:m>
                  <m:oMath xmlns:m="http://schemas.openxmlformats.org/officeDocument/2006/math">
                    <m:d>
                      <m:dPr>
                        <m:begChr m:val="|"/>
                        <m:endChr m:val="⟩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𝜓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|"/>
                        <m:endChr m:val="⟩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+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𝛽</m:t>
                    </m:r>
                    <m:d>
                      <m:dPr>
                        <m:begChr m:val="|"/>
                        <m:endChr m:val="⟩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𝛼</m:t>
                    </m:r>
                    <m:d>
                      <m:dPr>
                        <m:begChr m:val="|"/>
                        <m:endChr m:val="⟩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)+</m:t>
                    </m:r>
                    <m:d>
                      <m:dPr>
                        <m:begChr m:val="|"/>
                        <m:endChr m:val="⟩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−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𝛽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d>
                      <m:dPr>
                        <m:begChr m:val="|"/>
                        <m:endChr m:val="⟩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𝛼</m:t>
                    </m:r>
                    <m:d>
                      <m:dPr>
                        <m:begChr m:val="|"/>
                        <m:endChr m:val="⟩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  <a:p>
                <a:pPr lvl="2"/>
                <a:r>
                  <a:rPr lang="en-US" dirty="0"/>
                  <a:t>If 1</a:t>
                </a:r>
                <a:r>
                  <a:rPr lang="en-US" baseline="30000" dirty="0"/>
                  <a:t>st</a:t>
                </a:r>
                <a:r>
                  <a:rPr lang="en-US" dirty="0"/>
                  <a:t> Qubit =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⟩"/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</m:t>
                        </m:r>
                      </m:e>
                    </m:d>
                  </m:oMath>
                </a14:m>
                <a:r>
                  <a:rPr lang="en-US" dirty="0"/>
                  <a:t>, then state of 3</a:t>
                </a:r>
                <a:r>
                  <a:rPr lang="en-US" baseline="30000" dirty="0"/>
                  <a:t>rd</a:t>
                </a:r>
                <a:r>
                  <a:rPr lang="en-US" dirty="0"/>
                  <a:t> Qubit =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⟩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𝜓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4</m:t>
                            </m:r>
                          </m:sub>
                        </m:sSub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𝛽</m:t>
                    </m:r>
                    <m:d>
                      <m:dPr>
                        <m:begChr m:val="|"/>
                        <m:endChr m:val="⟩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𝛼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|1⟩</m:t>
                    </m:r>
                  </m:oMath>
                </a14:m>
                <a:endParaRPr lang="en-US" dirty="0"/>
              </a:p>
              <a:p>
                <a:pPr lvl="2"/>
                <a:r>
                  <a:rPr lang="en-US" dirty="0"/>
                  <a:t>If 1</a:t>
                </a:r>
                <a:r>
                  <a:rPr lang="en-US" baseline="30000" dirty="0"/>
                  <a:t>st</a:t>
                </a:r>
                <a:r>
                  <a:rPr lang="en-US" dirty="0"/>
                  <a:t> Qubit =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⟩"/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</m:t>
                        </m:r>
                      </m:e>
                    </m:d>
                  </m:oMath>
                </a14:m>
                <a:r>
                  <a:rPr lang="en-US" dirty="0"/>
                  <a:t>, then state of 3</a:t>
                </a:r>
                <a:r>
                  <a:rPr lang="en-US" baseline="30000" dirty="0"/>
                  <a:t>rd</a:t>
                </a:r>
                <a:r>
                  <a:rPr lang="en-US" dirty="0"/>
                  <a:t> Qubit =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⟩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𝜓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4</m:t>
                            </m:r>
                          </m:sub>
                        </m:sSub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𝛽</m:t>
                    </m:r>
                    <m:d>
                      <m:dPr>
                        <m:begChr m:val="|"/>
                        <m:endChr m:val="⟩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𝛼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|1⟩</m:t>
                    </m:r>
                  </m:oMath>
                </a14:m>
                <a:endParaRPr lang="en-US" dirty="0"/>
              </a:p>
              <a:p>
                <a:pPr lvl="2"/>
                <a:r>
                  <a:rPr lang="en-US" dirty="0"/>
                  <a:t>Need an X gate if 1</a:t>
                </a:r>
                <a:r>
                  <a:rPr lang="en-US" baseline="30000" dirty="0"/>
                  <a:t>st</a:t>
                </a:r>
                <a:r>
                  <a:rPr lang="en-US" dirty="0"/>
                  <a:t> Qubit =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⟩"/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</m:t>
                        </m:r>
                      </m:e>
                    </m:d>
                  </m:oMath>
                </a14:m>
                <a:endParaRPr lang="en-US" dirty="0"/>
              </a:p>
              <a:p>
                <a:pPr lvl="2"/>
                <a:r>
                  <a:rPr lang="en-US" dirty="0"/>
                  <a:t>Need a X gate and a Z gate if 1</a:t>
                </a:r>
                <a:r>
                  <a:rPr lang="en-US" baseline="30000" dirty="0"/>
                  <a:t>st</a:t>
                </a:r>
                <a:r>
                  <a:rPr lang="en-US" dirty="0"/>
                  <a:t> Qubit =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⟩"/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</m:t>
                        </m:r>
                      </m:e>
                    </m:d>
                  </m:oMath>
                </a14:m>
                <a:endParaRPr lang="en-US" dirty="0"/>
              </a:p>
              <a:p>
                <a:pPr marL="274320" lvl="1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ACB74D8-3A88-3CA2-C441-0CE58A7C318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xfrm>
                <a:off x="157508" y="1079096"/>
                <a:ext cx="5720638" cy="5280639"/>
              </a:xfr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74168C41-DCA2-C7B4-8BBC-277992768AF2}"/>
              </a:ext>
            </a:extLst>
          </p:cNvPr>
          <p:cNvCxnSpPr>
            <a:cxnSpLocks/>
          </p:cNvCxnSpPr>
          <p:nvPr/>
        </p:nvCxnSpPr>
        <p:spPr>
          <a:xfrm flipV="1">
            <a:off x="6646005" y="1981673"/>
            <a:ext cx="5391262" cy="67623"/>
          </a:xfrm>
          <a:prstGeom prst="line">
            <a:avLst/>
          </a:prstGeom>
          <a:ln>
            <a:solidFill>
              <a:srgbClr val="0070C0"/>
            </a:solidFill>
            <a:prstDash val="dash"/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FEF005A9-5352-C09E-D328-87AB456C1952}"/>
              </a:ext>
            </a:extLst>
          </p:cNvPr>
          <p:cNvSpPr txBox="1"/>
          <p:nvPr/>
        </p:nvSpPr>
        <p:spPr>
          <a:xfrm>
            <a:off x="6500504" y="1729878"/>
            <a:ext cx="9821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Alice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EFA7D42-5A60-1B39-17FD-439A5F547229}"/>
              </a:ext>
            </a:extLst>
          </p:cNvPr>
          <p:cNvSpPr txBox="1"/>
          <p:nvPr/>
        </p:nvSpPr>
        <p:spPr>
          <a:xfrm>
            <a:off x="6524115" y="2021128"/>
            <a:ext cx="9821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Bob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E856DB04-0FFC-11C8-5B11-7A1AAF52E9FD}"/>
              </a:ext>
            </a:extLst>
          </p:cNvPr>
          <p:cNvGrpSpPr/>
          <p:nvPr/>
        </p:nvGrpSpPr>
        <p:grpSpPr>
          <a:xfrm>
            <a:off x="7431099" y="1451328"/>
            <a:ext cx="191911" cy="1140216"/>
            <a:chOff x="1391604" y="1046849"/>
            <a:chExt cx="267815" cy="1907297"/>
          </a:xfrm>
        </p:grpSpPr>
        <p:sp>
          <p:nvSpPr>
            <p:cNvPr id="8" name="Freeform 30">
              <a:extLst>
                <a:ext uri="{FF2B5EF4-FFF2-40B4-BE49-F238E27FC236}">
                  <a16:creationId xmlns:a16="http://schemas.microsoft.com/office/drawing/2014/main" id="{22AEFD24-0E09-FA8D-4E78-3168D8B71093}"/>
                </a:ext>
              </a:extLst>
            </p:cNvPr>
            <p:cNvSpPr/>
            <p:nvPr/>
          </p:nvSpPr>
          <p:spPr>
            <a:xfrm rot="5400000">
              <a:off x="631440" y="1884169"/>
              <a:ext cx="1773716" cy="253388"/>
            </a:xfrm>
            <a:custGeom>
              <a:avLst/>
              <a:gdLst>
                <a:gd name="connsiteX0" fmla="*/ 0 w 1773716"/>
                <a:gd name="connsiteY0" fmla="*/ 187287 h 253388"/>
                <a:gd name="connsiteX1" fmla="*/ 22034 w 1773716"/>
                <a:gd name="connsiteY1" fmla="*/ 88135 h 253388"/>
                <a:gd name="connsiteX2" fmla="*/ 44068 w 1773716"/>
                <a:gd name="connsiteY2" fmla="*/ 55084 h 253388"/>
                <a:gd name="connsiteX3" fmla="*/ 77118 w 1773716"/>
                <a:gd name="connsiteY3" fmla="*/ 22034 h 253388"/>
                <a:gd name="connsiteX4" fmla="*/ 143219 w 1773716"/>
                <a:gd name="connsiteY4" fmla="*/ 0 h 253388"/>
                <a:gd name="connsiteX5" fmla="*/ 220338 w 1773716"/>
                <a:gd name="connsiteY5" fmla="*/ 33051 h 253388"/>
                <a:gd name="connsiteX6" fmla="*/ 231354 w 1773716"/>
                <a:gd name="connsiteY6" fmla="*/ 66101 h 253388"/>
                <a:gd name="connsiteX7" fmla="*/ 253388 w 1773716"/>
                <a:gd name="connsiteY7" fmla="*/ 99152 h 253388"/>
                <a:gd name="connsiteX8" fmla="*/ 308472 w 1773716"/>
                <a:gd name="connsiteY8" fmla="*/ 198304 h 253388"/>
                <a:gd name="connsiteX9" fmla="*/ 418641 w 1773716"/>
                <a:gd name="connsiteY9" fmla="*/ 253388 h 253388"/>
                <a:gd name="connsiteX10" fmla="*/ 484742 w 1773716"/>
                <a:gd name="connsiteY10" fmla="*/ 242371 h 253388"/>
                <a:gd name="connsiteX11" fmla="*/ 528810 w 1773716"/>
                <a:gd name="connsiteY11" fmla="*/ 176270 h 253388"/>
                <a:gd name="connsiteX12" fmla="*/ 561860 w 1773716"/>
                <a:gd name="connsiteY12" fmla="*/ 132202 h 253388"/>
                <a:gd name="connsiteX13" fmla="*/ 649995 w 1773716"/>
                <a:gd name="connsiteY13" fmla="*/ 33051 h 253388"/>
                <a:gd name="connsiteX14" fmla="*/ 683046 w 1773716"/>
                <a:gd name="connsiteY14" fmla="*/ 11017 h 253388"/>
                <a:gd name="connsiteX15" fmla="*/ 727113 w 1773716"/>
                <a:gd name="connsiteY15" fmla="*/ 0 h 253388"/>
                <a:gd name="connsiteX16" fmla="*/ 771181 w 1773716"/>
                <a:gd name="connsiteY16" fmla="*/ 11017 h 253388"/>
                <a:gd name="connsiteX17" fmla="*/ 804232 w 1773716"/>
                <a:gd name="connsiteY17" fmla="*/ 44067 h 253388"/>
                <a:gd name="connsiteX18" fmla="*/ 837282 w 1773716"/>
                <a:gd name="connsiteY18" fmla="*/ 154236 h 253388"/>
                <a:gd name="connsiteX19" fmla="*/ 859316 w 1773716"/>
                <a:gd name="connsiteY19" fmla="*/ 187287 h 253388"/>
                <a:gd name="connsiteX20" fmla="*/ 925417 w 1773716"/>
                <a:gd name="connsiteY20" fmla="*/ 231354 h 253388"/>
                <a:gd name="connsiteX21" fmla="*/ 980501 w 1773716"/>
                <a:gd name="connsiteY21" fmla="*/ 220337 h 253388"/>
                <a:gd name="connsiteX22" fmla="*/ 1046603 w 1773716"/>
                <a:gd name="connsiteY22" fmla="*/ 165253 h 253388"/>
                <a:gd name="connsiteX23" fmla="*/ 1090670 w 1773716"/>
                <a:gd name="connsiteY23" fmla="*/ 99152 h 253388"/>
                <a:gd name="connsiteX24" fmla="*/ 1123721 w 1773716"/>
                <a:gd name="connsiteY24" fmla="*/ 33051 h 253388"/>
                <a:gd name="connsiteX25" fmla="*/ 1167788 w 1773716"/>
                <a:gd name="connsiteY25" fmla="*/ 0 h 253388"/>
                <a:gd name="connsiteX26" fmla="*/ 1266940 w 1773716"/>
                <a:gd name="connsiteY26" fmla="*/ 22034 h 253388"/>
                <a:gd name="connsiteX27" fmla="*/ 1299991 w 1773716"/>
                <a:gd name="connsiteY27" fmla="*/ 44067 h 253388"/>
                <a:gd name="connsiteX28" fmla="*/ 1355075 w 1773716"/>
                <a:gd name="connsiteY28" fmla="*/ 110169 h 253388"/>
                <a:gd name="connsiteX29" fmla="*/ 1421176 w 1773716"/>
                <a:gd name="connsiteY29" fmla="*/ 154236 h 253388"/>
                <a:gd name="connsiteX30" fmla="*/ 1487277 w 1773716"/>
                <a:gd name="connsiteY30" fmla="*/ 209320 h 253388"/>
                <a:gd name="connsiteX31" fmla="*/ 1564395 w 1773716"/>
                <a:gd name="connsiteY31" fmla="*/ 231354 h 253388"/>
                <a:gd name="connsiteX32" fmla="*/ 1641513 w 1773716"/>
                <a:gd name="connsiteY32" fmla="*/ 220337 h 253388"/>
                <a:gd name="connsiteX33" fmla="*/ 1718632 w 1773716"/>
                <a:gd name="connsiteY33" fmla="*/ 132202 h 253388"/>
                <a:gd name="connsiteX34" fmla="*/ 1740665 w 1773716"/>
                <a:gd name="connsiteY34" fmla="*/ 99152 h 253388"/>
                <a:gd name="connsiteX35" fmla="*/ 1773716 w 1773716"/>
                <a:gd name="connsiteY35" fmla="*/ 22034 h 253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</a:cxnLst>
              <a:rect l="l" t="t" r="r" b="b"/>
              <a:pathLst>
                <a:path w="1773716" h="253388">
                  <a:moveTo>
                    <a:pt x="0" y="187287"/>
                  </a:moveTo>
                  <a:cubicBezTo>
                    <a:pt x="1961" y="177482"/>
                    <a:pt x="16199" y="101750"/>
                    <a:pt x="22034" y="88135"/>
                  </a:cubicBezTo>
                  <a:cubicBezTo>
                    <a:pt x="27250" y="75965"/>
                    <a:pt x="35591" y="65256"/>
                    <a:pt x="44068" y="55084"/>
                  </a:cubicBezTo>
                  <a:cubicBezTo>
                    <a:pt x="54042" y="43115"/>
                    <a:pt x="63499" y="29600"/>
                    <a:pt x="77118" y="22034"/>
                  </a:cubicBezTo>
                  <a:cubicBezTo>
                    <a:pt x="97421" y="10755"/>
                    <a:pt x="143219" y="0"/>
                    <a:pt x="143219" y="0"/>
                  </a:cubicBezTo>
                  <a:cubicBezTo>
                    <a:pt x="169681" y="6616"/>
                    <a:pt x="201318" y="9275"/>
                    <a:pt x="220338" y="33051"/>
                  </a:cubicBezTo>
                  <a:cubicBezTo>
                    <a:pt x="227592" y="42119"/>
                    <a:pt x="226161" y="55714"/>
                    <a:pt x="231354" y="66101"/>
                  </a:cubicBezTo>
                  <a:cubicBezTo>
                    <a:pt x="237275" y="77944"/>
                    <a:pt x="247466" y="87309"/>
                    <a:pt x="253388" y="99152"/>
                  </a:cubicBezTo>
                  <a:cubicBezTo>
                    <a:pt x="273478" y="139332"/>
                    <a:pt x="256370" y="163570"/>
                    <a:pt x="308472" y="198304"/>
                  </a:cubicBezTo>
                  <a:cubicBezTo>
                    <a:pt x="387172" y="250770"/>
                    <a:pt x="348883" y="235948"/>
                    <a:pt x="418641" y="253388"/>
                  </a:cubicBezTo>
                  <a:cubicBezTo>
                    <a:pt x="440675" y="249716"/>
                    <a:pt x="466442" y="255181"/>
                    <a:pt x="484742" y="242371"/>
                  </a:cubicBezTo>
                  <a:cubicBezTo>
                    <a:pt x="506436" y="227185"/>
                    <a:pt x="512922" y="197455"/>
                    <a:pt x="528810" y="176270"/>
                  </a:cubicBezTo>
                  <a:cubicBezTo>
                    <a:pt x="539827" y="161581"/>
                    <a:pt x="551188" y="147143"/>
                    <a:pt x="561860" y="132202"/>
                  </a:cubicBezTo>
                  <a:cubicBezTo>
                    <a:pt x="591963" y="90058"/>
                    <a:pt x="596221" y="68900"/>
                    <a:pt x="649995" y="33051"/>
                  </a:cubicBezTo>
                  <a:cubicBezTo>
                    <a:pt x="661012" y="25706"/>
                    <a:pt x="670876" y="16233"/>
                    <a:pt x="683046" y="11017"/>
                  </a:cubicBezTo>
                  <a:cubicBezTo>
                    <a:pt x="696963" y="5053"/>
                    <a:pt x="712424" y="3672"/>
                    <a:pt x="727113" y="0"/>
                  </a:cubicBezTo>
                  <a:cubicBezTo>
                    <a:pt x="741802" y="3672"/>
                    <a:pt x="758034" y="3505"/>
                    <a:pt x="771181" y="11017"/>
                  </a:cubicBezTo>
                  <a:cubicBezTo>
                    <a:pt x="784708" y="18747"/>
                    <a:pt x="796502" y="30540"/>
                    <a:pt x="804232" y="44067"/>
                  </a:cubicBezTo>
                  <a:cubicBezTo>
                    <a:pt x="865824" y="151854"/>
                    <a:pt x="741520" y="10593"/>
                    <a:pt x="837282" y="154236"/>
                  </a:cubicBezTo>
                  <a:cubicBezTo>
                    <a:pt x="844627" y="165253"/>
                    <a:pt x="849351" y="178568"/>
                    <a:pt x="859316" y="187287"/>
                  </a:cubicBezTo>
                  <a:cubicBezTo>
                    <a:pt x="879245" y="204725"/>
                    <a:pt x="925417" y="231354"/>
                    <a:pt x="925417" y="231354"/>
                  </a:cubicBezTo>
                  <a:cubicBezTo>
                    <a:pt x="943778" y="227682"/>
                    <a:pt x="962968" y="226912"/>
                    <a:pt x="980501" y="220337"/>
                  </a:cubicBezTo>
                  <a:cubicBezTo>
                    <a:pt x="1000472" y="212848"/>
                    <a:pt x="1034835" y="180383"/>
                    <a:pt x="1046603" y="165253"/>
                  </a:cubicBezTo>
                  <a:cubicBezTo>
                    <a:pt x="1062861" y="144350"/>
                    <a:pt x="1090670" y="99152"/>
                    <a:pt x="1090670" y="99152"/>
                  </a:cubicBezTo>
                  <a:cubicBezTo>
                    <a:pt x="1099631" y="72270"/>
                    <a:pt x="1102363" y="54409"/>
                    <a:pt x="1123721" y="33051"/>
                  </a:cubicBezTo>
                  <a:cubicBezTo>
                    <a:pt x="1136704" y="20068"/>
                    <a:pt x="1153099" y="11017"/>
                    <a:pt x="1167788" y="0"/>
                  </a:cubicBezTo>
                  <a:cubicBezTo>
                    <a:pt x="1193178" y="4232"/>
                    <a:pt x="1239818" y="8473"/>
                    <a:pt x="1266940" y="22034"/>
                  </a:cubicBezTo>
                  <a:cubicBezTo>
                    <a:pt x="1278783" y="27955"/>
                    <a:pt x="1288974" y="36723"/>
                    <a:pt x="1299991" y="44067"/>
                  </a:cubicBezTo>
                  <a:cubicBezTo>
                    <a:pt x="1319577" y="73447"/>
                    <a:pt x="1325711" y="87330"/>
                    <a:pt x="1355075" y="110169"/>
                  </a:cubicBezTo>
                  <a:cubicBezTo>
                    <a:pt x="1375978" y="126427"/>
                    <a:pt x="1402451" y="135511"/>
                    <a:pt x="1421176" y="154236"/>
                  </a:cubicBezTo>
                  <a:cubicBezTo>
                    <a:pt x="1445541" y="178601"/>
                    <a:pt x="1456601" y="193982"/>
                    <a:pt x="1487277" y="209320"/>
                  </a:cubicBezTo>
                  <a:cubicBezTo>
                    <a:pt x="1503082" y="217222"/>
                    <a:pt x="1550276" y="227824"/>
                    <a:pt x="1564395" y="231354"/>
                  </a:cubicBezTo>
                  <a:cubicBezTo>
                    <a:pt x="1590101" y="227682"/>
                    <a:pt x="1616641" y="227798"/>
                    <a:pt x="1641513" y="220337"/>
                  </a:cubicBezTo>
                  <a:cubicBezTo>
                    <a:pt x="1679768" y="208861"/>
                    <a:pt x="1700881" y="158829"/>
                    <a:pt x="1718632" y="132202"/>
                  </a:cubicBezTo>
                  <a:cubicBezTo>
                    <a:pt x="1725976" y="121185"/>
                    <a:pt x="1736478" y="111713"/>
                    <a:pt x="1740665" y="99152"/>
                  </a:cubicBezTo>
                  <a:cubicBezTo>
                    <a:pt x="1764341" y="28124"/>
                    <a:pt x="1746276" y="49474"/>
                    <a:pt x="1773716" y="22034"/>
                  </a:cubicBezTo>
                </a:path>
              </a:pathLst>
            </a:custGeom>
            <a:noFill/>
            <a:ln w="38100">
              <a:solidFill>
                <a:srgbClr val="0070C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DBA1BA62-6FA1-4862-2027-1A067071CA58}"/>
                </a:ext>
              </a:extLst>
            </p:cNvPr>
            <p:cNvSpPr/>
            <p:nvPr/>
          </p:nvSpPr>
          <p:spPr>
            <a:xfrm>
              <a:off x="1489090" y="2799834"/>
              <a:ext cx="170329" cy="154312"/>
            </a:xfrm>
            <a:prstGeom prst="ellipse">
              <a:avLst/>
            </a:prstGeom>
            <a:solidFill>
              <a:schemeClr val="bg2"/>
            </a:solidFill>
            <a:ln>
              <a:solidFill>
                <a:srgbClr val="0070C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C935330A-641C-EF35-E478-EA32E2AEF144}"/>
                </a:ext>
              </a:extLst>
            </p:cNvPr>
            <p:cNvSpPr/>
            <p:nvPr/>
          </p:nvSpPr>
          <p:spPr>
            <a:xfrm>
              <a:off x="1391604" y="1046849"/>
              <a:ext cx="170329" cy="154312"/>
            </a:xfrm>
            <a:prstGeom prst="ellipse">
              <a:avLst/>
            </a:prstGeom>
            <a:solidFill>
              <a:schemeClr val="bg2"/>
            </a:solidFill>
            <a:ln>
              <a:solidFill>
                <a:srgbClr val="0070C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670473AE-44CB-29BF-3120-F4B820058461}"/>
              </a:ext>
            </a:extLst>
          </p:cNvPr>
          <p:cNvCxnSpPr>
            <a:cxnSpLocks/>
            <a:endCxn id="16" idx="2"/>
          </p:cNvCxnSpPr>
          <p:nvPr/>
        </p:nvCxnSpPr>
        <p:spPr>
          <a:xfrm>
            <a:off x="7437063" y="892980"/>
            <a:ext cx="529747" cy="0"/>
          </a:xfrm>
          <a:prstGeom prst="line">
            <a:avLst/>
          </a:prstGeom>
          <a:ln>
            <a:solidFill>
              <a:srgbClr val="000000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A7769FA9-13BC-B173-F6F6-6B8AC8F0800C}"/>
              </a:ext>
            </a:extLst>
          </p:cNvPr>
          <p:cNvCxnSpPr>
            <a:cxnSpLocks/>
            <a:endCxn id="17" idx="2"/>
          </p:cNvCxnSpPr>
          <p:nvPr/>
        </p:nvCxnSpPr>
        <p:spPr>
          <a:xfrm>
            <a:off x="7493881" y="1471449"/>
            <a:ext cx="480941" cy="5539"/>
          </a:xfrm>
          <a:prstGeom prst="line">
            <a:avLst/>
          </a:prstGeom>
          <a:ln>
            <a:solidFill>
              <a:srgbClr val="000000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3390282B-0B27-7931-E464-DC8868F2D428}"/>
              </a:ext>
            </a:extLst>
          </p:cNvPr>
          <p:cNvCxnSpPr>
            <a:cxnSpLocks/>
            <a:stCxn id="9" idx="6"/>
            <a:endCxn id="67" idx="1"/>
          </p:cNvCxnSpPr>
          <p:nvPr/>
        </p:nvCxnSpPr>
        <p:spPr>
          <a:xfrm flipV="1">
            <a:off x="7623010" y="2519365"/>
            <a:ext cx="2940664" cy="26054"/>
          </a:xfrm>
          <a:prstGeom prst="line">
            <a:avLst/>
          </a:prstGeom>
          <a:ln>
            <a:solidFill>
              <a:srgbClr val="000000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6716C9C5-2089-672C-E08C-A7376E0CFB8D}"/>
                  </a:ext>
                </a:extLst>
              </p:cNvPr>
              <p:cNvSpPr txBox="1"/>
              <p:nvPr/>
            </p:nvSpPr>
            <p:spPr>
              <a:xfrm>
                <a:off x="7246837" y="489500"/>
                <a:ext cx="690317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|"/>
                          <m:endChr m:val="⟩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𝜓</m:t>
                          </m:r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6716C9C5-2089-672C-E08C-A7376E0CFB8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46837" y="489500"/>
                <a:ext cx="690317" cy="369332"/>
              </a:xfrm>
              <a:prstGeom prst="rect">
                <a:avLst/>
              </a:prstGeom>
              <a:blipFill>
                <a:blip r:embed="rId3"/>
                <a:stretch>
                  <a:fillRect b="-1475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7F21FA23-CB85-F5B6-09EC-6CA47D73F054}"/>
                  </a:ext>
                </a:extLst>
              </p:cNvPr>
              <p:cNvSpPr txBox="1"/>
              <p:nvPr/>
            </p:nvSpPr>
            <p:spPr>
              <a:xfrm>
                <a:off x="5901757" y="1312562"/>
                <a:ext cx="1592686" cy="50731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sz="1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sz="120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12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ad>
                                <m:radPr>
                                  <m:degHide m:val="on"/>
                                  <m:ctrlPr>
                                    <a:rPr lang="en-US" sz="1200" i="1">
                                      <a:latin typeface="Cambria Math" panose="020405030504060302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r>
                                    <a:rPr lang="en-US" sz="12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e>
                              </m:rad>
                            </m:den>
                          </m:f>
                          <m:d>
                            <m:dPr>
                              <m:begChr m:val="|"/>
                              <m:endChr m:val="⟩"/>
                              <m:ctrlPr>
                                <a:rPr lang="en-US" sz="12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200" b="0" i="1" smtClean="0">
                                  <a:latin typeface="Cambria Math" panose="02040503050406030204" pitchFamily="18" charset="0"/>
                                </a:rPr>
                                <m:t>00</m:t>
                              </m:r>
                            </m:e>
                          </m:d>
                          <m:r>
                            <a:rPr lang="en-US" sz="1200" i="1">
                              <a:latin typeface="Cambria Math" panose="02040503050406030204" pitchFamily="18" charset="0"/>
                            </a:rPr>
                            <m:t>+</m:t>
                          </m:r>
                          <m:f>
                            <m:fPr>
                              <m:ctrlPr>
                                <a:rPr lang="en-US" sz="12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12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ad>
                                <m:radPr>
                                  <m:degHide m:val="on"/>
                                  <m:ctrlPr>
                                    <a:rPr lang="en-US" sz="1200" i="1">
                                      <a:latin typeface="Cambria Math" panose="020405030504060302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r>
                                    <a:rPr lang="en-US" sz="12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e>
                              </m:rad>
                            </m:den>
                          </m:f>
                          <m:d>
                            <m:dPr>
                              <m:begChr m:val="|"/>
                              <m:endChr m:val="⟩"/>
                              <m:ctrlPr>
                                <a:rPr lang="en-US" sz="12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200" b="0" i="1" smtClean="0">
                                  <a:latin typeface="Cambria Math" panose="02040503050406030204" pitchFamily="18" charset="0"/>
                                </a:rPr>
                                <m:t>11</m:t>
                              </m:r>
                            </m:e>
                          </m:d>
                        </m:e>
                      </m:d>
                    </m:oMath>
                  </m:oMathPara>
                </a14:m>
                <a:endParaRPr lang="en-US" sz="1200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7F21FA23-CB85-F5B6-09EC-6CA47D73F05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01757" y="1312562"/>
                <a:ext cx="1592686" cy="507318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Oval 15">
            <a:extLst>
              <a:ext uri="{FF2B5EF4-FFF2-40B4-BE49-F238E27FC236}">
                <a16:creationId xmlns:a16="http://schemas.microsoft.com/office/drawing/2014/main" id="{44E50C24-29F0-1785-A9EF-85372F4A2748}"/>
              </a:ext>
            </a:extLst>
          </p:cNvPr>
          <p:cNvSpPr/>
          <p:nvPr/>
        </p:nvSpPr>
        <p:spPr>
          <a:xfrm>
            <a:off x="7966810" y="813708"/>
            <a:ext cx="170113" cy="158543"/>
          </a:xfrm>
          <a:prstGeom prst="ellipse">
            <a:avLst/>
          </a:prstGeom>
          <a:solidFill>
            <a:schemeClr val="tx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Flowchart: Or 16">
            <a:extLst>
              <a:ext uri="{FF2B5EF4-FFF2-40B4-BE49-F238E27FC236}">
                <a16:creationId xmlns:a16="http://schemas.microsoft.com/office/drawing/2014/main" id="{C77DA2EF-D61A-DEAE-7D3F-E333E26EE7D9}"/>
              </a:ext>
            </a:extLst>
          </p:cNvPr>
          <p:cNvSpPr/>
          <p:nvPr/>
        </p:nvSpPr>
        <p:spPr>
          <a:xfrm>
            <a:off x="7974822" y="1387754"/>
            <a:ext cx="161713" cy="178467"/>
          </a:xfrm>
          <a:prstGeom prst="flowChartOr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44574FFC-6180-13BC-06FA-134D60229AD1}"/>
              </a:ext>
            </a:extLst>
          </p:cNvPr>
          <p:cNvCxnSpPr>
            <a:cxnSpLocks/>
            <a:stCxn id="16" idx="4"/>
            <a:endCxn id="17" idx="0"/>
          </p:cNvCxnSpPr>
          <p:nvPr/>
        </p:nvCxnSpPr>
        <p:spPr>
          <a:xfrm>
            <a:off x="8051867" y="972251"/>
            <a:ext cx="3812" cy="415503"/>
          </a:xfrm>
          <a:prstGeom prst="line">
            <a:avLst/>
          </a:prstGeom>
          <a:ln>
            <a:solidFill>
              <a:srgbClr val="000000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E7DC4A05-91C0-BB7A-18F2-9B7F78BE8406}"/>
              </a:ext>
            </a:extLst>
          </p:cNvPr>
          <p:cNvCxnSpPr/>
          <p:nvPr/>
        </p:nvCxnSpPr>
        <p:spPr>
          <a:xfrm>
            <a:off x="10433260" y="709765"/>
            <a:ext cx="20930" cy="2605259"/>
          </a:xfrm>
          <a:prstGeom prst="line">
            <a:avLst/>
          </a:prstGeom>
          <a:ln>
            <a:solidFill>
              <a:srgbClr val="000000"/>
            </a:solidFill>
            <a:prstDash val="dash"/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FB0FEC84-F6CF-8A45-D2AC-E1BE034ABACA}"/>
                  </a:ext>
                </a:extLst>
              </p:cNvPr>
              <p:cNvSpPr txBox="1"/>
              <p:nvPr/>
            </p:nvSpPr>
            <p:spPr>
              <a:xfrm>
                <a:off x="10382382" y="2923895"/>
                <a:ext cx="676223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|"/>
                          <m:endChr m:val="⟩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𝜓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FB0FEC84-F6CF-8A45-D2AC-E1BE034ABAC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382382" y="2923895"/>
                <a:ext cx="676223" cy="369332"/>
              </a:xfrm>
              <a:prstGeom prst="rect">
                <a:avLst/>
              </a:prstGeom>
              <a:blipFill>
                <a:blip r:embed="rId5"/>
                <a:stretch>
                  <a:fillRect b="-15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3" name="Graphic 22" descr="Speedometer Low outline">
            <a:extLst>
              <a:ext uri="{FF2B5EF4-FFF2-40B4-BE49-F238E27FC236}">
                <a16:creationId xmlns:a16="http://schemas.microsoft.com/office/drawing/2014/main" id="{C6484BF6-6F28-EE0C-3034-47C324BAE10E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645785" y="1283782"/>
            <a:ext cx="380379" cy="380379"/>
          </a:xfrm>
          <a:prstGeom prst="rect">
            <a:avLst/>
          </a:prstGeom>
        </p:spPr>
      </p:pic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2ED5C285-23DC-B122-2801-D9F296F9A29A}"/>
              </a:ext>
            </a:extLst>
          </p:cNvPr>
          <p:cNvCxnSpPr>
            <a:cxnSpLocks/>
            <a:stCxn id="23" idx="1"/>
            <a:endCxn id="17" idx="6"/>
          </p:cNvCxnSpPr>
          <p:nvPr/>
        </p:nvCxnSpPr>
        <p:spPr>
          <a:xfrm flipH="1">
            <a:off x="8136535" y="1473972"/>
            <a:ext cx="509250" cy="3016"/>
          </a:xfrm>
          <a:prstGeom prst="line">
            <a:avLst/>
          </a:prstGeom>
          <a:ln>
            <a:solidFill>
              <a:srgbClr val="000000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0E7E9C9D-40E6-C036-554A-6B2692442481}"/>
              </a:ext>
            </a:extLst>
          </p:cNvPr>
          <p:cNvCxnSpPr>
            <a:cxnSpLocks/>
          </p:cNvCxnSpPr>
          <p:nvPr/>
        </p:nvCxnSpPr>
        <p:spPr>
          <a:xfrm>
            <a:off x="7794806" y="779842"/>
            <a:ext cx="19050" cy="3175307"/>
          </a:xfrm>
          <a:prstGeom prst="line">
            <a:avLst/>
          </a:prstGeom>
          <a:ln>
            <a:solidFill>
              <a:srgbClr val="000000"/>
            </a:solidFill>
            <a:prstDash val="dash"/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BBD82A1E-4D46-50A1-4B6A-2CD591E29A5D}"/>
                  </a:ext>
                </a:extLst>
              </p:cNvPr>
              <p:cNvSpPr txBox="1"/>
              <p:nvPr/>
            </p:nvSpPr>
            <p:spPr>
              <a:xfrm>
                <a:off x="7737460" y="3468871"/>
                <a:ext cx="676223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|"/>
                          <m:endChr m:val="⟩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𝜓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BBD82A1E-4D46-50A1-4B6A-2CD591E29A5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37460" y="3468871"/>
                <a:ext cx="676223" cy="369332"/>
              </a:xfrm>
              <a:prstGeom prst="rect">
                <a:avLst/>
              </a:prstGeom>
              <a:blipFill>
                <a:blip r:embed="rId8"/>
                <a:stretch>
                  <a:fillRect b="-1475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7" name="Rectangle: Rounded Corners 14">
            <a:extLst>
              <a:ext uri="{FF2B5EF4-FFF2-40B4-BE49-F238E27FC236}">
                <a16:creationId xmlns:a16="http://schemas.microsoft.com/office/drawing/2014/main" id="{30D35528-F930-3496-2122-8B56C36BFEED}"/>
              </a:ext>
            </a:extLst>
          </p:cNvPr>
          <p:cNvSpPr/>
          <p:nvPr/>
        </p:nvSpPr>
        <p:spPr>
          <a:xfrm>
            <a:off x="9454559" y="709765"/>
            <a:ext cx="335980" cy="369332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H</a:t>
            </a:r>
          </a:p>
        </p:txBody>
      </p: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85441965-5347-A479-F775-34AEEB887559}"/>
              </a:ext>
            </a:extLst>
          </p:cNvPr>
          <p:cNvCxnSpPr>
            <a:cxnSpLocks/>
            <a:stCxn id="16" idx="6"/>
            <a:endCxn id="27" idx="1"/>
          </p:cNvCxnSpPr>
          <p:nvPr/>
        </p:nvCxnSpPr>
        <p:spPr>
          <a:xfrm>
            <a:off x="8136923" y="892980"/>
            <a:ext cx="1317636" cy="1451"/>
          </a:xfrm>
          <a:prstGeom prst="line">
            <a:avLst/>
          </a:prstGeom>
          <a:ln>
            <a:solidFill>
              <a:srgbClr val="000000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2" name="Graphic 41" descr="Speedometer Low outline">
            <a:extLst>
              <a:ext uri="{FF2B5EF4-FFF2-40B4-BE49-F238E27FC236}">
                <a16:creationId xmlns:a16="http://schemas.microsoft.com/office/drawing/2014/main" id="{4969866D-1B0C-282D-76E5-F8D49015D136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906581" y="700229"/>
            <a:ext cx="380379" cy="380379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11D0D40C-BA1C-B65A-E936-262932E244CC}"/>
              </a:ext>
            </a:extLst>
          </p:cNvPr>
          <p:cNvCxnSpPr>
            <a:cxnSpLocks/>
            <a:stCxn id="23" idx="3"/>
            <a:endCxn id="65" idx="2"/>
          </p:cNvCxnSpPr>
          <p:nvPr/>
        </p:nvCxnSpPr>
        <p:spPr>
          <a:xfrm flipV="1">
            <a:off x="9026164" y="1451328"/>
            <a:ext cx="1629535" cy="22644"/>
          </a:xfrm>
          <a:prstGeom prst="line">
            <a:avLst/>
          </a:prstGeom>
          <a:ln>
            <a:solidFill>
              <a:srgbClr val="000000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Straight Connector 59">
            <a:extLst>
              <a:ext uri="{FF2B5EF4-FFF2-40B4-BE49-F238E27FC236}">
                <a16:creationId xmlns:a16="http://schemas.microsoft.com/office/drawing/2014/main" id="{A246EE45-3854-CC42-B5C3-8C2F5646985C}"/>
              </a:ext>
            </a:extLst>
          </p:cNvPr>
          <p:cNvCxnSpPr>
            <a:cxnSpLocks/>
            <a:stCxn id="42" idx="3"/>
            <a:endCxn id="76" idx="2"/>
          </p:cNvCxnSpPr>
          <p:nvPr/>
        </p:nvCxnSpPr>
        <p:spPr>
          <a:xfrm>
            <a:off x="10286960" y="890419"/>
            <a:ext cx="876496" cy="2561"/>
          </a:xfrm>
          <a:prstGeom prst="line">
            <a:avLst/>
          </a:prstGeom>
          <a:ln>
            <a:solidFill>
              <a:srgbClr val="000000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5" name="Oval 64">
            <a:extLst>
              <a:ext uri="{FF2B5EF4-FFF2-40B4-BE49-F238E27FC236}">
                <a16:creationId xmlns:a16="http://schemas.microsoft.com/office/drawing/2014/main" id="{CF86EEE9-3915-1CA1-B81B-BA7F62E015D6}"/>
              </a:ext>
            </a:extLst>
          </p:cNvPr>
          <p:cNvSpPr/>
          <p:nvPr/>
        </p:nvSpPr>
        <p:spPr>
          <a:xfrm>
            <a:off x="10655699" y="1372056"/>
            <a:ext cx="170113" cy="158543"/>
          </a:xfrm>
          <a:prstGeom prst="ellipse">
            <a:avLst/>
          </a:prstGeom>
          <a:solidFill>
            <a:schemeClr val="tx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7" name="Rectangle: Rounded Corners 14">
            <a:extLst>
              <a:ext uri="{FF2B5EF4-FFF2-40B4-BE49-F238E27FC236}">
                <a16:creationId xmlns:a16="http://schemas.microsoft.com/office/drawing/2014/main" id="{130E1FE8-E8F1-C088-C390-A23DE250D3B8}"/>
              </a:ext>
            </a:extLst>
          </p:cNvPr>
          <p:cNvSpPr/>
          <p:nvPr/>
        </p:nvSpPr>
        <p:spPr>
          <a:xfrm>
            <a:off x="10563674" y="2334699"/>
            <a:ext cx="335980" cy="369332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X</a:t>
            </a:r>
          </a:p>
        </p:txBody>
      </p:sp>
      <p:cxnSp>
        <p:nvCxnSpPr>
          <p:cNvPr id="69" name="Straight Connector 68">
            <a:extLst>
              <a:ext uri="{FF2B5EF4-FFF2-40B4-BE49-F238E27FC236}">
                <a16:creationId xmlns:a16="http://schemas.microsoft.com/office/drawing/2014/main" id="{73182689-ADE7-4CC2-F2F9-7ADC193DFEF1}"/>
              </a:ext>
            </a:extLst>
          </p:cNvPr>
          <p:cNvCxnSpPr>
            <a:cxnSpLocks/>
            <a:stCxn id="65" idx="4"/>
            <a:endCxn id="67" idx="0"/>
          </p:cNvCxnSpPr>
          <p:nvPr/>
        </p:nvCxnSpPr>
        <p:spPr>
          <a:xfrm flipH="1">
            <a:off x="10731664" y="1530599"/>
            <a:ext cx="9092" cy="804100"/>
          </a:xfrm>
          <a:prstGeom prst="line">
            <a:avLst/>
          </a:prstGeom>
          <a:ln>
            <a:solidFill>
              <a:srgbClr val="00B050"/>
            </a:solidFill>
            <a:prstDash val="sysDot"/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2" name="Rectangle: Rounded Corners 14">
            <a:extLst>
              <a:ext uri="{FF2B5EF4-FFF2-40B4-BE49-F238E27FC236}">
                <a16:creationId xmlns:a16="http://schemas.microsoft.com/office/drawing/2014/main" id="{A52BB5E9-4141-DB62-B81B-1F1AD3DE5C73}"/>
              </a:ext>
            </a:extLst>
          </p:cNvPr>
          <p:cNvSpPr/>
          <p:nvPr/>
        </p:nvSpPr>
        <p:spPr>
          <a:xfrm>
            <a:off x="11091534" y="2337166"/>
            <a:ext cx="335980" cy="369332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Z</a:t>
            </a:r>
          </a:p>
        </p:txBody>
      </p:sp>
      <p:cxnSp>
        <p:nvCxnSpPr>
          <p:cNvPr id="73" name="Straight Connector 72">
            <a:extLst>
              <a:ext uri="{FF2B5EF4-FFF2-40B4-BE49-F238E27FC236}">
                <a16:creationId xmlns:a16="http://schemas.microsoft.com/office/drawing/2014/main" id="{C3379F13-3167-AD40-E55A-890F0347B7BC}"/>
              </a:ext>
            </a:extLst>
          </p:cNvPr>
          <p:cNvCxnSpPr>
            <a:cxnSpLocks/>
            <a:stCxn id="67" idx="3"/>
            <a:endCxn id="72" idx="1"/>
          </p:cNvCxnSpPr>
          <p:nvPr/>
        </p:nvCxnSpPr>
        <p:spPr>
          <a:xfrm>
            <a:off x="10899654" y="2519365"/>
            <a:ext cx="191880" cy="2467"/>
          </a:xfrm>
          <a:prstGeom prst="line">
            <a:avLst/>
          </a:prstGeom>
          <a:ln>
            <a:solidFill>
              <a:srgbClr val="000000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6" name="Oval 75">
            <a:extLst>
              <a:ext uri="{FF2B5EF4-FFF2-40B4-BE49-F238E27FC236}">
                <a16:creationId xmlns:a16="http://schemas.microsoft.com/office/drawing/2014/main" id="{B9395E87-90CD-2FB8-0159-0BADDA3A0805}"/>
              </a:ext>
            </a:extLst>
          </p:cNvPr>
          <p:cNvSpPr/>
          <p:nvPr/>
        </p:nvSpPr>
        <p:spPr>
          <a:xfrm>
            <a:off x="11163456" y="813708"/>
            <a:ext cx="170113" cy="158543"/>
          </a:xfrm>
          <a:prstGeom prst="ellipse">
            <a:avLst/>
          </a:prstGeom>
          <a:solidFill>
            <a:schemeClr val="tx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78" name="Straight Connector 77">
            <a:extLst>
              <a:ext uri="{FF2B5EF4-FFF2-40B4-BE49-F238E27FC236}">
                <a16:creationId xmlns:a16="http://schemas.microsoft.com/office/drawing/2014/main" id="{10FDFA64-0978-4C26-F6B8-9117661870AD}"/>
              </a:ext>
            </a:extLst>
          </p:cNvPr>
          <p:cNvCxnSpPr>
            <a:cxnSpLocks/>
            <a:stCxn id="76" idx="4"/>
            <a:endCxn id="72" idx="0"/>
          </p:cNvCxnSpPr>
          <p:nvPr/>
        </p:nvCxnSpPr>
        <p:spPr>
          <a:xfrm>
            <a:off x="11248513" y="972251"/>
            <a:ext cx="11011" cy="1364915"/>
          </a:xfrm>
          <a:prstGeom prst="line">
            <a:avLst/>
          </a:prstGeom>
          <a:ln>
            <a:solidFill>
              <a:srgbClr val="00B050"/>
            </a:solidFill>
            <a:prstDash val="sysDot"/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Straight Connector 82">
            <a:extLst>
              <a:ext uri="{FF2B5EF4-FFF2-40B4-BE49-F238E27FC236}">
                <a16:creationId xmlns:a16="http://schemas.microsoft.com/office/drawing/2014/main" id="{E83591D7-F145-7903-0081-DB737BFB94B3}"/>
              </a:ext>
            </a:extLst>
          </p:cNvPr>
          <p:cNvCxnSpPr>
            <a:cxnSpLocks/>
            <a:stCxn id="27" idx="3"/>
            <a:endCxn id="42" idx="1"/>
          </p:cNvCxnSpPr>
          <p:nvPr/>
        </p:nvCxnSpPr>
        <p:spPr>
          <a:xfrm flipV="1">
            <a:off x="9790539" y="890419"/>
            <a:ext cx="116042" cy="4012"/>
          </a:xfrm>
          <a:prstGeom prst="line">
            <a:avLst/>
          </a:prstGeom>
          <a:ln>
            <a:solidFill>
              <a:srgbClr val="000000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Straight Connector 87">
            <a:extLst>
              <a:ext uri="{FF2B5EF4-FFF2-40B4-BE49-F238E27FC236}">
                <a16:creationId xmlns:a16="http://schemas.microsoft.com/office/drawing/2014/main" id="{7930F3F9-D08B-D770-DCBF-1852DBEC43F8}"/>
              </a:ext>
            </a:extLst>
          </p:cNvPr>
          <p:cNvCxnSpPr>
            <a:cxnSpLocks/>
            <a:endCxn id="65" idx="6"/>
          </p:cNvCxnSpPr>
          <p:nvPr/>
        </p:nvCxnSpPr>
        <p:spPr>
          <a:xfrm flipH="1">
            <a:off x="10825812" y="1433973"/>
            <a:ext cx="1190670" cy="17355"/>
          </a:xfrm>
          <a:prstGeom prst="line">
            <a:avLst/>
          </a:prstGeom>
          <a:ln>
            <a:solidFill>
              <a:srgbClr val="000000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Straight Connector 90">
            <a:extLst>
              <a:ext uri="{FF2B5EF4-FFF2-40B4-BE49-F238E27FC236}">
                <a16:creationId xmlns:a16="http://schemas.microsoft.com/office/drawing/2014/main" id="{53FA8DE7-B173-9CA3-3164-9434AEEABCAA}"/>
              </a:ext>
            </a:extLst>
          </p:cNvPr>
          <p:cNvCxnSpPr>
            <a:cxnSpLocks/>
            <a:stCxn id="76" idx="6"/>
          </p:cNvCxnSpPr>
          <p:nvPr/>
        </p:nvCxnSpPr>
        <p:spPr>
          <a:xfrm>
            <a:off x="11333569" y="892980"/>
            <a:ext cx="719973" cy="7470"/>
          </a:xfrm>
          <a:prstGeom prst="line">
            <a:avLst/>
          </a:prstGeom>
          <a:ln>
            <a:solidFill>
              <a:srgbClr val="000000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" name="Straight Connector 93">
            <a:extLst>
              <a:ext uri="{FF2B5EF4-FFF2-40B4-BE49-F238E27FC236}">
                <a16:creationId xmlns:a16="http://schemas.microsoft.com/office/drawing/2014/main" id="{98D1A89E-0CED-32E6-3D6C-BA60D46EC5BB}"/>
              </a:ext>
            </a:extLst>
          </p:cNvPr>
          <p:cNvCxnSpPr>
            <a:cxnSpLocks/>
            <a:stCxn id="72" idx="3"/>
          </p:cNvCxnSpPr>
          <p:nvPr/>
        </p:nvCxnSpPr>
        <p:spPr>
          <a:xfrm flipV="1">
            <a:off x="11427514" y="2511018"/>
            <a:ext cx="588968" cy="10814"/>
          </a:xfrm>
          <a:prstGeom prst="line">
            <a:avLst/>
          </a:prstGeom>
          <a:ln>
            <a:solidFill>
              <a:srgbClr val="000000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97" name="TextBox 96">
                <a:extLst>
                  <a:ext uri="{FF2B5EF4-FFF2-40B4-BE49-F238E27FC236}">
                    <a16:creationId xmlns:a16="http://schemas.microsoft.com/office/drawing/2014/main" id="{365D4875-5055-4E5C-1B3A-951534C254E0}"/>
                  </a:ext>
                </a:extLst>
              </p:cNvPr>
              <p:cNvSpPr txBox="1"/>
              <p:nvPr/>
            </p:nvSpPr>
            <p:spPr>
              <a:xfrm>
                <a:off x="11569568" y="2556307"/>
                <a:ext cx="690317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|"/>
                          <m:endChr m:val="⟩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𝜓</m:t>
                          </m:r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97" name="TextBox 96">
                <a:extLst>
                  <a:ext uri="{FF2B5EF4-FFF2-40B4-BE49-F238E27FC236}">
                    <a16:creationId xmlns:a16="http://schemas.microsoft.com/office/drawing/2014/main" id="{365D4875-5055-4E5C-1B3A-951534C254E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569568" y="2556307"/>
                <a:ext cx="690317" cy="369332"/>
              </a:xfrm>
              <a:prstGeom prst="rect">
                <a:avLst/>
              </a:prstGeom>
              <a:blipFill>
                <a:blip r:embed="rId9"/>
                <a:stretch>
                  <a:fillRect b="-1475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00" name="Straight Connector 99">
            <a:extLst>
              <a:ext uri="{FF2B5EF4-FFF2-40B4-BE49-F238E27FC236}">
                <a16:creationId xmlns:a16="http://schemas.microsoft.com/office/drawing/2014/main" id="{CA411F0C-158B-50DC-C333-AE252BC56C41}"/>
              </a:ext>
            </a:extLst>
          </p:cNvPr>
          <p:cNvCxnSpPr/>
          <p:nvPr/>
        </p:nvCxnSpPr>
        <p:spPr>
          <a:xfrm>
            <a:off x="8448772" y="746666"/>
            <a:ext cx="20930" cy="2605259"/>
          </a:xfrm>
          <a:prstGeom prst="line">
            <a:avLst/>
          </a:prstGeom>
          <a:ln>
            <a:solidFill>
              <a:srgbClr val="000000"/>
            </a:solidFill>
            <a:prstDash val="dash"/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01" name="TextBox 100">
                <a:extLst>
                  <a:ext uri="{FF2B5EF4-FFF2-40B4-BE49-F238E27FC236}">
                    <a16:creationId xmlns:a16="http://schemas.microsoft.com/office/drawing/2014/main" id="{F495F3BC-F07D-8DB6-E130-225158CB1819}"/>
                  </a:ext>
                </a:extLst>
              </p:cNvPr>
              <p:cNvSpPr txBox="1"/>
              <p:nvPr/>
            </p:nvSpPr>
            <p:spPr>
              <a:xfrm>
                <a:off x="8359104" y="2887170"/>
                <a:ext cx="676223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|"/>
                          <m:endChr m:val="⟩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𝜓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01" name="TextBox 100">
                <a:extLst>
                  <a:ext uri="{FF2B5EF4-FFF2-40B4-BE49-F238E27FC236}">
                    <a16:creationId xmlns:a16="http://schemas.microsoft.com/office/drawing/2014/main" id="{F495F3BC-F07D-8DB6-E130-225158CB181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59104" y="2887170"/>
                <a:ext cx="676223" cy="369332"/>
              </a:xfrm>
              <a:prstGeom prst="rect">
                <a:avLst/>
              </a:prstGeom>
              <a:blipFill>
                <a:blip r:embed="rId10"/>
                <a:stretch>
                  <a:fillRect b="-15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3" name="TextBox 102">
            <a:extLst>
              <a:ext uri="{FF2B5EF4-FFF2-40B4-BE49-F238E27FC236}">
                <a16:creationId xmlns:a16="http://schemas.microsoft.com/office/drawing/2014/main" id="{26069DBD-1B17-754E-E138-E93FDF7E897E}"/>
              </a:ext>
            </a:extLst>
          </p:cNvPr>
          <p:cNvSpPr txBox="1"/>
          <p:nvPr/>
        </p:nvSpPr>
        <p:spPr>
          <a:xfrm>
            <a:off x="11274677" y="1507336"/>
            <a:ext cx="98520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00B050"/>
                </a:solidFill>
              </a:rPr>
              <a:t>Telephone call</a:t>
            </a:r>
          </a:p>
        </p:txBody>
      </p:sp>
      <p:cxnSp>
        <p:nvCxnSpPr>
          <p:cNvPr id="104" name="Straight Connector 103">
            <a:extLst>
              <a:ext uri="{FF2B5EF4-FFF2-40B4-BE49-F238E27FC236}">
                <a16:creationId xmlns:a16="http://schemas.microsoft.com/office/drawing/2014/main" id="{84C8BDC0-4008-0773-0799-C4CF749FC9DF}"/>
              </a:ext>
            </a:extLst>
          </p:cNvPr>
          <p:cNvCxnSpPr/>
          <p:nvPr/>
        </p:nvCxnSpPr>
        <p:spPr>
          <a:xfrm>
            <a:off x="9169035" y="740285"/>
            <a:ext cx="20930" cy="2605259"/>
          </a:xfrm>
          <a:prstGeom prst="line">
            <a:avLst/>
          </a:prstGeom>
          <a:ln>
            <a:solidFill>
              <a:srgbClr val="000000"/>
            </a:solidFill>
            <a:prstDash val="dash"/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05" name="TextBox 104">
                <a:extLst>
                  <a:ext uri="{FF2B5EF4-FFF2-40B4-BE49-F238E27FC236}">
                    <a16:creationId xmlns:a16="http://schemas.microsoft.com/office/drawing/2014/main" id="{7A9B0BFA-BDB7-1C93-BBD8-9BEFA21C519E}"/>
                  </a:ext>
                </a:extLst>
              </p:cNvPr>
              <p:cNvSpPr txBox="1"/>
              <p:nvPr/>
            </p:nvSpPr>
            <p:spPr>
              <a:xfrm>
                <a:off x="9079367" y="2880789"/>
                <a:ext cx="676223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|"/>
                          <m:endChr m:val="⟩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𝜓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05" name="TextBox 104">
                <a:extLst>
                  <a:ext uri="{FF2B5EF4-FFF2-40B4-BE49-F238E27FC236}">
                    <a16:creationId xmlns:a16="http://schemas.microsoft.com/office/drawing/2014/main" id="{7A9B0BFA-BDB7-1C93-BBD8-9BEFA21C519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79367" y="2880789"/>
                <a:ext cx="676223" cy="369332"/>
              </a:xfrm>
              <a:prstGeom prst="rect">
                <a:avLst/>
              </a:prstGeom>
              <a:blipFill>
                <a:blip r:embed="rId11"/>
                <a:stretch>
                  <a:fillRect b="-15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5448001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6DEAAE-01BB-6CE4-E398-06BC47F0B3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Multi-bit Entanglement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EBDC1251-89EF-1A4F-9FA3-D9B04CD28AA6}"/>
              </a:ext>
            </a:extLst>
          </p:cNvPr>
          <p:cNvCxnSpPr>
            <a:cxnSpLocks/>
            <a:endCxn id="6" idx="2"/>
          </p:cNvCxnSpPr>
          <p:nvPr/>
        </p:nvCxnSpPr>
        <p:spPr>
          <a:xfrm>
            <a:off x="2040974" y="1402025"/>
            <a:ext cx="529747" cy="0"/>
          </a:xfrm>
          <a:prstGeom prst="line">
            <a:avLst/>
          </a:prstGeom>
          <a:ln>
            <a:solidFill>
              <a:srgbClr val="000000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26C670D9-91C1-4EF0-CE7F-2522D9922CE1}"/>
              </a:ext>
            </a:extLst>
          </p:cNvPr>
          <p:cNvCxnSpPr>
            <a:cxnSpLocks/>
            <a:endCxn id="7" idx="2"/>
          </p:cNvCxnSpPr>
          <p:nvPr/>
        </p:nvCxnSpPr>
        <p:spPr>
          <a:xfrm>
            <a:off x="2097792" y="1980494"/>
            <a:ext cx="480941" cy="5539"/>
          </a:xfrm>
          <a:prstGeom prst="line">
            <a:avLst/>
          </a:prstGeom>
          <a:ln>
            <a:solidFill>
              <a:srgbClr val="000000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Oval 5">
            <a:extLst>
              <a:ext uri="{FF2B5EF4-FFF2-40B4-BE49-F238E27FC236}">
                <a16:creationId xmlns:a16="http://schemas.microsoft.com/office/drawing/2014/main" id="{16441BA8-F406-196A-7E18-3991B742B0C1}"/>
              </a:ext>
            </a:extLst>
          </p:cNvPr>
          <p:cNvSpPr/>
          <p:nvPr/>
        </p:nvSpPr>
        <p:spPr>
          <a:xfrm>
            <a:off x="2570721" y="1322753"/>
            <a:ext cx="170113" cy="158543"/>
          </a:xfrm>
          <a:prstGeom prst="ellipse">
            <a:avLst/>
          </a:prstGeom>
          <a:solidFill>
            <a:schemeClr val="tx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Flowchart: Or 6">
            <a:extLst>
              <a:ext uri="{FF2B5EF4-FFF2-40B4-BE49-F238E27FC236}">
                <a16:creationId xmlns:a16="http://schemas.microsoft.com/office/drawing/2014/main" id="{54CBE7C8-84F5-BE5C-7BC1-30B6570BAB37}"/>
              </a:ext>
            </a:extLst>
          </p:cNvPr>
          <p:cNvSpPr/>
          <p:nvPr/>
        </p:nvSpPr>
        <p:spPr>
          <a:xfrm>
            <a:off x="2578733" y="1896799"/>
            <a:ext cx="161713" cy="178467"/>
          </a:xfrm>
          <a:prstGeom prst="flowChartOr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5E26B996-DA5B-2680-15B5-6C1C4EF992F2}"/>
              </a:ext>
            </a:extLst>
          </p:cNvPr>
          <p:cNvCxnSpPr>
            <a:cxnSpLocks/>
            <a:stCxn id="6" idx="4"/>
            <a:endCxn id="7" idx="0"/>
          </p:cNvCxnSpPr>
          <p:nvPr/>
        </p:nvCxnSpPr>
        <p:spPr>
          <a:xfrm>
            <a:off x="2655778" y="1481296"/>
            <a:ext cx="3812" cy="415503"/>
          </a:xfrm>
          <a:prstGeom prst="line">
            <a:avLst/>
          </a:prstGeom>
          <a:ln>
            <a:solidFill>
              <a:srgbClr val="000000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88DF7111-795A-71D2-E867-A7587F49DBD7}"/>
              </a:ext>
            </a:extLst>
          </p:cNvPr>
          <p:cNvCxnSpPr>
            <a:cxnSpLocks/>
            <a:endCxn id="7" idx="6"/>
          </p:cNvCxnSpPr>
          <p:nvPr/>
        </p:nvCxnSpPr>
        <p:spPr>
          <a:xfrm flipH="1">
            <a:off x="2740446" y="1983017"/>
            <a:ext cx="509250" cy="3016"/>
          </a:xfrm>
          <a:prstGeom prst="line">
            <a:avLst/>
          </a:prstGeom>
          <a:ln>
            <a:solidFill>
              <a:srgbClr val="000000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EBCEC50D-4094-BCC1-6160-1F4898C78272}"/>
              </a:ext>
            </a:extLst>
          </p:cNvPr>
          <p:cNvCxnSpPr>
            <a:cxnSpLocks/>
            <a:stCxn id="6" idx="6"/>
          </p:cNvCxnSpPr>
          <p:nvPr/>
        </p:nvCxnSpPr>
        <p:spPr>
          <a:xfrm>
            <a:off x="2740834" y="1402025"/>
            <a:ext cx="595217" cy="0"/>
          </a:xfrm>
          <a:prstGeom prst="line">
            <a:avLst/>
          </a:prstGeom>
          <a:ln>
            <a:solidFill>
              <a:srgbClr val="000000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0A241B4B-6327-5AAE-A379-B86B7887CE05}"/>
                  </a:ext>
                </a:extLst>
              </p:cNvPr>
              <p:cNvSpPr txBox="1"/>
              <p:nvPr/>
            </p:nvSpPr>
            <p:spPr>
              <a:xfrm>
                <a:off x="294653" y="1032692"/>
                <a:ext cx="2132096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|"/>
                          <m:endChr m:val="⟩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𝜓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𝛼</m:t>
                      </m:r>
                      <m:d>
                        <m:dPr>
                          <m:begChr m:val="|"/>
                          <m:endChr m:val="⟩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𝛽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|1⟩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0A241B4B-6327-5AAE-A379-B86B7887CE0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4653" y="1032692"/>
                <a:ext cx="2132096" cy="369332"/>
              </a:xfrm>
              <a:prstGeom prst="rect">
                <a:avLst/>
              </a:prstGeom>
              <a:blipFill>
                <a:blip r:embed="rId2"/>
                <a:stretch>
                  <a:fillRect b="-1475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55A9E9A9-FFD6-8EBA-F689-F7722531DCD1}"/>
                  </a:ext>
                </a:extLst>
              </p:cNvPr>
              <p:cNvSpPr txBox="1"/>
              <p:nvPr/>
            </p:nvSpPr>
            <p:spPr>
              <a:xfrm>
                <a:off x="1635919" y="1611162"/>
                <a:ext cx="580222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|"/>
                          <m:endChr m:val="⟩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55A9E9A9-FFD6-8EBA-F689-F7722531DCD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35919" y="1611162"/>
                <a:ext cx="580222" cy="3693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C04C26BB-E28C-B5E3-3B9A-B83D535B978C}"/>
                  </a:ext>
                </a:extLst>
              </p:cNvPr>
              <p:cNvSpPr txBox="1"/>
              <p:nvPr/>
            </p:nvSpPr>
            <p:spPr>
              <a:xfrm>
                <a:off x="3338965" y="1527467"/>
                <a:ext cx="2414556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|"/>
                          <m:endChr m:val="⟩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𝜓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𝛼</m:t>
                      </m:r>
                      <m:d>
                        <m:dPr>
                          <m:begChr m:val="|"/>
                          <m:endChr m:val="⟩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00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𝛽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|11⟩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C04C26BB-E28C-B5E3-3B9A-B83D535B978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38965" y="1527467"/>
                <a:ext cx="2414556" cy="369332"/>
              </a:xfrm>
              <a:prstGeom prst="rect">
                <a:avLst/>
              </a:prstGeom>
              <a:blipFill>
                <a:blip r:embed="rId4"/>
                <a:stretch>
                  <a:fillRect b="-15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B278CDBE-14BE-8462-E77D-8E91972C12AA}"/>
              </a:ext>
            </a:extLst>
          </p:cNvPr>
          <p:cNvCxnSpPr>
            <a:cxnSpLocks/>
            <a:endCxn id="18" idx="2"/>
          </p:cNvCxnSpPr>
          <p:nvPr/>
        </p:nvCxnSpPr>
        <p:spPr>
          <a:xfrm>
            <a:off x="2040974" y="3045381"/>
            <a:ext cx="529747" cy="0"/>
          </a:xfrm>
          <a:prstGeom prst="line">
            <a:avLst/>
          </a:prstGeom>
          <a:ln>
            <a:solidFill>
              <a:srgbClr val="000000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85485A51-8502-652E-98B4-AA1C241C7440}"/>
              </a:ext>
            </a:extLst>
          </p:cNvPr>
          <p:cNvCxnSpPr>
            <a:cxnSpLocks/>
            <a:endCxn id="19" idx="2"/>
          </p:cNvCxnSpPr>
          <p:nvPr/>
        </p:nvCxnSpPr>
        <p:spPr>
          <a:xfrm>
            <a:off x="2097792" y="3623850"/>
            <a:ext cx="480941" cy="5539"/>
          </a:xfrm>
          <a:prstGeom prst="line">
            <a:avLst/>
          </a:prstGeom>
          <a:ln>
            <a:solidFill>
              <a:srgbClr val="000000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Oval 17">
            <a:extLst>
              <a:ext uri="{FF2B5EF4-FFF2-40B4-BE49-F238E27FC236}">
                <a16:creationId xmlns:a16="http://schemas.microsoft.com/office/drawing/2014/main" id="{510C5733-897A-992A-9573-C84BD8441B56}"/>
              </a:ext>
            </a:extLst>
          </p:cNvPr>
          <p:cNvSpPr/>
          <p:nvPr/>
        </p:nvSpPr>
        <p:spPr>
          <a:xfrm>
            <a:off x="2570721" y="2966109"/>
            <a:ext cx="170113" cy="158543"/>
          </a:xfrm>
          <a:prstGeom prst="ellipse">
            <a:avLst/>
          </a:prstGeom>
          <a:solidFill>
            <a:schemeClr val="tx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Flowchart: Or 18">
            <a:extLst>
              <a:ext uri="{FF2B5EF4-FFF2-40B4-BE49-F238E27FC236}">
                <a16:creationId xmlns:a16="http://schemas.microsoft.com/office/drawing/2014/main" id="{6AD0926F-2293-472D-E4C1-26C93A76243E}"/>
              </a:ext>
            </a:extLst>
          </p:cNvPr>
          <p:cNvSpPr/>
          <p:nvPr/>
        </p:nvSpPr>
        <p:spPr>
          <a:xfrm>
            <a:off x="2578733" y="3540155"/>
            <a:ext cx="161713" cy="178467"/>
          </a:xfrm>
          <a:prstGeom prst="flowChartOr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1A299723-2EF7-B4D2-6682-53CB9001D114}"/>
              </a:ext>
            </a:extLst>
          </p:cNvPr>
          <p:cNvCxnSpPr>
            <a:cxnSpLocks/>
            <a:stCxn id="18" idx="4"/>
            <a:endCxn id="19" idx="0"/>
          </p:cNvCxnSpPr>
          <p:nvPr/>
        </p:nvCxnSpPr>
        <p:spPr>
          <a:xfrm>
            <a:off x="2655778" y="3124652"/>
            <a:ext cx="3812" cy="415503"/>
          </a:xfrm>
          <a:prstGeom prst="line">
            <a:avLst/>
          </a:prstGeom>
          <a:ln>
            <a:solidFill>
              <a:srgbClr val="000000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519EEB5E-BEC4-3C42-BAD1-BD3EDE21D0C8}"/>
              </a:ext>
            </a:extLst>
          </p:cNvPr>
          <p:cNvCxnSpPr>
            <a:cxnSpLocks/>
            <a:stCxn id="42" idx="2"/>
            <a:endCxn id="19" idx="6"/>
          </p:cNvCxnSpPr>
          <p:nvPr/>
        </p:nvCxnSpPr>
        <p:spPr>
          <a:xfrm flipH="1">
            <a:off x="2740446" y="3626899"/>
            <a:ext cx="1142296" cy="2490"/>
          </a:xfrm>
          <a:prstGeom prst="line">
            <a:avLst/>
          </a:prstGeom>
          <a:ln>
            <a:solidFill>
              <a:srgbClr val="000000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3952ABF5-C984-4054-6568-4194002D371F}"/>
              </a:ext>
            </a:extLst>
          </p:cNvPr>
          <p:cNvCxnSpPr>
            <a:cxnSpLocks/>
            <a:stCxn id="18" idx="6"/>
            <a:endCxn id="26" idx="2"/>
          </p:cNvCxnSpPr>
          <p:nvPr/>
        </p:nvCxnSpPr>
        <p:spPr>
          <a:xfrm flipV="1">
            <a:off x="2740834" y="3042712"/>
            <a:ext cx="656433" cy="2669"/>
          </a:xfrm>
          <a:prstGeom prst="line">
            <a:avLst/>
          </a:prstGeom>
          <a:ln>
            <a:solidFill>
              <a:srgbClr val="000000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5B31FA93-29EB-5AAB-C5C5-FBE1119A36CB}"/>
                  </a:ext>
                </a:extLst>
              </p:cNvPr>
              <p:cNvSpPr txBox="1"/>
              <p:nvPr/>
            </p:nvSpPr>
            <p:spPr>
              <a:xfrm>
                <a:off x="157589" y="2651960"/>
                <a:ext cx="2132096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|"/>
                          <m:endChr m:val="⟩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𝜓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𝛼</m:t>
                      </m:r>
                      <m:d>
                        <m:dPr>
                          <m:begChr m:val="|"/>
                          <m:endChr m:val="⟩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𝛽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|1⟩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5B31FA93-29EB-5AAB-C5C5-FBE1119A36C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7589" y="2651960"/>
                <a:ext cx="2132096" cy="369332"/>
              </a:xfrm>
              <a:prstGeom prst="rect">
                <a:avLst/>
              </a:prstGeom>
              <a:blipFill>
                <a:blip r:embed="rId5"/>
                <a:stretch>
                  <a:fillRect b="-1475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E37923F3-4401-A460-3ACE-091B1D67C81C}"/>
                  </a:ext>
                </a:extLst>
              </p:cNvPr>
              <p:cNvSpPr txBox="1"/>
              <p:nvPr/>
            </p:nvSpPr>
            <p:spPr>
              <a:xfrm>
                <a:off x="1635919" y="3254518"/>
                <a:ext cx="580222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|"/>
                          <m:endChr m:val="⟩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E37923F3-4401-A460-3ACE-091B1D67C81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35919" y="3254518"/>
                <a:ext cx="580222" cy="36933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6DBB0CD3-AFA5-BE9E-EA55-0838D146309B}"/>
                  </a:ext>
                </a:extLst>
              </p:cNvPr>
              <p:cNvSpPr txBox="1"/>
              <p:nvPr/>
            </p:nvSpPr>
            <p:spPr>
              <a:xfrm>
                <a:off x="2933463" y="6002004"/>
                <a:ext cx="2891404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|"/>
                          <m:endChr m:val="⟩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𝜓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𝛼</m:t>
                      </m:r>
                      <m:d>
                        <m:dPr>
                          <m:begChr m:val="|"/>
                          <m:endChr m:val="⟩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0000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𝛽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|1100⟩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6DBB0CD3-AFA5-BE9E-EA55-0838D146309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33463" y="6002004"/>
                <a:ext cx="2891404" cy="369332"/>
              </a:xfrm>
              <a:prstGeom prst="rect">
                <a:avLst/>
              </a:prstGeom>
              <a:blipFill>
                <a:blip r:embed="rId7"/>
                <a:stretch>
                  <a:fillRect b="-15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6" name="Oval 25">
            <a:extLst>
              <a:ext uri="{FF2B5EF4-FFF2-40B4-BE49-F238E27FC236}">
                <a16:creationId xmlns:a16="http://schemas.microsoft.com/office/drawing/2014/main" id="{13A7DD89-F333-251C-7DE6-225FC5D4A18B}"/>
              </a:ext>
            </a:extLst>
          </p:cNvPr>
          <p:cNvSpPr/>
          <p:nvPr/>
        </p:nvSpPr>
        <p:spPr>
          <a:xfrm>
            <a:off x="3397267" y="2963440"/>
            <a:ext cx="170113" cy="158543"/>
          </a:xfrm>
          <a:prstGeom prst="ellipse">
            <a:avLst/>
          </a:prstGeom>
          <a:solidFill>
            <a:schemeClr val="tx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Flowchart: Or 26">
            <a:extLst>
              <a:ext uri="{FF2B5EF4-FFF2-40B4-BE49-F238E27FC236}">
                <a16:creationId xmlns:a16="http://schemas.microsoft.com/office/drawing/2014/main" id="{C7129A00-2E58-22FB-84C1-00AD43D485D9}"/>
              </a:ext>
            </a:extLst>
          </p:cNvPr>
          <p:cNvSpPr/>
          <p:nvPr/>
        </p:nvSpPr>
        <p:spPr>
          <a:xfrm>
            <a:off x="3405279" y="4082861"/>
            <a:ext cx="161713" cy="178467"/>
          </a:xfrm>
          <a:prstGeom prst="flowChartOr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48664D0B-D4C7-98B0-E484-4B52EB65C623}"/>
              </a:ext>
            </a:extLst>
          </p:cNvPr>
          <p:cNvCxnSpPr>
            <a:cxnSpLocks/>
            <a:stCxn id="26" idx="4"/>
            <a:endCxn id="27" idx="0"/>
          </p:cNvCxnSpPr>
          <p:nvPr/>
        </p:nvCxnSpPr>
        <p:spPr>
          <a:xfrm>
            <a:off x="3482324" y="3121983"/>
            <a:ext cx="3812" cy="960878"/>
          </a:xfrm>
          <a:prstGeom prst="line">
            <a:avLst/>
          </a:prstGeom>
          <a:ln>
            <a:solidFill>
              <a:srgbClr val="000000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5E4FEC13-D80A-BD1D-A797-211AE14EAA09}"/>
              </a:ext>
            </a:extLst>
          </p:cNvPr>
          <p:cNvCxnSpPr>
            <a:cxnSpLocks/>
            <a:stCxn id="27" idx="2"/>
          </p:cNvCxnSpPr>
          <p:nvPr/>
        </p:nvCxnSpPr>
        <p:spPr>
          <a:xfrm flipH="1">
            <a:off x="2079812" y="4172095"/>
            <a:ext cx="1325467" cy="5539"/>
          </a:xfrm>
          <a:prstGeom prst="line">
            <a:avLst/>
          </a:prstGeom>
          <a:ln>
            <a:solidFill>
              <a:srgbClr val="000000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F09FBF29-9712-7657-674C-CA71AA92CE75}"/>
              </a:ext>
            </a:extLst>
          </p:cNvPr>
          <p:cNvCxnSpPr>
            <a:cxnSpLocks/>
            <a:stCxn id="27" idx="6"/>
          </p:cNvCxnSpPr>
          <p:nvPr/>
        </p:nvCxnSpPr>
        <p:spPr>
          <a:xfrm flipV="1">
            <a:off x="3566992" y="4157493"/>
            <a:ext cx="1146051" cy="14602"/>
          </a:xfrm>
          <a:prstGeom prst="line">
            <a:avLst/>
          </a:prstGeom>
          <a:ln>
            <a:solidFill>
              <a:srgbClr val="000000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Flowchart: Or 37">
            <a:extLst>
              <a:ext uri="{FF2B5EF4-FFF2-40B4-BE49-F238E27FC236}">
                <a16:creationId xmlns:a16="http://schemas.microsoft.com/office/drawing/2014/main" id="{9F34C2D9-9C99-8623-02D2-F89029518972}"/>
              </a:ext>
            </a:extLst>
          </p:cNvPr>
          <p:cNvSpPr/>
          <p:nvPr/>
        </p:nvSpPr>
        <p:spPr>
          <a:xfrm>
            <a:off x="3890696" y="4599965"/>
            <a:ext cx="161713" cy="178467"/>
          </a:xfrm>
          <a:prstGeom prst="flowChartOr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64951AE9-16C3-C7EA-CD0F-9BD1A48E0744}"/>
              </a:ext>
            </a:extLst>
          </p:cNvPr>
          <p:cNvCxnSpPr>
            <a:cxnSpLocks/>
            <a:stCxn id="38" idx="2"/>
          </p:cNvCxnSpPr>
          <p:nvPr/>
        </p:nvCxnSpPr>
        <p:spPr>
          <a:xfrm flipH="1">
            <a:off x="2079812" y="4689199"/>
            <a:ext cx="1810884" cy="21226"/>
          </a:xfrm>
          <a:prstGeom prst="line">
            <a:avLst/>
          </a:prstGeom>
          <a:ln>
            <a:solidFill>
              <a:srgbClr val="000000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8C3D6B69-BF87-BC4F-BC0B-870AA3D1D1B2}"/>
              </a:ext>
            </a:extLst>
          </p:cNvPr>
          <p:cNvCxnSpPr>
            <a:cxnSpLocks/>
            <a:stCxn id="38" idx="6"/>
          </p:cNvCxnSpPr>
          <p:nvPr/>
        </p:nvCxnSpPr>
        <p:spPr>
          <a:xfrm flipV="1">
            <a:off x="4052409" y="4683660"/>
            <a:ext cx="660634" cy="5539"/>
          </a:xfrm>
          <a:prstGeom prst="line">
            <a:avLst/>
          </a:prstGeom>
          <a:ln>
            <a:solidFill>
              <a:srgbClr val="000000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Oval 41">
            <a:extLst>
              <a:ext uri="{FF2B5EF4-FFF2-40B4-BE49-F238E27FC236}">
                <a16:creationId xmlns:a16="http://schemas.microsoft.com/office/drawing/2014/main" id="{1C296FA3-D28E-A175-953A-04E5DF345DD8}"/>
              </a:ext>
            </a:extLst>
          </p:cNvPr>
          <p:cNvSpPr/>
          <p:nvPr/>
        </p:nvSpPr>
        <p:spPr>
          <a:xfrm>
            <a:off x="3882742" y="3547627"/>
            <a:ext cx="170113" cy="158543"/>
          </a:xfrm>
          <a:prstGeom prst="ellipse">
            <a:avLst/>
          </a:prstGeom>
          <a:solidFill>
            <a:schemeClr val="tx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2E8D7750-0A5B-C297-7ED7-8DE65D02F7E0}"/>
              </a:ext>
            </a:extLst>
          </p:cNvPr>
          <p:cNvCxnSpPr>
            <a:cxnSpLocks/>
            <a:stCxn id="42" idx="6"/>
          </p:cNvCxnSpPr>
          <p:nvPr/>
        </p:nvCxnSpPr>
        <p:spPr>
          <a:xfrm flipV="1">
            <a:off x="4052855" y="3623850"/>
            <a:ext cx="652621" cy="3049"/>
          </a:xfrm>
          <a:prstGeom prst="line">
            <a:avLst/>
          </a:prstGeom>
          <a:ln>
            <a:solidFill>
              <a:srgbClr val="000000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7D400C72-FED6-3675-C722-6A844121B92F}"/>
              </a:ext>
            </a:extLst>
          </p:cNvPr>
          <p:cNvCxnSpPr>
            <a:cxnSpLocks/>
            <a:stCxn id="26" idx="6"/>
          </p:cNvCxnSpPr>
          <p:nvPr/>
        </p:nvCxnSpPr>
        <p:spPr>
          <a:xfrm>
            <a:off x="3567380" y="3042712"/>
            <a:ext cx="1138096" cy="0"/>
          </a:xfrm>
          <a:prstGeom prst="line">
            <a:avLst/>
          </a:prstGeom>
          <a:ln>
            <a:solidFill>
              <a:srgbClr val="000000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4058CAB4-B8CA-E9D4-663B-C57D9C5F8740}"/>
              </a:ext>
            </a:extLst>
          </p:cNvPr>
          <p:cNvCxnSpPr>
            <a:cxnSpLocks/>
            <a:stCxn id="42" idx="4"/>
            <a:endCxn id="38" idx="0"/>
          </p:cNvCxnSpPr>
          <p:nvPr/>
        </p:nvCxnSpPr>
        <p:spPr>
          <a:xfrm>
            <a:off x="3967799" y="3706170"/>
            <a:ext cx="3754" cy="893795"/>
          </a:xfrm>
          <a:prstGeom prst="line">
            <a:avLst/>
          </a:prstGeom>
          <a:ln>
            <a:solidFill>
              <a:srgbClr val="000000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Straight Connector 55">
            <a:extLst>
              <a:ext uri="{FF2B5EF4-FFF2-40B4-BE49-F238E27FC236}">
                <a16:creationId xmlns:a16="http://schemas.microsoft.com/office/drawing/2014/main" id="{87C1F01D-CC0C-43C3-6CA1-BE4DD94BF625}"/>
              </a:ext>
            </a:extLst>
          </p:cNvPr>
          <p:cNvCxnSpPr>
            <a:cxnSpLocks/>
          </p:cNvCxnSpPr>
          <p:nvPr/>
        </p:nvCxnSpPr>
        <p:spPr>
          <a:xfrm>
            <a:off x="3026522" y="2851742"/>
            <a:ext cx="42528" cy="3334928"/>
          </a:xfrm>
          <a:prstGeom prst="line">
            <a:avLst/>
          </a:prstGeom>
          <a:ln>
            <a:solidFill>
              <a:srgbClr val="000000"/>
            </a:solidFill>
            <a:prstDash val="dash"/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9" name="TextBox 58">
                <a:extLst>
                  <a:ext uri="{FF2B5EF4-FFF2-40B4-BE49-F238E27FC236}">
                    <a16:creationId xmlns:a16="http://schemas.microsoft.com/office/drawing/2014/main" id="{69D006D0-3AF8-58CA-6AAF-51C580F0A1FD}"/>
                  </a:ext>
                </a:extLst>
              </p:cNvPr>
              <p:cNvSpPr txBox="1"/>
              <p:nvPr/>
            </p:nvSpPr>
            <p:spPr>
              <a:xfrm>
                <a:off x="3495066" y="5463295"/>
                <a:ext cx="3286078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|"/>
                          <m:endChr m:val="⟩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𝜓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𝛼</m:t>
                      </m:r>
                      <m:d>
                        <m:dPr>
                          <m:begChr m:val="|"/>
                          <m:endChr m:val="⟩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0000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𝛽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|1110⟩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9" name="TextBox 58">
                <a:extLst>
                  <a:ext uri="{FF2B5EF4-FFF2-40B4-BE49-F238E27FC236}">
                    <a16:creationId xmlns:a16="http://schemas.microsoft.com/office/drawing/2014/main" id="{69D006D0-3AF8-58CA-6AAF-51C580F0A1F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95066" y="5463295"/>
                <a:ext cx="3286078" cy="369332"/>
              </a:xfrm>
              <a:prstGeom prst="rect">
                <a:avLst/>
              </a:prstGeom>
              <a:blipFill>
                <a:blip r:embed="rId8"/>
                <a:stretch>
                  <a:fillRect b="-1475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0" name="Straight Connector 59">
            <a:extLst>
              <a:ext uri="{FF2B5EF4-FFF2-40B4-BE49-F238E27FC236}">
                <a16:creationId xmlns:a16="http://schemas.microsoft.com/office/drawing/2014/main" id="{E9241C12-2C4B-7AD0-8B86-E3D4E65BF0D0}"/>
              </a:ext>
            </a:extLst>
          </p:cNvPr>
          <p:cNvCxnSpPr>
            <a:cxnSpLocks/>
          </p:cNvCxnSpPr>
          <p:nvPr/>
        </p:nvCxnSpPr>
        <p:spPr>
          <a:xfrm>
            <a:off x="3695553" y="2851742"/>
            <a:ext cx="37943" cy="2829816"/>
          </a:xfrm>
          <a:prstGeom prst="line">
            <a:avLst/>
          </a:prstGeom>
          <a:ln>
            <a:solidFill>
              <a:srgbClr val="000000"/>
            </a:solidFill>
            <a:prstDash val="dash"/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2" name="TextBox 61">
                <a:extLst>
                  <a:ext uri="{FF2B5EF4-FFF2-40B4-BE49-F238E27FC236}">
                    <a16:creationId xmlns:a16="http://schemas.microsoft.com/office/drawing/2014/main" id="{1638BCA6-4A12-06CE-EF5D-5B0CB31296EB}"/>
                  </a:ext>
                </a:extLst>
              </p:cNvPr>
              <p:cNvSpPr txBox="1"/>
              <p:nvPr/>
            </p:nvSpPr>
            <p:spPr>
              <a:xfrm>
                <a:off x="4136428" y="4942203"/>
                <a:ext cx="3286078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|"/>
                          <m:endChr m:val="⟩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𝜓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sub>
                          </m:sSub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𝛼</m:t>
                      </m:r>
                      <m:d>
                        <m:dPr>
                          <m:begChr m:val="|"/>
                          <m:endChr m:val="⟩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0000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𝛽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|1111⟩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62" name="TextBox 61">
                <a:extLst>
                  <a:ext uri="{FF2B5EF4-FFF2-40B4-BE49-F238E27FC236}">
                    <a16:creationId xmlns:a16="http://schemas.microsoft.com/office/drawing/2014/main" id="{1638BCA6-4A12-06CE-EF5D-5B0CB31296E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36428" y="4942203"/>
                <a:ext cx="3286078" cy="369332"/>
              </a:xfrm>
              <a:prstGeom prst="rect">
                <a:avLst/>
              </a:prstGeom>
              <a:blipFill>
                <a:blip r:embed="rId9"/>
                <a:stretch>
                  <a:fillRect b="-15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3" name="Straight Connector 62">
            <a:extLst>
              <a:ext uri="{FF2B5EF4-FFF2-40B4-BE49-F238E27FC236}">
                <a16:creationId xmlns:a16="http://schemas.microsoft.com/office/drawing/2014/main" id="{8644B302-4B47-1CF6-9E26-505880006B15}"/>
              </a:ext>
            </a:extLst>
          </p:cNvPr>
          <p:cNvCxnSpPr>
            <a:cxnSpLocks/>
          </p:cNvCxnSpPr>
          <p:nvPr/>
        </p:nvCxnSpPr>
        <p:spPr>
          <a:xfrm>
            <a:off x="4398014" y="2851742"/>
            <a:ext cx="0" cy="2478791"/>
          </a:xfrm>
          <a:prstGeom prst="line">
            <a:avLst/>
          </a:prstGeom>
          <a:ln>
            <a:solidFill>
              <a:srgbClr val="000000"/>
            </a:solidFill>
            <a:prstDash val="dash"/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5" name="TextBox 64">
                <a:extLst>
                  <a:ext uri="{FF2B5EF4-FFF2-40B4-BE49-F238E27FC236}">
                    <a16:creationId xmlns:a16="http://schemas.microsoft.com/office/drawing/2014/main" id="{B9F27D71-F82F-62E0-FE59-2AF5241EB10D}"/>
                  </a:ext>
                </a:extLst>
              </p:cNvPr>
              <p:cNvSpPr txBox="1"/>
              <p:nvPr/>
            </p:nvSpPr>
            <p:spPr>
              <a:xfrm>
                <a:off x="2220195" y="6356317"/>
                <a:ext cx="2891404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|"/>
                          <m:endChr m:val="⟩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𝜓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𝛼</m:t>
                      </m:r>
                      <m:d>
                        <m:dPr>
                          <m:begChr m:val="|"/>
                          <m:endChr m:val="⟩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0000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𝛽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|0000⟩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65" name="TextBox 64">
                <a:extLst>
                  <a:ext uri="{FF2B5EF4-FFF2-40B4-BE49-F238E27FC236}">
                    <a16:creationId xmlns:a16="http://schemas.microsoft.com/office/drawing/2014/main" id="{B9F27D71-F82F-62E0-FE59-2AF5241EB10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20195" y="6356317"/>
                <a:ext cx="2891404" cy="369332"/>
              </a:xfrm>
              <a:prstGeom prst="rect">
                <a:avLst/>
              </a:prstGeom>
              <a:blipFill>
                <a:blip r:embed="rId10"/>
                <a:stretch>
                  <a:fillRect b="-15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6" name="Straight Connector 65">
            <a:extLst>
              <a:ext uri="{FF2B5EF4-FFF2-40B4-BE49-F238E27FC236}">
                <a16:creationId xmlns:a16="http://schemas.microsoft.com/office/drawing/2014/main" id="{12C73D31-0CF9-1595-4946-C2A5DEE1CA7D}"/>
              </a:ext>
            </a:extLst>
          </p:cNvPr>
          <p:cNvCxnSpPr>
            <a:cxnSpLocks/>
          </p:cNvCxnSpPr>
          <p:nvPr/>
        </p:nvCxnSpPr>
        <p:spPr>
          <a:xfrm>
            <a:off x="2245321" y="2846203"/>
            <a:ext cx="33152" cy="3845579"/>
          </a:xfrm>
          <a:prstGeom prst="line">
            <a:avLst/>
          </a:prstGeom>
          <a:ln>
            <a:solidFill>
              <a:srgbClr val="000000"/>
            </a:solidFill>
            <a:prstDash val="dash"/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Straight Connector 68">
            <a:extLst>
              <a:ext uri="{FF2B5EF4-FFF2-40B4-BE49-F238E27FC236}">
                <a16:creationId xmlns:a16="http://schemas.microsoft.com/office/drawing/2014/main" id="{59FC3193-2915-8ECD-33CF-9A8B82F24018}"/>
              </a:ext>
            </a:extLst>
          </p:cNvPr>
          <p:cNvCxnSpPr>
            <a:cxnSpLocks/>
            <a:endCxn id="71" idx="2"/>
          </p:cNvCxnSpPr>
          <p:nvPr/>
        </p:nvCxnSpPr>
        <p:spPr>
          <a:xfrm>
            <a:off x="6858834" y="1332631"/>
            <a:ext cx="529747" cy="0"/>
          </a:xfrm>
          <a:prstGeom prst="line">
            <a:avLst/>
          </a:prstGeom>
          <a:ln>
            <a:solidFill>
              <a:srgbClr val="000000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Straight Connector 69">
            <a:extLst>
              <a:ext uri="{FF2B5EF4-FFF2-40B4-BE49-F238E27FC236}">
                <a16:creationId xmlns:a16="http://schemas.microsoft.com/office/drawing/2014/main" id="{A4C40F0D-8A94-A61E-160C-439F93B89932}"/>
              </a:ext>
            </a:extLst>
          </p:cNvPr>
          <p:cNvCxnSpPr>
            <a:cxnSpLocks/>
            <a:endCxn id="72" idx="2"/>
          </p:cNvCxnSpPr>
          <p:nvPr/>
        </p:nvCxnSpPr>
        <p:spPr>
          <a:xfrm>
            <a:off x="6907640" y="1921810"/>
            <a:ext cx="480941" cy="5539"/>
          </a:xfrm>
          <a:prstGeom prst="line">
            <a:avLst/>
          </a:prstGeom>
          <a:ln>
            <a:solidFill>
              <a:srgbClr val="000000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1" name="Oval 70">
            <a:extLst>
              <a:ext uri="{FF2B5EF4-FFF2-40B4-BE49-F238E27FC236}">
                <a16:creationId xmlns:a16="http://schemas.microsoft.com/office/drawing/2014/main" id="{C22F826F-7796-5FD2-F37A-32863322A7B9}"/>
              </a:ext>
            </a:extLst>
          </p:cNvPr>
          <p:cNvSpPr/>
          <p:nvPr/>
        </p:nvSpPr>
        <p:spPr>
          <a:xfrm>
            <a:off x="7388581" y="1253359"/>
            <a:ext cx="170113" cy="158543"/>
          </a:xfrm>
          <a:prstGeom prst="ellipse">
            <a:avLst/>
          </a:prstGeom>
          <a:solidFill>
            <a:schemeClr val="tx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2" name="Flowchart: Or 71">
            <a:extLst>
              <a:ext uri="{FF2B5EF4-FFF2-40B4-BE49-F238E27FC236}">
                <a16:creationId xmlns:a16="http://schemas.microsoft.com/office/drawing/2014/main" id="{A5D5524D-53EA-CE64-78A6-C9926F0F2B61}"/>
              </a:ext>
            </a:extLst>
          </p:cNvPr>
          <p:cNvSpPr/>
          <p:nvPr/>
        </p:nvSpPr>
        <p:spPr>
          <a:xfrm>
            <a:off x="7388581" y="1838115"/>
            <a:ext cx="161713" cy="178467"/>
          </a:xfrm>
          <a:prstGeom prst="flowChartOr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73" name="Straight Connector 72">
            <a:extLst>
              <a:ext uri="{FF2B5EF4-FFF2-40B4-BE49-F238E27FC236}">
                <a16:creationId xmlns:a16="http://schemas.microsoft.com/office/drawing/2014/main" id="{F46405DE-CA9F-3C68-3FB9-17F7BAAAEB23}"/>
              </a:ext>
            </a:extLst>
          </p:cNvPr>
          <p:cNvCxnSpPr>
            <a:cxnSpLocks/>
            <a:stCxn id="71" idx="4"/>
            <a:endCxn id="72" idx="0"/>
          </p:cNvCxnSpPr>
          <p:nvPr/>
        </p:nvCxnSpPr>
        <p:spPr>
          <a:xfrm flipH="1">
            <a:off x="7469438" y="1411902"/>
            <a:ext cx="4200" cy="426213"/>
          </a:xfrm>
          <a:prstGeom prst="line">
            <a:avLst/>
          </a:prstGeom>
          <a:ln>
            <a:solidFill>
              <a:srgbClr val="000000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Straight Connector 73">
            <a:extLst>
              <a:ext uri="{FF2B5EF4-FFF2-40B4-BE49-F238E27FC236}">
                <a16:creationId xmlns:a16="http://schemas.microsoft.com/office/drawing/2014/main" id="{AB3C5212-61F0-70AA-0EE6-4DD0C8A20B06}"/>
              </a:ext>
            </a:extLst>
          </p:cNvPr>
          <p:cNvCxnSpPr>
            <a:cxnSpLocks/>
            <a:stCxn id="85" idx="2"/>
            <a:endCxn id="72" idx="6"/>
          </p:cNvCxnSpPr>
          <p:nvPr/>
        </p:nvCxnSpPr>
        <p:spPr>
          <a:xfrm flipH="1">
            <a:off x="7550294" y="1924859"/>
            <a:ext cx="1142296" cy="2490"/>
          </a:xfrm>
          <a:prstGeom prst="line">
            <a:avLst/>
          </a:prstGeom>
          <a:ln>
            <a:solidFill>
              <a:srgbClr val="000000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Straight Connector 74">
            <a:extLst>
              <a:ext uri="{FF2B5EF4-FFF2-40B4-BE49-F238E27FC236}">
                <a16:creationId xmlns:a16="http://schemas.microsoft.com/office/drawing/2014/main" id="{07A4581C-40C5-C1E4-D696-B016A398A866}"/>
              </a:ext>
            </a:extLst>
          </p:cNvPr>
          <p:cNvCxnSpPr>
            <a:cxnSpLocks/>
            <a:stCxn id="71" idx="6"/>
            <a:endCxn id="77" idx="2"/>
          </p:cNvCxnSpPr>
          <p:nvPr/>
        </p:nvCxnSpPr>
        <p:spPr>
          <a:xfrm>
            <a:off x="7558694" y="1332631"/>
            <a:ext cx="648421" cy="8041"/>
          </a:xfrm>
          <a:prstGeom prst="line">
            <a:avLst/>
          </a:prstGeom>
          <a:ln>
            <a:solidFill>
              <a:srgbClr val="000000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7" name="Oval 76">
            <a:extLst>
              <a:ext uri="{FF2B5EF4-FFF2-40B4-BE49-F238E27FC236}">
                <a16:creationId xmlns:a16="http://schemas.microsoft.com/office/drawing/2014/main" id="{5C784B7F-2DA2-6D5D-22E6-5DCF93F13F51}"/>
              </a:ext>
            </a:extLst>
          </p:cNvPr>
          <p:cNvSpPr/>
          <p:nvPr/>
        </p:nvSpPr>
        <p:spPr>
          <a:xfrm>
            <a:off x="8207115" y="1261400"/>
            <a:ext cx="170113" cy="158543"/>
          </a:xfrm>
          <a:prstGeom prst="ellipse">
            <a:avLst/>
          </a:prstGeom>
          <a:solidFill>
            <a:schemeClr val="tx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8" name="Flowchart: Or 77">
            <a:extLst>
              <a:ext uri="{FF2B5EF4-FFF2-40B4-BE49-F238E27FC236}">
                <a16:creationId xmlns:a16="http://schemas.microsoft.com/office/drawing/2014/main" id="{137DAFF1-9BA9-15CD-0616-5A91BD3D7F6F}"/>
              </a:ext>
            </a:extLst>
          </p:cNvPr>
          <p:cNvSpPr/>
          <p:nvPr/>
        </p:nvSpPr>
        <p:spPr>
          <a:xfrm>
            <a:off x="8215127" y="2380821"/>
            <a:ext cx="161713" cy="178467"/>
          </a:xfrm>
          <a:prstGeom prst="flowChartOr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79" name="Straight Connector 78">
            <a:extLst>
              <a:ext uri="{FF2B5EF4-FFF2-40B4-BE49-F238E27FC236}">
                <a16:creationId xmlns:a16="http://schemas.microsoft.com/office/drawing/2014/main" id="{848FAD48-E31E-4E02-D95D-BE976F17E8D7}"/>
              </a:ext>
            </a:extLst>
          </p:cNvPr>
          <p:cNvCxnSpPr>
            <a:cxnSpLocks/>
            <a:stCxn id="77" idx="4"/>
            <a:endCxn id="78" idx="0"/>
          </p:cNvCxnSpPr>
          <p:nvPr/>
        </p:nvCxnSpPr>
        <p:spPr>
          <a:xfrm>
            <a:off x="8292172" y="1419943"/>
            <a:ext cx="3812" cy="960878"/>
          </a:xfrm>
          <a:prstGeom prst="line">
            <a:avLst/>
          </a:prstGeom>
          <a:ln>
            <a:solidFill>
              <a:srgbClr val="000000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Straight Connector 79">
            <a:extLst>
              <a:ext uri="{FF2B5EF4-FFF2-40B4-BE49-F238E27FC236}">
                <a16:creationId xmlns:a16="http://schemas.microsoft.com/office/drawing/2014/main" id="{4611D9C5-72B4-B82C-D268-9312B45C6483}"/>
              </a:ext>
            </a:extLst>
          </p:cNvPr>
          <p:cNvCxnSpPr>
            <a:cxnSpLocks/>
            <a:stCxn id="78" idx="2"/>
          </p:cNvCxnSpPr>
          <p:nvPr/>
        </p:nvCxnSpPr>
        <p:spPr>
          <a:xfrm flipH="1">
            <a:off x="6889660" y="2470055"/>
            <a:ext cx="1325467" cy="5539"/>
          </a:xfrm>
          <a:prstGeom prst="line">
            <a:avLst/>
          </a:prstGeom>
          <a:ln>
            <a:solidFill>
              <a:srgbClr val="000000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Straight Connector 80">
            <a:extLst>
              <a:ext uri="{FF2B5EF4-FFF2-40B4-BE49-F238E27FC236}">
                <a16:creationId xmlns:a16="http://schemas.microsoft.com/office/drawing/2014/main" id="{1D625320-3D14-DCDC-0343-557FF2C7C733}"/>
              </a:ext>
            </a:extLst>
          </p:cNvPr>
          <p:cNvCxnSpPr>
            <a:cxnSpLocks/>
            <a:stCxn id="78" idx="6"/>
            <a:endCxn id="104" idx="2"/>
          </p:cNvCxnSpPr>
          <p:nvPr/>
        </p:nvCxnSpPr>
        <p:spPr>
          <a:xfrm flipV="1">
            <a:off x="8376840" y="2452475"/>
            <a:ext cx="1105951" cy="17580"/>
          </a:xfrm>
          <a:prstGeom prst="line">
            <a:avLst/>
          </a:prstGeom>
          <a:ln>
            <a:solidFill>
              <a:srgbClr val="000000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2" name="Flowchart: Or 81">
            <a:extLst>
              <a:ext uri="{FF2B5EF4-FFF2-40B4-BE49-F238E27FC236}">
                <a16:creationId xmlns:a16="http://schemas.microsoft.com/office/drawing/2014/main" id="{609E04EF-D22B-511C-9AEA-B19AC5EEBFBC}"/>
              </a:ext>
            </a:extLst>
          </p:cNvPr>
          <p:cNvSpPr/>
          <p:nvPr/>
        </p:nvSpPr>
        <p:spPr>
          <a:xfrm>
            <a:off x="8700544" y="2897925"/>
            <a:ext cx="161713" cy="178467"/>
          </a:xfrm>
          <a:prstGeom prst="flowChartOr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83" name="Straight Connector 82">
            <a:extLst>
              <a:ext uri="{FF2B5EF4-FFF2-40B4-BE49-F238E27FC236}">
                <a16:creationId xmlns:a16="http://schemas.microsoft.com/office/drawing/2014/main" id="{24018D8A-4223-CF6B-E265-3F5B545EE691}"/>
              </a:ext>
            </a:extLst>
          </p:cNvPr>
          <p:cNvCxnSpPr>
            <a:cxnSpLocks/>
            <a:stCxn id="82" idx="2"/>
          </p:cNvCxnSpPr>
          <p:nvPr/>
        </p:nvCxnSpPr>
        <p:spPr>
          <a:xfrm flipH="1">
            <a:off x="6889660" y="2987159"/>
            <a:ext cx="1810884" cy="21226"/>
          </a:xfrm>
          <a:prstGeom prst="line">
            <a:avLst/>
          </a:prstGeom>
          <a:ln>
            <a:solidFill>
              <a:srgbClr val="000000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Straight Connector 83">
            <a:extLst>
              <a:ext uri="{FF2B5EF4-FFF2-40B4-BE49-F238E27FC236}">
                <a16:creationId xmlns:a16="http://schemas.microsoft.com/office/drawing/2014/main" id="{C465E5C5-FDD9-A289-3A55-FA599F8DFD71}"/>
              </a:ext>
            </a:extLst>
          </p:cNvPr>
          <p:cNvCxnSpPr>
            <a:cxnSpLocks/>
            <a:stCxn id="82" idx="6"/>
            <a:endCxn id="108" idx="2"/>
          </p:cNvCxnSpPr>
          <p:nvPr/>
        </p:nvCxnSpPr>
        <p:spPr>
          <a:xfrm flipV="1">
            <a:off x="8862257" y="2974573"/>
            <a:ext cx="1196112" cy="12586"/>
          </a:xfrm>
          <a:prstGeom prst="line">
            <a:avLst/>
          </a:prstGeom>
          <a:ln>
            <a:solidFill>
              <a:srgbClr val="000000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5" name="Oval 84">
            <a:extLst>
              <a:ext uri="{FF2B5EF4-FFF2-40B4-BE49-F238E27FC236}">
                <a16:creationId xmlns:a16="http://schemas.microsoft.com/office/drawing/2014/main" id="{83567119-28A8-68B7-B157-A98CFB0F4A78}"/>
              </a:ext>
            </a:extLst>
          </p:cNvPr>
          <p:cNvSpPr/>
          <p:nvPr/>
        </p:nvSpPr>
        <p:spPr>
          <a:xfrm>
            <a:off x="8692590" y="1845587"/>
            <a:ext cx="170113" cy="158543"/>
          </a:xfrm>
          <a:prstGeom prst="ellipse">
            <a:avLst/>
          </a:prstGeom>
          <a:solidFill>
            <a:schemeClr val="tx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86" name="Straight Connector 85">
            <a:extLst>
              <a:ext uri="{FF2B5EF4-FFF2-40B4-BE49-F238E27FC236}">
                <a16:creationId xmlns:a16="http://schemas.microsoft.com/office/drawing/2014/main" id="{794270D0-A99D-A26C-8DC7-72FA93765C60}"/>
              </a:ext>
            </a:extLst>
          </p:cNvPr>
          <p:cNvCxnSpPr>
            <a:cxnSpLocks/>
            <a:stCxn id="85" idx="6"/>
          </p:cNvCxnSpPr>
          <p:nvPr/>
        </p:nvCxnSpPr>
        <p:spPr>
          <a:xfrm flipV="1">
            <a:off x="8862703" y="1917215"/>
            <a:ext cx="2979341" cy="7644"/>
          </a:xfrm>
          <a:prstGeom prst="line">
            <a:avLst/>
          </a:prstGeom>
          <a:ln>
            <a:solidFill>
              <a:srgbClr val="000000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Straight Connector 86">
            <a:extLst>
              <a:ext uri="{FF2B5EF4-FFF2-40B4-BE49-F238E27FC236}">
                <a16:creationId xmlns:a16="http://schemas.microsoft.com/office/drawing/2014/main" id="{ABC4532B-0F74-D20E-E1CD-25BDE174D37C}"/>
              </a:ext>
            </a:extLst>
          </p:cNvPr>
          <p:cNvCxnSpPr>
            <a:cxnSpLocks/>
            <a:stCxn id="77" idx="6"/>
          </p:cNvCxnSpPr>
          <p:nvPr/>
        </p:nvCxnSpPr>
        <p:spPr>
          <a:xfrm flipV="1">
            <a:off x="8377228" y="1340671"/>
            <a:ext cx="3464816" cy="1"/>
          </a:xfrm>
          <a:prstGeom prst="line">
            <a:avLst/>
          </a:prstGeom>
          <a:ln>
            <a:solidFill>
              <a:srgbClr val="000000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Straight Connector 87">
            <a:extLst>
              <a:ext uri="{FF2B5EF4-FFF2-40B4-BE49-F238E27FC236}">
                <a16:creationId xmlns:a16="http://schemas.microsoft.com/office/drawing/2014/main" id="{BCDBC5C8-E6D3-32FB-D379-8499611B1005}"/>
              </a:ext>
            </a:extLst>
          </p:cNvPr>
          <p:cNvCxnSpPr>
            <a:cxnSpLocks/>
            <a:stCxn id="85" idx="4"/>
            <a:endCxn id="82" idx="0"/>
          </p:cNvCxnSpPr>
          <p:nvPr/>
        </p:nvCxnSpPr>
        <p:spPr>
          <a:xfrm>
            <a:off x="8777647" y="2004130"/>
            <a:ext cx="3754" cy="893795"/>
          </a:xfrm>
          <a:prstGeom prst="line">
            <a:avLst/>
          </a:prstGeom>
          <a:ln>
            <a:solidFill>
              <a:srgbClr val="000000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Straight Connector 91">
            <a:extLst>
              <a:ext uri="{FF2B5EF4-FFF2-40B4-BE49-F238E27FC236}">
                <a16:creationId xmlns:a16="http://schemas.microsoft.com/office/drawing/2014/main" id="{73A15C86-39D7-743C-46EF-99A257E04448}"/>
              </a:ext>
            </a:extLst>
          </p:cNvPr>
          <p:cNvCxnSpPr>
            <a:cxnSpLocks/>
            <a:endCxn id="93" idx="2"/>
          </p:cNvCxnSpPr>
          <p:nvPr/>
        </p:nvCxnSpPr>
        <p:spPr>
          <a:xfrm flipV="1">
            <a:off x="6907640" y="3569241"/>
            <a:ext cx="2587365" cy="11669"/>
          </a:xfrm>
          <a:prstGeom prst="line">
            <a:avLst/>
          </a:prstGeom>
          <a:ln>
            <a:solidFill>
              <a:srgbClr val="000000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3" name="Flowchart: Or 92">
            <a:extLst>
              <a:ext uri="{FF2B5EF4-FFF2-40B4-BE49-F238E27FC236}">
                <a16:creationId xmlns:a16="http://schemas.microsoft.com/office/drawing/2014/main" id="{7DDA3275-FAE1-5451-1D38-7A0D947370AC}"/>
              </a:ext>
            </a:extLst>
          </p:cNvPr>
          <p:cNvSpPr/>
          <p:nvPr/>
        </p:nvSpPr>
        <p:spPr>
          <a:xfrm>
            <a:off x="9495005" y="3480007"/>
            <a:ext cx="161713" cy="178467"/>
          </a:xfrm>
          <a:prstGeom prst="flowChartOr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94" name="Straight Connector 93">
            <a:extLst>
              <a:ext uri="{FF2B5EF4-FFF2-40B4-BE49-F238E27FC236}">
                <a16:creationId xmlns:a16="http://schemas.microsoft.com/office/drawing/2014/main" id="{BF31A066-6535-F0DE-7043-04D03DB4896F}"/>
              </a:ext>
            </a:extLst>
          </p:cNvPr>
          <p:cNvCxnSpPr>
            <a:cxnSpLocks/>
            <a:stCxn id="101" idx="2"/>
            <a:endCxn id="93" idx="6"/>
          </p:cNvCxnSpPr>
          <p:nvPr/>
        </p:nvCxnSpPr>
        <p:spPr>
          <a:xfrm flipH="1">
            <a:off x="9656718" y="3566751"/>
            <a:ext cx="1176163" cy="2490"/>
          </a:xfrm>
          <a:prstGeom prst="line">
            <a:avLst/>
          </a:prstGeom>
          <a:ln>
            <a:solidFill>
              <a:srgbClr val="000000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5" name="Flowchart: Or 94">
            <a:extLst>
              <a:ext uri="{FF2B5EF4-FFF2-40B4-BE49-F238E27FC236}">
                <a16:creationId xmlns:a16="http://schemas.microsoft.com/office/drawing/2014/main" id="{2AB4B2B7-CF8E-48B6-660F-83DECD31E503}"/>
              </a:ext>
            </a:extLst>
          </p:cNvPr>
          <p:cNvSpPr/>
          <p:nvPr/>
        </p:nvSpPr>
        <p:spPr>
          <a:xfrm>
            <a:off x="10095773" y="4022713"/>
            <a:ext cx="161713" cy="178467"/>
          </a:xfrm>
          <a:prstGeom prst="flowChartOr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96" name="Straight Connector 95">
            <a:extLst>
              <a:ext uri="{FF2B5EF4-FFF2-40B4-BE49-F238E27FC236}">
                <a16:creationId xmlns:a16="http://schemas.microsoft.com/office/drawing/2014/main" id="{8A615083-7409-4769-E43A-14853D457653}"/>
              </a:ext>
            </a:extLst>
          </p:cNvPr>
          <p:cNvCxnSpPr>
            <a:cxnSpLocks/>
            <a:stCxn id="95" idx="2"/>
          </p:cNvCxnSpPr>
          <p:nvPr/>
        </p:nvCxnSpPr>
        <p:spPr>
          <a:xfrm flipH="1" flipV="1">
            <a:off x="6907640" y="4097345"/>
            <a:ext cx="3188133" cy="14602"/>
          </a:xfrm>
          <a:prstGeom prst="line">
            <a:avLst/>
          </a:prstGeom>
          <a:ln>
            <a:solidFill>
              <a:srgbClr val="000000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Straight Connector 96">
            <a:extLst>
              <a:ext uri="{FF2B5EF4-FFF2-40B4-BE49-F238E27FC236}">
                <a16:creationId xmlns:a16="http://schemas.microsoft.com/office/drawing/2014/main" id="{7ED279C3-0D79-A49A-8ABA-DF37836AF152}"/>
              </a:ext>
            </a:extLst>
          </p:cNvPr>
          <p:cNvCxnSpPr>
            <a:cxnSpLocks/>
            <a:stCxn id="95" idx="6"/>
          </p:cNvCxnSpPr>
          <p:nvPr/>
        </p:nvCxnSpPr>
        <p:spPr>
          <a:xfrm flipV="1">
            <a:off x="10257486" y="4111946"/>
            <a:ext cx="1584558" cy="1"/>
          </a:xfrm>
          <a:prstGeom prst="line">
            <a:avLst/>
          </a:prstGeom>
          <a:ln>
            <a:solidFill>
              <a:srgbClr val="000000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8" name="Flowchart: Or 97">
            <a:extLst>
              <a:ext uri="{FF2B5EF4-FFF2-40B4-BE49-F238E27FC236}">
                <a16:creationId xmlns:a16="http://schemas.microsoft.com/office/drawing/2014/main" id="{90362334-72A2-47F6-1EFA-5AD0A3820F53}"/>
              </a:ext>
            </a:extLst>
          </p:cNvPr>
          <p:cNvSpPr/>
          <p:nvPr/>
        </p:nvSpPr>
        <p:spPr>
          <a:xfrm>
            <a:off x="10840835" y="4539817"/>
            <a:ext cx="161713" cy="178467"/>
          </a:xfrm>
          <a:prstGeom prst="flowChartOr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99" name="Straight Connector 98">
            <a:extLst>
              <a:ext uri="{FF2B5EF4-FFF2-40B4-BE49-F238E27FC236}">
                <a16:creationId xmlns:a16="http://schemas.microsoft.com/office/drawing/2014/main" id="{81D7F122-8907-C70B-2364-443D567C37C0}"/>
              </a:ext>
            </a:extLst>
          </p:cNvPr>
          <p:cNvCxnSpPr>
            <a:cxnSpLocks/>
            <a:stCxn id="98" idx="2"/>
          </p:cNvCxnSpPr>
          <p:nvPr/>
        </p:nvCxnSpPr>
        <p:spPr>
          <a:xfrm flipH="1" flipV="1">
            <a:off x="6907640" y="4599965"/>
            <a:ext cx="3933195" cy="29086"/>
          </a:xfrm>
          <a:prstGeom prst="line">
            <a:avLst/>
          </a:prstGeom>
          <a:ln>
            <a:solidFill>
              <a:srgbClr val="000000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" name="Straight Connector 99">
            <a:extLst>
              <a:ext uri="{FF2B5EF4-FFF2-40B4-BE49-F238E27FC236}">
                <a16:creationId xmlns:a16="http://schemas.microsoft.com/office/drawing/2014/main" id="{1AEB7357-D45B-47D6-03E6-DDE48AE370BA}"/>
              </a:ext>
            </a:extLst>
          </p:cNvPr>
          <p:cNvCxnSpPr>
            <a:cxnSpLocks/>
            <a:stCxn id="98" idx="6"/>
          </p:cNvCxnSpPr>
          <p:nvPr/>
        </p:nvCxnSpPr>
        <p:spPr>
          <a:xfrm flipV="1">
            <a:off x="11002548" y="4629050"/>
            <a:ext cx="839496" cy="1"/>
          </a:xfrm>
          <a:prstGeom prst="line">
            <a:avLst/>
          </a:prstGeom>
          <a:ln>
            <a:solidFill>
              <a:srgbClr val="000000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1" name="Oval 100">
            <a:extLst>
              <a:ext uri="{FF2B5EF4-FFF2-40B4-BE49-F238E27FC236}">
                <a16:creationId xmlns:a16="http://schemas.microsoft.com/office/drawing/2014/main" id="{1AB19ED7-FCF9-7418-49C7-5ACAA94DB580}"/>
              </a:ext>
            </a:extLst>
          </p:cNvPr>
          <p:cNvSpPr/>
          <p:nvPr/>
        </p:nvSpPr>
        <p:spPr>
          <a:xfrm>
            <a:off x="10832881" y="3487479"/>
            <a:ext cx="170113" cy="158543"/>
          </a:xfrm>
          <a:prstGeom prst="ellipse">
            <a:avLst/>
          </a:prstGeom>
          <a:solidFill>
            <a:schemeClr val="tx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02" name="Straight Connector 101">
            <a:extLst>
              <a:ext uri="{FF2B5EF4-FFF2-40B4-BE49-F238E27FC236}">
                <a16:creationId xmlns:a16="http://schemas.microsoft.com/office/drawing/2014/main" id="{75C75627-A86A-C423-D347-67386C805F4F}"/>
              </a:ext>
            </a:extLst>
          </p:cNvPr>
          <p:cNvCxnSpPr>
            <a:cxnSpLocks/>
            <a:stCxn id="101" idx="6"/>
          </p:cNvCxnSpPr>
          <p:nvPr/>
        </p:nvCxnSpPr>
        <p:spPr>
          <a:xfrm flipV="1">
            <a:off x="11002994" y="3547627"/>
            <a:ext cx="839050" cy="19124"/>
          </a:xfrm>
          <a:prstGeom prst="line">
            <a:avLst/>
          </a:prstGeom>
          <a:ln>
            <a:solidFill>
              <a:srgbClr val="000000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" name="Straight Connector 102">
            <a:extLst>
              <a:ext uri="{FF2B5EF4-FFF2-40B4-BE49-F238E27FC236}">
                <a16:creationId xmlns:a16="http://schemas.microsoft.com/office/drawing/2014/main" id="{66B3521C-AA44-90DD-9F93-A3BE2A888405}"/>
              </a:ext>
            </a:extLst>
          </p:cNvPr>
          <p:cNvCxnSpPr>
            <a:cxnSpLocks/>
            <a:stCxn id="101" idx="4"/>
            <a:endCxn id="98" idx="0"/>
          </p:cNvCxnSpPr>
          <p:nvPr/>
        </p:nvCxnSpPr>
        <p:spPr>
          <a:xfrm>
            <a:off x="10917938" y="3646022"/>
            <a:ext cx="3754" cy="893795"/>
          </a:xfrm>
          <a:prstGeom prst="line">
            <a:avLst/>
          </a:prstGeom>
          <a:ln>
            <a:solidFill>
              <a:srgbClr val="000000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4" name="Oval 103">
            <a:extLst>
              <a:ext uri="{FF2B5EF4-FFF2-40B4-BE49-F238E27FC236}">
                <a16:creationId xmlns:a16="http://schemas.microsoft.com/office/drawing/2014/main" id="{DC7780B3-CA6C-EA45-8C2C-978B205F971A}"/>
              </a:ext>
            </a:extLst>
          </p:cNvPr>
          <p:cNvSpPr/>
          <p:nvPr/>
        </p:nvSpPr>
        <p:spPr>
          <a:xfrm>
            <a:off x="9482791" y="2373203"/>
            <a:ext cx="170113" cy="158543"/>
          </a:xfrm>
          <a:prstGeom prst="ellipse">
            <a:avLst/>
          </a:prstGeom>
          <a:solidFill>
            <a:schemeClr val="tx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05" name="Straight Connector 104">
            <a:extLst>
              <a:ext uri="{FF2B5EF4-FFF2-40B4-BE49-F238E27FC236}">
                <a16:creationId xmlns:a16="http://schemas.microsoft.com/office/drawing/2014/main" id="{6EFBDD82-F88F-F59E-FB23-DDDECA8F7234}"/>
              </a:ext>
            </a:extLst>
          </p:cNvPr>
          <p:cNvCxnSpPr>
            <a:cxnSpLocks/>
            <a:stCxn id="104" idx="4"/>
            <a:endCxn id="93" idx="0"/>
          </p:cNvCxnSpPr>
          <p:nvPr/>
        </p:nvCxnSpPr>
        <p:spPr>
          <a:xfrm>
            <a:off x="9567848" y="2531746"/>
            <a:ext cx="8014" cy="948261"/>
          </a:xfrm>
          <a:prstGeom prst="line">
            <a:avLst/>
          </a:prstGeom>
          <a:ln>
            <a:solidFill>
              <a:srgbClr val="000000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8" name="Oval 107">
            <a:extLst>
              <a:ext uri="{FF2B5EF4-FFF2-40B4-BE49-F238E27FC236}">
                <a16:creationId xmlns:a16="http://schemas.microsoft.com/office/drawing/2014/main" id="{B4DDD924-E243-B03E-6176-4BAFB4C95C82}"/>
              </a:ext>
            </a:extLst>
          </p:cNvPr>
          <p:cNvSpPr/>
          <p:nvPr/>
        </p:nvSpPr>
        <p:spPr>
          <a:xfrm>
            <a:off x="10058369" y="2895301"/>
            <a:ext cx="170113" cy="158543"/>
          </a:xfrm>
          <a:prstGeom prst="ellipse">
            <a:avLst/>
          </a:prstGeom>
          <a:solidFill>
            <a:schemeClr val="tx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12" name="Straight Connector 111">
            <a:extLst>
              <a:ext uri="{FF2B5EF4-FFF2-40B4-BE49-F238E27FC236}">
                <a16:creationId xmlns:a16="http://schemas.microsoft.com/office/drawing/2014/main" id="{2FB6A9FB-8047-AB8B-ABE7-AFBD65B5C83A}"/>
              </a:ext>
            </a:extLst>
          </p:cNvPr>
          <p:cNvCxnSpPr>
            <a:cxnSpLocks/>
            <a:stCxn id="104" idx="6"/>
          </p:cNvCxnSpPr>
          <p:nvPr/>
        </p:nvCxnSpPr>
        <p:spPr>
          <a:xfrm flipV="1">
            <a:off x="9652904" y="2436424"/>
            <a:ext cx="2189140" cy="16051"/>
          </a:xfrm>
          <a:prstGeom prst="line">
            <a:avLst/>
          </a:prstGeom>
          <a:ln>
            <a:solidFill>
              <a:srgbClr val="000000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5" name="Straight Connector 114">
            <a:extLst>
              <a:ext uri="{FF2B5EF4-FFF2-40B4-BE49-F238E27FC236}">
                <a16:creationId xmlns:a16="http://schemas.microsoft.com/office/drawing/2014/main" id="{F4DD0E3D-87F4-A2EC-98BC-184F2A135883}"/>
              </a:ext>
            </a:extLst>
          </p:cNvPr>
          <p:cNvCxnSpPr>
            <a:cxnSpLocks/>
            <a:stCxn id="108" idx="6"/>
          </p:cNvCxnSpPr>
          <p:nvPr/>
        </p:nvCxnSpPr>
        <p:spPr>
          <a:xfrm>
            <a:off x="10228482" y="2974573"/>
            <a:ext cx="1613562" cy="6006"/>
          </a:xfrm>
          <a:prstGeom prst="line">
            <a:avLst/>
          </a:prstGeom>
          <a:ln>
            <a:solidFill>
              <a:srgbClr val="000000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2" name="Straight Connector 121">
            <a:extLst>
              <a:ext uri="{FF2B5EF4-FFF2-40B4-BE49-F238E27FC236}">
                <a16:creationId xmlns:a16="http://schemas.microsoft.com/office/drawing/2014/main" id="{FED3145D-9A82-B2B9-CFDE-F7F09F0104FA}"/>
              </a:ext>
            </a:extLst>
          </p:cNvPr>
          <p:cNvCxnSpPr>
            <a:cxnSpLocks/>
            <a:stCxn id="108" idx="4"/>
            <a:endCxn id="95" idx="0"/>
          </p:cNvCxnSpPr>
          <p:nvPr/>
        </p:nvCxnSpPr>
        <p:spPr>
          <a:xfrm>
            <a:off x="10143426" y="3053844"/>
            <a:ext cx="33204" cy="968869"/>
          </a:xfrm>
          <a:prstGeom prst="line">
            <a:avLst/>
          </a:prstGeom>
          <a:ln>
            <a:solidFill>
              <a:srgbClr val="000000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40" name="TextBox 139">
                <a:extLst>
                  <a:ext uri="{FF2B5EF4-FFF2-40B4-BE49-F238E27FC236}">
                    <a16:creationId xmlns:a16="http://schemas.microsoft.com/office/drawing/2014/main" id="{95763B83-8632-9609-F5C1-1776E557F5A2}"/>
                  </a:ext>
                </a:extLst>
              </p:cNvPr>
              <p:cNvSpPr txBox="1"/>
              <p:nvPr/>
            </p:nvSpPr>
            <p:spPr>
              <a:xfrm>
                <a:off x="1621148" y="3838525"/>
                <a:ext cx="580222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|"/>
                          <m:endChr m:val="⟩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40" name="TextBox 139">
                <a:extLst>
                  <a:ext uri="{FF2B5EF4-FFF2-40B4-BE49-F238E27FC236}">
                    <a16:creationId xmlns:a16="http://schemas.microsoft.com/office/drawing/2014/main" id="{95763B83-8632-9609-F5C1-1776E557F5A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21148" y="3838525"/>
                <a:ext cx="580222" cy="369332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1" name="TextBox 140">
                <a:extLst>
                  <a:ext uri="{FF2B5EF4-FFF2-40B4-BE49-F238E27FC236}">
                    <a16:creationId xmlns:a16="http://schemas.microsoft.com/office/drawing/2014/main" id="{3C8F7FA3-DFC5-F778-5838-A442084F5668}"/>
                  </a:ext>
                </a:extLst>
              </p:cNvPr>
              <p:cNvSpPr txBox="1"/>
              <p:nvPr/>
            </p:nvSpPr>
            <p:spPr>
              <a:xfrm>
                <a:off x="1615887" y="4330107"/>
                <a:ext cx="580222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|"/>
                          <m:endChr m:val="⟩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41" name="TextBox 140">
                <a:extLst>
                  <a:ext uri="{FF2B5EF4-FFF2-40B4-BE49-F238E27FC236}">
                    <a16:creationId xmlns:a16="http://schemas.microsoft.com/office/drawing/2014/main" id="{3C8F7FA3-DFC5-F778-5838-A442084F566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15887" y="4330107"/>
                <a:ext cx="580222" cy="369332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2" name="TextBox 141">
                <a:extLst>
                  <a:ext uri="{FF2B5EF4-FFF2-40B4-BE49-F238E27FC236}">
                    <a16:creationId xmlns:a16="http://schemas.microsoft.com/office/drawing/2014/main" id="{48BA041E-7FFE-6DAB-D88C-3FD3559D95C9}"/>
                  </a:ext>
                </a:extLst>
              </p:cNvPr>
              <p:cNvSpPr txBox="1"/>
              <p:nvPr/>
            </p:nvSpPr>
            <p:spPr>
              <a:xfrm>
                <a:off x="5337341" y="980812"/>
                <a:ext cx="2132096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|"/>
                          <m:endChr m:val="⟩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𝜓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𝛼</m:t>
                      </m:r>
                      <m:d>
                        <m:dPr>
                          <m:begChr m:val="|"/>
                          <m:endChr m:val="⟩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𝛽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|1⟩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42" name="TextBox 141">
                <a:extLst>
                  <a:ext uri="{FF2B5EF4-FFF2-40B4-BE49-F238E27FC236}">
                    <a16:creationId xmlns:a16="http://schemas.microsoft.com/office/drawing/2014/main" id="{48BA041E-7FFE-6DAB-D88C-3FD3559D95C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37341" y="980812"/>
                <a:ext cx="2132096" cy="369332"/>
              </a:xfrm>
              <a:prstGeom prst="rect">
                <a:avLst/>
              </a:prstGeom>
              <a:blipFill>
                <a:blip r:embed="rId13"/>
                <a:stretch>
                  <a:fillRect b="-15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8944741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CF3939-FDDF-A5A1-F271-B12667215F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Quantum Circuit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AECCC07-3953-E5B6-5962-50551E14A011}"/>
                  </a:ext>
                </a:extLst>
              </p:cNvPr>
              <p:cNvSpPr>
                <a:spLocks noGrp="1"/>
              </p:cNvSpPr>
              <p:nvPr>
                <p:ph sz="quarter" idx="1"/>
              </p:nvPr>
            </p:nvSpPr>
            <p:spPr>
              <a:xfrm>
                <a:off x="5358474" y="2499199"/>
                <a:ext cx="6607350" cy="3462227"/>
              </a:xfrm>
            </p:spPr>
            <p:txBody>
              <a:bodyPr/>
              <a:lstStyle/>
              <a:p>
                <a:r>
                  <a:rPr lang="en-US" dirty="0"/>
                  <a:t>What kind of gates do we need?</a:t>
                </a:r>
              </a:p>
              <a:p>
                <a:r>
                  <a:rPr lang="en-US" dirty="0"/>
                  <a:t>For classical circuits, NAND gate is Universal.</a:t>
                </a:r>
              </a:p>
              <a:p>
                <a:r>
                  <a:rPr lang="en-US" dirty="0"/>
                  <a:t>Is there a family of gates that are Universal?</a:t>
                </a:r>
              </a:p>
              <a:p>
                <a:pPr lvl="1"/>
                <a:r>
                  <a:rPr lang="en-US" dirty="0"/>
                  <a:t>E.g., CNOT, H, X, Z,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f>
                          <m:fPr>
                            <m:type m:val="skw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𝜋</m:t>
                            </m:r>
                          </m:num>
                          <m:den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8</m:t>
                            </m:r>
                          </m:den>
                        </m:f>
                      </m:sub>
                    </m:sSub>
                  </m:oMath>
                </a14:m>
                <a:endParaRPr lang="en-US" dirty="0"/>
              </a:p>
              <a:p>
                <a:pPr lvl="1"/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AECCC07-3953-E5B6-5962-50551E14A01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xfrm>
                <a:off x="5358474" y="2499199"/>
                <a:ext cx="6607350" cy="3462227"/>
              </a:xfrm>
              <a:blipFill>
                <a:blip r:embed="rId2"/>
                <a:stretch>
                  <a:fillRect l="-923" t="-1761" b="-123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4ED84465-8916-A7FB-B78F-2FFAE8479009}"/>
              </a:ext>
            </a:extLst>
          </p:cNvPr>
          <p:cNvCxnSpPr>
            <a:cxnSpLocks/>
            <a:endCxn id="5" idx="1"/>
          </p:cNvCxnSpPr>
          <p:nvPr/>
        </p:nvCxnSpPr>
        <p:spPr>
          <a:xfrm flipV="1">
            <a:off x="550841" y="1466448"/>
            <a:ext cx="651541" cy="9838"/>
          </a:xfrm>
          <a:prstGeom prst="line">
            <a:avLst/>
          </a:prstGeom>
          <a:ln>
            <a:solidFill>
              <a:srgbClr val="000000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ectangle: Rounded Corners 14">
            <a:extLst>
              <a:ext uri="{FF2B5EF4-FFF2-40B4-BE49-F238E27FC236}">
                <a16:creationId xmlns:a16="http://schemas.microsoft.com/office/drawing/2014/main" id="{37D43474-E6D1-6E9F-6253-569D58DDEE17}"/>
              </a:ext>
            </a:extLst>
          </p:cNvPr>
          <p:cNvSpPr/>
          <p:nvPr/>
        </p:nvSpPr>
        <p:spPr>
          <a:xfrm>
            <a:off x="1202382" y="1281782"/>
            <a:ext cx="335980" cy="369332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H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179A1BE6-EF04-9E90-93ED-712FF6A3D752}"/>
                  </a:ext>
                </a:extLst>
              </p:cNvPr>
              <p:cNvSpPr txBox="1"/>
              <p:nvPr/>
            </p:nvSpPr>
            <p:spPr>
              <a:xfrm>
                <a:off x="214507" y="1111419"/>
                <a:ext cx="33598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|0⟩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179A1BE6-EF04-9E90-93ED-712FF6A3D75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4507" y="1111419"/>
                <a:ext cx="335980" cy="369332"/>
              </a:xfrm>
              <a:prstGeom prst="rect">
                <a:avLst/>
              </a:prstGeom>
              <a:blipFill>
                <a:blip r:embed="rId3"/>
                <a:stretch>
                  <a:fillRect l="-5455" r="-45455" b="-1475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42A0DB67-597B-9452-49E3-F07549114E04}"/>
              </a:ext>
            </a:extLst>
          </p:cNvPr>
          <p:cNvCxnSpPr>
            <a:cxnSpLocks/>
          </p:cNvCxnSpPr>
          <p:nvPr/>
        </p:nvCxnSpPr>
        <p:spPr>
          <a:xfrm flipV="1">
            <a:off x="569310" y="2099201"/>
            <a:ext cx="651541" cy="9838"/>
          </a:xfrm>
          <a:prstGeom prst="line">
            <a:avLst/>
          </a:prstGeom>
          <a:ln>
            <a:solidFill>
              <a:srgbClr val="000000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454D50D7-6D25-E309-7F9F-694633D7A69B}"/>
              </a:ext>
            </a:extLst>
          </p:cNvPr>
          <p:cNvCxnSpPr>
            <a:cxnSpLocks/>
          </p:cNvCxnSpPr>
          <p:nvPr/>
        </p:nvCxnSpPr>
        <p:spPr>
          <a:xfrm flipV="1">
            <a:off x="567703" y="2303926"/>
            <a:ext cx="651541" cy="9838"/>
          </a:xfrm>
          <a:prstGeom prst="line">
            <a:avLst/>
          </a:prstGeom>
          <a:ln>
            <a:solidFill>
              <a:srgbClr val="000000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tangle: Rounded Corners 14">
            <a:extLst>
              <a:ext uri="{FF2B5EF4-FFF2-40B4-BE49-F238E27FC236}">
                <a16:creationId xmlns:a16="http://schemas.microsoft.com/office/drawing/2014/main" id="{2D044CC1-4626-415C-39F3-CE5924DE399A}"/>
              </a:ext>
            </a:extLst>
          </p:cNvPr>
          <p:cNvSpPr/>
          <p:nvPr/>
        </p:nvSpPr>
        <p:spPr>
          <a:xfrm>
            <a:off x="1219244" y="1934594"/>
            <a:ext cx="982090" cy="564605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CNOT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D7285931-C66E-4C26-E423-E6F923F144E8}"/>
              </a:ext>
            </a:extLst>
          </p:cNvPr>
          <p:cNvCxnSpPr>
            <a:cxnSpLocks/>
            <a:endCxn id="12" idx="1"/>
          </p:cNvCxnSpPr>
          <p:nvPr/>
        </p:nvCxnSpPr>
        <p:spPr>
          <a:xfrm flipV="1">
            <a:off x="500612" y="2970279"/>
            <a:ext cx="651541" cy="9838"/>
          </a:xfrm>
          <a:prstGeom prst="line">
            <a:avLst/>
          </a:prstGeom>
          <a:ln>
            <a:solidFill>
              <a:srgbClr val="000000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: Rounded Corners 14">
            <a:extLst>
              <a:ext uri="{FF2B5EF4-FFF2-40B4-BE49-F238E27FC236}">
                <a16:creationId xmlns:a16="http://schemas.microsoft.com/office/drawing/2014/main" id="{9CCB8872-1CA6-3D6E-D484-4A963A645402}"/>
              </a:ext>
            </a:extLst>
          </p:cNvPr>
          <p:cNvSpPr/>
          <p:nvPr/>
        </p:nvSpPr>
        <p:spPr>
          <a:xfrm>
            <a:off x="1152153" y="2785613"/>
            <a:ext cx="335980" cy="369332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Z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17DADC6E-13F0-323F-4CAA-30E780DFCE6D}"/>
              </a:ext>
            </a:extLst>
          </p:cNvPr>
          <p:cNvCxnSpPr>
            <a:cxnSpLocks/>
            <a:endCxn id="14" idx="1"/>
          </p:cNvCxnSpPr>
          <p:nvPr/>
        </p:nvCxnSpPr>
        <p:spPr>
          <a:xfrm flipV="1">
            <a:off x="550841" y="3987958"/>
            <a:ext cx="651541" cy="9838"/>
          </a:xfrm>
          <a:prstGeom prst="line">
            <a:avLst/>
          </a:prstGeom>
          <a:ln>
            <a:solidFill>
              <a:srgbClr val="000000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: Rounded Corners 14">
            <a:extLst>
              <a:ext uri="{FF2B5EF4-FFF2-40B4-BE49-F238E27FC236}">
                <a16:creationId xmlns:a16="http://schemas.microsoft.com/office/drawing/2014/main" id="{046C48C3-B849-7AA0-75BD-E8AA9E99968F}"/>
              </a:ext>
            </a:extLst>
          </p:cNvPr>
          <p:cNvSpPr/>
          <p:nvPr/>
        </p:nvSpPr>
        <p:spPr>
          <a:xfrm>
            <a:off x="1202382" y="3803292"/>
            <a:ext cx="335980" cy="369332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X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1BE1EF48-4F99-9771-9472-D33E07997A9E}"/>
              </a:ext>
            </a:extLst>
          </p:cNvPr>
          <p:cNvCxnSpPr>
            <a:cxnSpLocks/>
            <a:stCxn id="14" idx="3"/>
            <a:endCxn id="16" idx="1"/>
          </p:cNvCxnSpPr>
          <p:nvPr/>
        </p:nvCxnSpPr>
        <p:spPr>
          <a:xfrm>
            <a:off x="1538362" y="3987958"/>
            <a:ext cx="662972" cy="0"/>
          </a:xfrm>
          <a:prstGeom prst="line">
            <a:avLst/>
          </a:prstGeom>
          <a:ln>
            <a:solidFill>
              <a:srgbClr val="000000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ectangle: Rounded Corners 14">
            <a:extLst>
              <a:ext uri="{FF2B5EF4-FFF2-40B4-BE49-F238E27FC236}">
                <a16:creationId xmlns:a16="http://schemas.microsoft.com/office/drawing/2014/main" id="{32F95A2E-F37B-B17C-2607-2DEDE0DB9ECF}"/>
              </a:ext>
            </a:extLst>
          </p:cNvPr>
          <p:cNvSpPr/>
          <p:nvPr/>
        </p:nvSpPr>
        <p:spPr>
          <a:xfrm>
            <a:off x="2201334" y="3803292"/>
            <a:ext cx="335980" cy="369332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Z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2C224BBD-835F-7176-98B1-24521A27439D}"/>
              </a:ext>
            </a:extLst>
          </p:cNvPr>
          <p:cNvCxnSpPr>
            <a:cxnSpLocks/>
          </p:cNvCxnSpPr>
          <p:nvPr/>
        </p:nvCxnSpPr>
        <p:spPr>
          <a:xfrm flipV="1">
            <a:off x="3049233" y="3929952"/>
            <a:ext cx="651541" cy="9838"/>
          </a:xfrm>
          <a:prstGeom prst="line">
            <a:avLst/>
          </a:prstGeom>
          <a:ln>
            <a:solidFill>
              <a:srgbClr val="000000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ctangle: Rounded Corners 14">
            <a:extLst>
              <a:ext uri="{FF2B5EF4-FFF2-40B4-BE49-F238E27FC236}">
                <a16:creationId xmlns:a16="http://schemas.microsoft.com/office/drawing/2014/main" id="{BCC9FB08-F340-81BF-E435-3224642091C4}"/>
              </a:ext>
            </a:extLst>
          </p:cNvPr>
          <p:cNvSpPr/>
          <p:nvPr/>
        </p:nvSpPr>
        <p:spPr>
          <a:xfrm>
            <a:off x="3823702" y="1884672"/>
            <a:ext cx="335980" cy="369332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Z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AEBE5659-39BC-EE07-7DD3-486BF9F6AD65}"/>
              </a:ext>
            </a:extLst>
          </p:cNvPr>
          <p:cNvCxnSpPr>
            <a:cxnSpLocks/>
          </p:cNvCxnSpPr>
          <p:nvPr/>
        </p:nvCxnSpPr>
        <p:spPr>
          <a:xfrm flipV="1">
            <a:off x="1549793" y="1456610"/>
            <a:ext cx="651541" cy="9838"/>
          </a:xfrm>
          <a:prstGeom prst="line">
            <a:avLst/>
          </a:prstGeom>
          <a:ln>
            <a:solidFill>
              <a:srgbClr val="000000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BAA49117-D17D-2264-FB24-BA5DE6C037A2}"/>
              </a:ext>
            </a:extLst>
          </p:cNvPr>
          <p:cNvCxnSpPr>
            <a:cxnSpLocks/>
          </p:cNvCxnSpPr>
          <p:nvPr/>
        </p:nvCxnSpPr>
        <p:spPr>
          <a:xfrm flipV="1">
            <a:off x="1511049" y="2955207"/>
            <a:ext cx="1026265" cy="4919"/>
          </a:xfrm>
          <a:prstGeom prst="line">
            <a:avLst/>
          </a:prstGeom>
          <a:ln>
            <a:solidFill>
              <a:srgbClr val="000000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0457610A-3F6B-E268-0E2D-B295620D7436}"/>
              </a:ext>
            </a:extLst>
          </p:cNvPr>
          <p:cNvCxnSpPr>
            <a:cxnSpLocks/>
          </p:cNvCxnSpPr>
          <p:nvPr/>
        </p:nvCxnSpPr>
        <p:spPr>
          <a:xfrm>
            <a:off x="2211543" y="2069338"/>
            <a:ext cx="325771" cy="0"/>
          </a:xfrm>
          <a:prstGeom prst="line">
            <a:avLst/>
          </a:prstGeom>
          <a:ln>
            <a:solidFill>
              <a:srgbClr val="000000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0B811402-0C19-F02B-752B-23D9E3AE13B5}"/>
              </a:ext>
            </a:extLst>
          </p:cNvPr>
          <p:cNvCxnSpPr>
            <a:cxnSpLocks/>
          </p:cNvCxnSpPr>
          <p:nvPr/>
        </p:nvCxnSpPr>
        <p:spPr>
          <a:xfrm>
            <a:off x="2209936" y="2274063"/>
            <a:ext cx="327378" cy="0"/>
          </a:xfrm>
          <a:prstGeom prst="line">
            <a:avLst/>
          </a:prstGeom>
          <a:ln>
            <a:solidFill>
              <a:srgbClr val="000000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ectangle: Rounded Corners 14">
            <a:extLst>
              <a:ext uri="{FF2B5EF4-FFF2-40B4-BE49-F238E27FC236}">
                <a16:creationId xmlns:a16="http://schemas.microsoft.com/office/drawing/2014/main" id="{E887A14A-8308-66C1-7606-C9CE98B79AD4}"/>
              </a:ext>
            </a:extLst>
          </p:cNvPr>
          <p:cNvSpPr/>
          <p:nvPr/>
        </p:nvSpPr>
        <p:spPr>
          <a:xfrm>
            <a:off x="2569384" y="1862082"/>
            <a:ext cx="501194" cy="1283025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0" name="Rectangle: Rounded Corners 14">
            <a:extLst>
              <a:ext uri="{FF2B5EF4-FFF2-40B4-BE49-F238E27FC236}">
                <a16:creationId xmlns:a16="http://schemas.microsoft.com/office/drawing/2014/main" id="{E003DD37-4FDE-FA15-8F99-DE6612CD71B1}"/>
              </a:ext>
            </a:extLst>
          </p:cNvPr>
          <p:cNvSpPr/>
          <p:nvPr/>
        </p:nvSpPr>
        <p:spPr>
          <a:xfrm>
            <a:off x="2201334" y="1294075"/>
            <a:ext cx="335980" cy="369332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X</a:t>
            </a:r>
          </a:p>
        </p:txBody>
      </p: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CF4D466D-C53A-05A8-6CDC-6243F3D4FB31}"/>
              </a:ext>
            </a:extLst>
          </p:cNvPr>
          <p:cNvCxnSpPr>
            <a:cxnSpLocks/>
          </p:cNvCxnSpPr>
          <p:nvPr/>
        </p:nvCxnSpPr>
        <p:spPr>
          <a:xfrm flipV="1">
            <a:off x="2529637" y="1438961"/>
            <a:ext cx="651541" cy="9838"/>
          </a:xfrm>
          <a:prstGeom prst="line">
            <a:avLst/>
          </a:prstGeom>
          <a:ln>
            <a:solidFill>
              <a:srgbClr val="000000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ectangle: Rounded Corners 14">
            <a:extLst>
              <a:ext uri="{FF2B5EF4-FFF2-40B4-BE49-F238E27FC236}">
                <a16:creationId xmlns:a16="http://schemas.microsoft.com/office/drawing/2014/main" id="{18818DCE-9850-F9F1-B192-9F8ACED80844}"/>
              </a:ext>
            </a:extLst>
          </p:cNvPr>
          <p:cNvSpPr/>
          <p:nvPr/>
        </p:nvSpPr>
        <p:spPr>
          <a:xfrm>
            <a:off x="3722119" y="2955207"/>
            <a:ext cx="501194" cy="1283025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9C949924-2FFF-BB9A-D123-6CE717E17348}"/>
              </a:ext>
            </a:extLst>
          </p:cNvPr>
          <p:cNvCxnSpPr>
            <a:cxnSpLocks/>
          </p:cNvCxnSpPr>
          <p:nvPr/>
        </p:nvCxnSpPr>
        <p:spPr>
          <a:xfrm flipV="1">
            <a:off x="3070575" y="3255487"/>
            <a:ext cx="651541" cy="9838"/>
          </a:xfrm>
          <a:prstGeom prst="line">
            <a:avLst/>
          </a:prstGeom>
          <a:ln>
            <a:solidFill>
              <a:srgbClr val="000000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D023D47A-676E-F7B7-BC63-98329922763B}"/>
              </a:ext>
            </a:extLst>
          </p:cNvPr>
          <p:cNvCxnSpPr>
            <a:cxnSpLocks/>
          </p:cNvCxnSpPr>
          <p:nvPr/>
        </p:nvCxnSpPr>
        <p:spPr>
          <a:xfrm flipV="1">
            <a:off x="3070575" y="3501504"/>
            <a:ext cx="651541" cy="9838"/>
          </a:xfrm>
          <a:prstGeom prst="line">
            <a:avLst/>
          </a:prstGeom>
          <a:ln>
            <a:solidFill>
              <a:srgbClr val="000000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91F45903-F8DD-03C1-F538-FBDBB23F0902}"/>
              </a:ext>
            </a:extLst>
          </p:cNvPr>
          <p:cNvCxnSpPr>
            <a:cxnSpLocks/>
          </p:cNvCxnSpPr>
          <p:nvPr/>
        </p:nvCxnSpPr>
        <p:spPr>
          <a:xfrm flipV="1">
            <a:off x="3070575" y="3720647"/>
            <a:ext cx="651541" cy="9838"/>
          </a:xfrm>
          <a:prstGeom prst="line">
            <a:avLst/>
          </a:prstGeom>
          <a:ln>
            <a:solidFill>
              <a:srgbClr val="000000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2EA31945-CBAC-0CE2-1196-59486CEEE542}"/>
              </a:ext>
            </a:extLst>
          </p:cNvPr>
          <p:cNvCxnSpPr>
            <a:cxnSpLocks/>
          </p:cNvCxnSpPr>
          <p:nvPr/>
        </p:nvCxnSpPr>
        <p:spPr>
          <a:xfrm>
            <a:off x="4159682" y="2069338"/>
            <a:ext cx="0" cy="0"/>
          </a:xfrm>
          <a:prstGeom prst="line">
            <a:avLst/>
          </a:prstGeom>
          <a:ln>
            <a:solidFill>
              <a:srgbClr val="000000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51B562D0-2603-2E04-2FA6-A472B374D294}"/>
              </a:ext>
            </a:extLst>
          </p:cNvPr>
          <p:cNvCxnSpPr>
            <a:cxnSpLocks/>
          </p:cNvCxnSpPr>
          <p:nvPr/>
        </p:nvCxnSpPr>
        <p:spPr>
          <a:xfrm flipV="1">
            <a:off x="4111833" y="1423739"/>
            <a:ext cx="866261" cy="13080"/>
          </a:xfrm>
          <a:prstGeom prst="line">
            <a:avLst/>
          </a:prstGeom>
          <a:ln>
            <a:solidFill>
              <a:srgbClr val="000000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21AC7691-4373-948C-99E1-057FDB278145}"/>
              </a:ext>
            </a:extLst>
          </p:cNvPr>
          <p:cNvCxnSpPr>
            <a:cxnSpLocks/>
          </p:cNvCxnSpPr>
          <p:nvPr/>
        </p:nvCxnSpPr>
        <p:spPr>
          <a:xfrm flipV="1">
            <a:off x="4214526" y="3925033"/>
            <a:ext cx="651541" cy="9838"/>
          </a:xfrm>
          <a:prstGeom prst="line">
            <a:avLst/>
          </a:prstGeom>
          <a:ln>
            <a:solidFill>
              <a:srgbClr val="000000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E6E3DDBF-A57E-4013-8947-769C095290B2}"/>
              </a:ext>
            </a:extLst>
          </p:cNvPr>
          <p:cNvCxnSpPr>
            <a:cxnSpLocks/>
          </p:cNvCxnSpPr>
          <p:nvPr/>
        </p:nvCxnSpPr>
        <p:spPr>
          <a:xfrm flipV="1">
            <a:off x="4235868" y="3250568"/>
            <a:ext cx="651541" cy="9838"/>
          </a:xfrm>
          <a:prstGeom prst="line">
            <a:avLst/>
          </a:prstGeom>
          <a:ln>
            <a:solidFill>
              <a:srgbClr val="000000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A60E97D1-4A3E-D519-E14B-1B7646F61A6F}"/>
              </a:ext>
            </a:extLst>
          </p:cNvPr>
          <p:cNvCxnSpPr>
            <a:cxnSpLocks/>
          </p:cNvCxnSpPr>
          <p:nvPr/>
        </p:nvCxnSpPr>
        <p:spPr>
          <a:xfrm flipV="1">
            <a:off x="4235868" y="3496585"/>
            <a:ext cx="651541" cy="9838"/>
          </a:xfrm>
          <a:prstGeom prst="line">
            <a:avLst/>
          </a:prstGeom>
          <a:ln>
            <a:solidFill>
              <a:srgbClr val="000000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47E476DB-371E-AD42-A8EA-EB0916A925A4}"/>
              </a:ext>
            </a:extLst>
          </p:cNvPr>
          <p:cNvCxnSpPr>
            <a:cxnSpLocks/>
          </p:cNvCxnSpPr>
          <p:nvPr/>
        </p:nvCxnSpPr>
        <p:spPr>
          <a:xfrm flipV="1">
            <a:off x="4235868" y="3715728"/>
            <a:ext cx="651541" cy="9838"/>
          </a:xfrm>
          <a:prstGeom prst="line">
            <a:avLst/>
          </a:prstGeom>
          <a:ln>
            <a:solidFill>
              <a:srgbClr val="000000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Rectangle: Rounded Corners 14">
            <a:extLst>
              <a:ext uri="{FF2B5EF4-FFF2-40B4-BE49-F238E27FC236}">
                <a16:creationId xmlns:a16="http://schemas.microsoft.com/office/drawing/2014/main" id="{40B8AC71-BD60-EDE2-8740-8DCBB64E4324}"/>
              </a:ext>
            </a:extLst>
          </p:cNvPr>
          <p:cNvSpPr/>
          <p:nvPr/>
        </p:nvSpPr>
        <p:spPr>
          <a:xfrm>
            <a:off x="886821" y="1111419"/>
            <a:ext cx="3705064" cy="3279213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C1CC38F3-082D-2AC8-CED2-5B083F955E99}"/>
                  </a:ext>
                </a:extLst>
              </p:cNvPr>
              <p:cNvSpPr txBox="1"/>
              <p:nvPr/>
            </p:nvSpPr>
            <p:spPr>
              <a:xfrm>
                <a:off x="220977" y="1736885"/>
                <a:ext cx="33598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|0⟩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C1CC38F3-082D-2AC8-CED2-5B083F955E9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0977" y="1736885"/>
                <a:ext cx="335980" cy="369332"/>
              </a:xfrm>
              <a:prstGeom prst="rect">
                <a:avLst/>
              </a:prstGeom>
              <a:blipFill>
                <a:blip r:embed="rId4"/>
                <a:stretch>
                  <a:fillRect l="-5455" r="-45455" b="-1311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133716F3-146E-61CD-33FD-D3E6C88616AF}"/>
                  </a:ext>
                </a:extLst>
              </p:cNvPr>
              <p:cNvSpPr txBox="1"/>
              <p:nvPr/>
            </p:nvSpPr>
            <p:spPr>
              <a:xfrm>
                <a:off x="173925" y="2102865"/>
                <a:ext cx="33598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|0⟩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133716F3-146E-61CD-33FD-D3E6C88616A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3925" y="2102865"/>
                <a:ext cx="335980" cy="369332"/>
              </a:xfrm>
              <a:prstGeom prst="rect">
                <a:avLst/>
              </a:prstGeom>
              <a:blipFill>
                <a:blip r:embed="rId5"/>
                <a:stretch>
                  <a:fillRect l="-5455" r="-45455" b="-1311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C4B791BD-818D-9AD1-78BE-D84351F3A46E}"/>
                  </a:ext>
                </a:extLst>
              </p:cNvPr>
              <p:cNvSpPr txBox="1"/>
              <p:nvPr/>
            </p:nvSpPr>
            <p:spPr>
              <a:xfrm>
                <a:off x="201064" y="2610785"/>
                <a:ext cx="33598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|0⟩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C4B791BD-818D-9AD1-78BE-D84351F3A46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1064" y="2610785"/>
                <a:ext cx="335980" cy="369332"/>
              </a:xfrm>
              <a:prstGeom prst="rect">
                <a:avLst/>
              </a:prstGeom>
              <a:blipFill>
                <a:blip r:embed="rId6"/>
                <a:stretch>
                  <a:fillRect l="-5455" r="-45455" b="-1475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157226E0-6722-F9C5-EB0D-2C1D11AC56C9}"/>
                  </a:ext>
                </a:extLst>
              </p:cNvPr>
              <p:cNvSpPr txBox="1"/>
              <p:nvPr/>
            </p:nvSpPr>
            <p:spPr>
              <a:xfrm>
                <a:off x="226176" y="3656691"/>
                <a:ext cx="33598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|0⟩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157226E0-6722-F9C5-EB0D-2C1D11AC56C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6176" y="3656691"/>
                <a:ext cx="335980" cy="369332"/>
              </a:xfrm>
              <a:prstGeom prst="rect">
                <a:avLst/>
              </a:prstGeom>
              <a:blipFill>
                <a:blip r:embed="rId7"/>
                <a:stretch>
                  <a:fillRect l="-5455" r="-45455" b="-15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0E495195-DFCD-4FE5-63E6-C11480FB60E3}"/>
              </a:ext>
            </a:extLst>
          </p:cNvPr>
          <p:cNvCxnSpPr>
            <a:cxnSpLocks/>
          </p:cNvCxnSpPr>
          <p:nvPr/>
        </p:nvCxnSpPr>
        <p:spPr>
          <a:xfrm flipV="1">
            <a:off x="4159682" y="2062798"/>
            <a:ext cx="866261" cy="13080"/>
          </a:xfrm>
          <a:prstGeom prst="line">
            <a:avLst/>
          </a:prstGeom>
          <a:ln>
            <a:solidFill>
              <a:srgbClr val="000000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AAA2CC21-7D9A-3DD1-ED36-45C6CA40CB68}"/>
              </a:ext>
            </a:extLst>
          </p:cNvPr>
          <p:cNvCxnSpPr>
            <a:cxnSpLocks/>
          </p:cNvCxnSpPr>
          <p:nvPr/>
        </p:nvCxnSpPr>
        <p:spPr>
          <a:xfrm flipV="1">
            <a:off x="4115985" y="1765181"/>
            <a:ext cx="866261" cy="13080"/>
          </a:xfrm>
          <a:prstGeom prst="line">
            <a:avLst/>
          </a:prstGeom>
          <a:ln>
            <a:solidFill>
              <a:srgbClr val="000000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54" name="Group 53">
            <a:extLst>
              <a:ext uri="{FF2B5EF4-FFF2-40B4-BE49-F238E27FC236}">
                <a16:creationId xmlns:a16="http://schemas.microsoft.com/office/drawing/2014/main" id="{61D2A3FA-56F3-14C5-887F-C35DA8C5AE2E}"/>
              </a:ext>
            </a:extLst>
          </p:cNvPr>
          <p:cNvGrpSpPr/>
          <p:nvPr/>
        </p:nvGrpSpPr>
        <p:grpSpPr>
          <a:xfrm>
            <a:off x="5009395" y="972961"/>
            <a:ext cx="1380891" cy="1380891"/>
            <a:chOff x="5161228" y="1371645"/>
            <a:chExt cx="1380891" cy="1380891"/>
          </a:xfrm>
        </p:grpSpPr>
        <p:pic>
          <p:nvPicPr>
            <p:cNvPr id="52" name="Graphic 51" descr="Speedometer Low outline">
              <a:extLst>
                <a:ext uri="{FF2B5EF4-FFF2-40B4-BE49-F238E27FC236}">
                  <a16:creationId xmlns:a16="http://schemas.microsoft.com/office/drawing/2014/main" id="{096CF05D-369F-FEAB-C4EF-3430BE40022A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5161228" y="1371645"/>
              <a:ext cx="1380891" cy="1380891"/>
            </a:xfrm>
            <a:prstGeom prst="rect">
              <a:avLst/>
            </a:prstGeom>
          </p:spPr>
        </p:pic>
        <p:sp>
          <p:nvSpPr>
            <p:cNvPr id="53" name="Rectangle: Rounded Corners 52">
              <a:extLst>
                <a:ext uri="{FF2B5EF4-FFF2-40B4-BE49-F238E27FC236}">
                  <a16:creationId xmlns:a16="http://schemas.microsoft.com/office/drawing/2014/main" id="{9F1E3589-9A3E-01A8-1D19-4F3C11F31D46}"/>
                </a:ext>
              </a:extLst>
            </p:cNvPr>
            <p:cNvSpPr/>
            <p:nvPr/>
          </p:nvSpPr>
          <p:spPr>
            <a:xfrm>
              <a:off x="5161228" y="1692759"/>
              <a:ext cx="1380891" cy="866353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E18E9CBB-6F58-6060-3379-E20DF58953CC}"/>
              </a:ext>
            </a:extLst>
          </p:cNvPr>
          <p:cNvCxnSpPr>
            <a:cxnSpLocks/>
          </p:cNvCxnSpPr>
          <p:nvPr/>
        </p:nvCxnSpPr>
        <p:spPr>
          <a:xfrm flipV="1">
            <a:off x="6362493" y="1354565"/>
            <a:ext cx="866261" cy="13080"/>
          </a:xfrm>
          <a:prstGeom prst="line">
            <a:avLst/>
          </a:prstGeom>
          <a:ln>
            <a:solidFill>
              <a:srgbClr val="000000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Straight Connector 55">
            <a:extLst>
              <a:ext uri="{FF2B5EF4-FFF2-40B4-BE49-F238E27FC236}">
                <a16:creationId xmlns:a16="http://schemas.microsoft.com/office/drawing/2014/main" id="{60F0A3BE-9ECE-1C89-34B2-49FFFA9529E0}"/>
              </a:ext>
            </a:extLst>
          </p:cNvPr>
          <p:cNvCxnSpPr>
            <a:cxnSpLocks/>
          </p:cNvCxnSpPr>
          <p:nvPr/>
        </p:nvCxnSpPr>
        <p:spPr>
          <a:xfrm flipV="1">
            <a:off x="6410342" y="1993624"/>
            <a:ext cx="866261" cy="13080"/>
          </a:xfrm>
          <a:prstGeom prst="line">
            <a:avLst/>
          </a:prstGeom>
          <a:ln>
            <a:solidFill>
              <a:srgbClr val="000000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E33871F6-19E7-F8C0-F233-713B969487D9}"/>
              </a:ext>
            </a:extLst>
          </p:cNvPr>
          <p:cNvCxnSpPr>
            <a:cxnSpLocks/>
          </p:cNvCxnSpPr>
          <p:nvPr/>
        </p:nvCxnSpPr>
        <p:spPr>
          <a:xfrm flipV="1">
            <a:off x="6366645" y="1696007"/>
            <a:ext cx="866261" cy="13080"/>
          </a:xfrm>
          <a:prstGeom prst="line">
            <a:avLst/>
          </a:prstGeom>
          <a:ln>
            <a:solidFill>
              <a:srgbClr val="000000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TextBox 57">
            <a:extLst>
              <a:ext uri="{FF2B5EF4-FFF2-40B4-BE49-F238E27FC236}">
                <a16:creationId xmlns:a16="http://schemas.microsoft.com/office/drawing/2014/main" id="{A22A46E8-21D3-DFC3-67BA-DFF7D0D99563}"/>
              </a:ext>
            </a:extLst>
          </p:cNvPr>
          <p:cNvSpPr txBox="1"/>
          <p:nvPr/>
        </p:nvSpPr>
        <p:spPr>
          <a:xfrm>
            <a:off x="7552267" y="1443880"/>
            <a:ext cx="123048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Classical outputs</a:t>
            </a:r>
          </a:p>
        </p:txBody>
      </p:sp>
    </p:spTree>
    <p:extLst>
      <p:ext uri="{BB962C8B-B14F-4D97-AF65-F5344CB8AC3E}">
        <p14:creationId xmlns:p14="http://schemas.microsoft.com/office/powerpoint/2010/main" val="2373454030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ML Theme">
  <a:themeElements>
    <a:clrScheme name="Origin">
      <a:dk1>
        <a:sysClr val="windowText" lastClr="000000"/>
      </a:dk1>
      <a:lt1>
        <a:sysClr val="window" lastClr="FFFFFF"/>
      </a:lt1>
      <a:dk2>
        <a:srgbClr val="464653"/>
      </a:dk2>
      <a:lt2>
        <a:srgbClr val="DDE9EC"/>
      </a:lt2>
      <a:accent1>
        <a:srgbClr val="727CA3"/>
      </a:accent1>
      <a:accent2>
        <a:srgbClr val="9FB8CD"/>
      </a:accent2>
      <a:accent3>
        <a:srgbClr val="D2DA7A"/>
      </a:accent3>
      <a:accent4>
        <a:srgbClr val="FADA7A"/>
      </a:accent4>
      <a:accent5>
        <a:srgbClr val="B88472"/>
      </a:accent5>
      <a:accent6>
        <a:srgbClr val="8E736A"/>
      </a:accent6>
      <a:hlink>
        <a:srgbClr val="B292CA"/>
      </a:hlink>
      <a:folHlink>
        <a:srgbClr val="6B5680"/>
      </a:folHlink>
    </a:clrScheme>
    <a:fontScheme name="Origin">
      <a:majorFont>
        <a:latin typeface="Bookman Old Style"/>
        <a:ea typeface=""/>
        <a:cs typeface=""/>
        <a:font script="Grek" typeface="Cambria"/>
        <a:font script="Cyrl" typeface="Cambria"/>
        <a:font script="Jpan" typeface="HG明朝E"/>
        <a:font script="Hang" typeface="돋움"/>
        <a:font script="Hans" typeface="宋体"/>
        <a:font script="Hant" typeface="標楷體"/>
        <a:font script="Arab" typeface="Times New Roman"/>
        <a:font script="Hebr" typeface="Times New Roman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Gill Sans MT"/>
        <a:ea typeface=""/>
        <a:cs typeface=""/>
        <a:font script="Grek" typeface="Calibri"/>
        <a:font script="Cyrl" typeface="Calibri"/>
        <a:font script="Jpan" typeface="ＭＳ Ｐゴシック"/>
        <a:font script="Hang" typeface="맑은 고딕"/>
        <a:font script="Hans" typeface="华文新魏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rigin">
      <a:fillStyleLst>
        <a:solidFill>
          <a:schemeClr val="phClr"/>
        </a:solidFill>
        <a:gradFill rotWithShape="1">
          <a:gsLst>
            <a:gs pos="0">
              <a:schemeClr val="phClr">
                <a:tint val="45000"/>
                <a:satMod val="200000"/>
              </a:schemeClr>
            </a:gs>
            <a:gs pos="30000">
              <a:schemeClr val="phClr">
                <a:tint val="61000"/>
                <a:satMod val="200000"/>
              </a:schemeClr>
            </a:gs>
            <a:gs pos="45000">
              <a:schemeClr val="phClr">
                <a:tint val="66000"/>
                <a:satMod val="200000"/>
              </a:schemeClr>
            </a:gs>
            <a:gs pos="55000">
              <a:schemeClr val="phClr">
                <a:tint val="66000"/>
                <a:satMod val="200000"/>
              </a:schemeClr>
            </a:gs>
            <a:gs pos="73000">
              <a:schemeClr val="phClr">
                <a:tint val="61000"/>
                <a:satMod val="200000"/>
              </a:schemeClr>
            </a:gs>
            <a:gs pos="100000">
              <a:schemeClr val="phClr">
                <a:tint val="45000"/>
                <a:satMod val="200000"/>
              </a:schemeClr>
            </a:gs>
          </a:gsLst>
          <a:lin ang="950000" scaled="1"/>
        </a:gradFill>
        <a:gradFill rotWithShape="1">
          <a:gsLst>
            <a:gs pos="0">
              <a:schemeClr val="phClr">
                <a:shade val="63000"/>
              </a:schemeClr>
            </a:gs>
            <a:gs pos="30000">
              <a:schemeClr val="phClr">
                <a:shade val="90000"/>
                <a:satMod val="110000"/>
              </a:schemeClr>
            </a:gs>
            <a:gs pos="45000">
              <a:schemeClr val="phClr">
                <a:shade val="100000"/>
                <a:satMod val="118000"/>
              </a:schemeClr>
            </a:gs>
            <a:gs pos="55000">
              <a:schemeClr val="phClr">
                <a:shade val="100000"/>
                <a:satMod val="118000"/>
              </a:schemeClr>
            </a:gs>
            <a:gs pos="73000">
              <a:schemeClr val="phClr">
                <a:shade val="90000"/>
                <a:satMod val="110000"/>
              </a:schemeClr>
            </a:gs>
            <a:gs pos="100000">
              <a:schemeClr val="phClr">
                <a:shade val="63000"/>
              </a:schemeClr>
            </a:gs>
          </a:gsLst>
          <a:lin ang="950000" scaled="1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43000" dir="5400000" rotWithShape="0">
              <a:srgbClr val="000000">
                <a:alpha val="40000"/>
              </a:srgbClr>
            </a:outerShdw>
          </a:effectLst>
          <a:scene3d>
            <a:camera prst="orthographicFront" fov="0">
              <a:rot lat="0" lon="0" rev="0"/>
            </a:camera>
            <a:lightRig rig="balanced" dir="t">
              <a:rot lat="0" lon="0" rev="0"/>
            </a:lightRig>
          </a:scene3d>
          <a:sp3d prstMaterial="matte">
            <a:bevelT w="0" h="0"/>
            <a:contourClr>
              <a:schemeClr val="phClr">
                <a:tint val="100000"/>
                <a:shade val="100000"/>
                <a:hueMod val="100000"/>
                <a:satMod val="100000"/>
              </a:schemeClr>
            </a:contourClr>
          </a:sp3d>
        </a:effectStyle>
        <a:effectStyle>
          <a:effectLst>
            <a:outerShdw blurRad="50800" dist="25400" dir="5400000" rotWithShape="0">
              <a:srgbClr val="000000">
                <a:alpha val="50000"/>
              </a:srgbClr>
            </a:outerShdw>
          </a:effectLst>
          <a:scene3d>
            <a:camera prst="orthographicFront" fov="0">
              <a:rot lat="0" lon="0" rev="0"/>
            </a:camera>
            <a:lightRig rig="soft" dir="t">
              <a:rot lat="0" lon="0" rev="2700000"/>
            </a:lightRig>
          </a:scene3d>
          <a:sp3d prstMaterial="matte">
            <a:bevelT w="50800" h="50800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60000"/>
                <a:satMod val="300000"/>
              </a:schemeClr>
            </a:gs>
            <a:gs pos="30000">
              <a:schemeClr val="phClr">
                <a:shade val="80000"/>
                <a:satMod val="230000"/>
              </a:schemeClr>
            </a:gs>
            <a:gs pos="100000">
              <a:schemeClr val="phClr">
                <a:tint val="97000"/>
                <a:satMod val="22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shade val="6000"/>
                <a:satMod val="120000"/>
              </a:schemeClr>
              <a:schemeClr val="phClr">
                <a:tint val="90000"/>
              </a:schemeClr>
            </a:duotone>
          </a:blip>
          <a:tile tx="0" ty="0" sx="35000" sy="40000" flip="x" algn="tl"/>
        </a:blipFill>
      </a:bgFillStyleLst>
    </a:fmtScheme>
  </a:themeElements>
  <a:objectDefaults>
    <a:lnDef>
      <a:spPr>
        <a:ln>
          <a:solidFill>
            <a:srgbClr val="000000"/>
          </a:solidFill>
          <a:tailEnd type="arrow"/>
        </a:ln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mps-theme</Template>
  <TotalTime>1095</TotalTime>
  <Words>2530</Words>
  <Application>Microsoft Office PowerPoint</Application>
  <PresentationFormat>Widescreen</PresentationFormat>
  <Paragraphs>324</Paragraphs>
  <Slides>17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6" baseType="lpstr">
      <vt:lpstr>Aptos</vt:lpstr>
      <vt:lpstr>Cambria Math</vt:lpstr>
      <vt:lpstr>Candara</vt:lpstr>
      <vt:lpstr>Comic Sans MS</vt:lpstr>
      <vt:lpstr>Gill Sans MT</vt:lpstr>
      <vt:lpstr>Times New Roman</vt:lpstr>
      <vt:lpstr>Wingdings</vt:lpstr>
      <vt:lpstr>Wingdings 3</vt:lpstr>
      <vt:lpstr>CML Theme</vt:lpstr>
      <vt:lpstr>Quantum Gates</vt:lpstr>
      <vt:lpstr>Quantum Gates</vt:lpstr>
      <vt:lpstr>Hadamard Transform</vt:lpstr>
      <vt:lpstr>Relationship between XZH</vt:lpstr>
      <vt:lpstr>2-Qubit gates</vt:lpstr>
      <vt:lpstr>CNOT gate</vt:lpstr>
      <vt:lpstr>Multi-qubit gates</vt:lpstr>
      <vt:lpstr>Tensor Product Spaces</vt:lpstr>
      <vt:lpstr>Tensor Products</vt:lpstr>
      <vt:lpstr>No Cloning Theorem</vt:lpstr>
      <vt:lpstr>Quantum Teleportation</vt:lpstr>
      <vt:lpstr>Using CNOT Gate</vt:lpstr>
      <vt:lpstr>Bell State Circuit</vt:lpstr>
      <vt:lpstr>Using Bell State</vt:lpstr>
      <vt:lpstr>Complete Teleportation Protocol</vt:lpstr>
      <vt:lpstr>Multi-bit Entanglement</vt:lpstr>
      <vt:lpstr>Quantum Circuit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Aviral Shrivastava</dc:creator>
  <cp:lastModifiedBy>Aviral Shrivastava</cp:lastModifiedBy>
  <cp:revision>32</cp:revision>
  <dcterms:created xsi:type="dcterms:W3CDTF">2024-07-06T15:34:20Z</dcterms:created>
  <dcterms:modified xsi:type="dcterms:W3CDTF">2025-03-19T21:51:36Z</dcterms:modified>
</cp:coreProperties>
</file>
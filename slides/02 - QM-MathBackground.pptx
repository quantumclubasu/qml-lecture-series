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1"/>
  </p:notesMasterIdLst>
  <p:sldIdLst>
    <p:sldId id="256" r:id="rId2"/>
    <p:sldId id="271" r:id="rId3"/>
    <p:sldId id="278" r:id="rId4"/>
    <p:sldId id="272" r:id="rId5"/>
    <p:sldId id="283" r:id="rId6"/>
    <p:sldId id="299" r:id="rId7"/>
    <p:sldId id="280" r:id="rId8"/>
    <p:sldId id="281" r:id="rId9"/>
    <p:sldId id="305" r:id="rId10"/>
    <p:sldId id="304" r:id="rId11"/>
    <p:sldId id="303" r:id="rId12"/>
    <p:sldId id="306" r:id="rId13"/>
    <p:sldId id="290" r:id="rId14"/>
    <p:sldId id="292" r:id="rId15"/>
    <p:sldId id="284" r:id="rId16"/>
    <p:sldId id="302" r:id="rId17"/>
    <p:sldId id="301" r:id="rId18"/>
    <p:sldId id="300" r:id="rId19"/>
    <p:sldId id="28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20"/>
    <p:restoredTop sz="93705"/>
  </p:normalViewPr>
  <p:slideViewPr>
    <p:cSldViewPr snapToGrid="0">
      <p:cViewPr varScale="1">
        <p:scale>
          <a:sx n="113" d="100"/>
          <a:sy n="113" d="100"/>
        </p:scale>
        <p:origin x="248" y="184"/>
      </p:cViewPr>
      <p:guideLst/>
    </p:cSldViewPr>
  </p:slideViewPr>
  <p:outlineViewPr>
    <p:cViewPr>
      <p:scale>
        <a:sx n="33" d="100"/>
        <a:sy n="33" d="100"/>
      </p:scale>
      <p:origin x="0" y="-395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432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C102A-09B4-D540-9A40-71C998CFF93C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33FB8-6898-5E4B-BAE8-CFC1FBEE3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83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11300" y="1114425"/>
            <a:ext cx="9448800" cy="128016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24000" y="3124200"/>
            <a:ext cx="9436100" cy="762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111442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3124200"/>
            <a:ext cx="9753600" cy="7620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111442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3124200"/>
            <a:ext cx="304800" cy="7620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Date Placeholder 27">
            <a:extLst>
              <a:ext uri="{FF2B5EF4-FFF2-40B4-BE49-F238E27FC236}">
                <a16:creationId xmlns:a16="http://schemas.microsoft.com/office/drawing/2014/main" id="{BCE0B330-C09A-8B4E-AA0B-69C4967F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2/24/25</a:t>
            </a:fld>
            <a:endParaRPr lang="en-US"/>
          </a:p>
        </p:txBody>
      </p:sp>
      <p:pic>
        <p:nvPicPr>
          <p:cNvPr id="17" name="Picture 16" descr="A picture containing object, clock, screen, room&#10;&#10;Description automatically generated">
            <a:extLst>
              <a:ext uri="{FF2B5EF4-FFF2-40B4-BE49-F238E27FC236}">
                <a16:creationId xmlns:a16="http://schemas.microsoft.com/office/drawing/2014/main" id="{CDD5D102-CB1C-F145-B6F8-B83F3880C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128" y="5797598"/>
            <a:ext cx="3315392" cy="104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2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16610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950" y="6338389"/>
            <a:ext cx="1261164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57507" y="1032691"/>
            <a:ext cx="11508922" cy="4792617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4" name="Date Placeholder 27"/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>
                <a:latin typeface="Candara" panose="020E0502030303020204" pitchFamily="34" charset="0"/>
              </a:defRPr>
            </a:lvl1pPr>
          </a:lstStyle>
          <a:p>
            <a:fld id="{9C6D7FAD-5A05-5E4D-B8E9-53FB00C64228}" type="datetimeFigureOut">
              <a:rPr lang="en-US" smtClean="0"/>
              <a:t>2/24/25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62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066800"/>
            <a:ext cx="9448800" cy="1280160"/>
          </a:xfrm>
        </p:spPr>
        <p:txBody>
          <a:bodyPr anchor="t" anchorCtr="0"/>
          <a:lstStyle>
            <a:lvl1pPr algn="r">
              <a:buNone/>
              <a:defRPr sz="3200" b="0" cap="none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28956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10668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10668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Date Placeholder 27">
            <a:extLst>
              <a:ext uri="{FF2B5EF4-FFF2-40B4-BE49-F238E27FC236}">
                <a16:creationId xmlns:a16="http://schemas.microsoft.com/office/drawing/2014/main" id="{8092CCAB-AB79-FF48-BB64-9B731D39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2/24/25</a:t>
            </a:fld>
            <a:endParaRPr lang="en-US"/>
          </a:p>
        </p:txBody>
      </p:sp>
      <p:pic>
        <p:nvPicPr>
          <p:cNvPr id="18" name="Picture 17" descr="A picture containing object, clock, screen, room&#10;&#10;Description automatically generated">
            <a:extLst>
              <a:ext uri="{FF2B5EF4-FFF2-40B4-BE49-F238E27FC236}">
                <a16:creationId xmlns:a16="http://schemas.microsoft.com/office/drawing/2014/main" id="{3A78478A-CCF5-A64D-882E-20C5BAD06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128" y="5797598"/>
            <a:ext cx="3315392" cy="104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91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5371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36550" y="1007758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231297" y="1048793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Date Placeholder 27">
            <a:extLst>
              <a:ext uri="{FF2B5EF4-FFF2-40B4-BE49-F238E27FC236}">
                <a16:creationId xmlns:a16="http://schemas.microsoft.com/office/drawing/2014/main" id="{AF625E83-E07C-2D4D-BD0C-10946C3C9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2/24/25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82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70857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Date Placeholder 27">
            <a:extLst>
              <a:ext uri="{FF2B5EF4-FFF2-40B4-BE49-F238E27FC236}">
                <a16:creationId xmlns:a16="http://schemas.microsoft.com/office/drawing/2014/main" id="{E7970657-EC88-024C-8290-A7B6534FF3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2/24/25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1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5371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Date Placeholder 27">
            <a:extLst>
              <a:ext uri="{FF2B5EF4-FFF2-40B4-BE49-F238E27FC236}">
                <a16:creationId xmlns:a16="http://schemas.microsoft.com/office/drawing/2014/main" id="{CAF2259C-C183-3640-A509-F39E34FA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2/24/25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75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Date Placeholder 27">
            <a:extLst>
              <a:ext uri="{FF2B5EF4-FFF2-40B4-BE49-F238E27FC236}">
                <a16:creationId xmlns:a16="http://schemas.microsoft.com/office/drawing/2014/main" id="{483D13DE-6015-8A4F-BDFC-71BF62E8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2/24/25</a:t>
            </a:fld>
            <a:endParaRPr lang="en-US"/>
          </a:p>
        </p:txBody>
      </p:sp>
      <p:pic>
        <p:nvPicPr>
          <p:cNvPr id="16" name="Picture 15" descr="A picture containing object, clock, screen, room&#10;&#10;Description automatically generated">
            <a:extLst>
              <a:ext uri="{FF2B5EF4-FFF2-40B4-BE49-F238E27FC236}">
                <a16:creationId xmlns:a16="http://schemas.microsoft.com/office/drawing/2014/main" id="{29EBD462-D640-5448-9ABD-588D241C2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128" y="5797598"/>
            <a:ext cx="3315392" cy="104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560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234432" y="6353175"/>
            <a:ext cx="1723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600" kern="1200" dirty="0" err="1">
                <a:solidFill>
                  <a:srgbClr val="0808C0"/>
                </a:solidFill>
                <a:latin typeface="Candara" panose="020E0502030303020204" pitchFamily="34" charset="0"/>
                <a:ea typeface="+mn-ea"/>
                <a:cs typeface="+mn-cs"/>
              </a:rPr>
              <a:t>aviral.lab.asu.edu</a:t>
            </a:r>
            <a:endParaRPr kumimoji="0" lang="en-US" sz="1600" kern="1200" dirty="0">
              <a:solidFill>
                <a:srgbClr val="0808C0"/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18" name="Picture 17" descr="A picture containing object, clock, screen, room&#10;&#10;Description automatically generated">
            <a:extLst>
              <a:ext uri="{FF2B5EF4-FFF2-40B4-BE49-F238E27FC236}">
                <a16:creationId xmlns:a16="http://schemas.microsoft.com/office/drawing/2014/main" id="{732FA9EB-AFF4-3F4C-84AF-EC57F8F87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128" y="5797598"/>
            <a:ext cx="3315392" cy="104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92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3"/>
          <p:cNvGrpSpPr>
            <a:grpSpLocks/>
          </p:cNvGrpSpPr>
          <p:nvPr/>
        </p:nvGrpSpPr>
        <p:grpSpPr bwMode="auto">
          <a:xfrm>
            <a:off x="10570634" y="5932488"/>
            <a:ext cx="1722966" cy="1008062"/>
            <a:chOff x="4850" y="3497"/>
            <a:chExt cx="814" cy="635"/>
          </a:xfrm>
        </p:grpSpPr>
        <p:sp>
          <p:nvSpPr>
            <p:cNvPr id="13" name="Text Box 8"/>
            <p:cNvSpPr txBox="1">
              <a:spLocks noChangeAspect="1" noChangeArrowheads="1"/>
            </p:cNvSpPr>
            <p:nvPr/>
          </p:nvSpPr>
          <p:spPr bwMode="auto">
            <a:xfrm>
              <a:off x="4850" y="3634"/>
              <a:ext cx="298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4" name="Text Box 9"/>
            <p:cNvSpPr txBox="1">
              <a:spLocks noChangeAspect="1" noChangeArrowheads="1"/>
            </p:cNvSpPr>
            <p:nvPr/>
          </p:nvSpPr>
          <p:spPr bwMode="auto">
            <a:xfrm>
              <a:off x="5089" y="3497"/>
              <a:ext cx="36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5" name="Text Box 10"/>
            <p:cNvSpPr txBox="1">
              <a:spLocks noChangeAspect="1" noChangeArrowheads="1"/>
            </p:cNvSpPr>
            <p:nvPr/>
          </p:nvSpPr>
          <p:spPr bwMode="auto">
            <a:xfrm>
              <a:off x="5382" y="3641"/>
              <a:ext cx="28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6" name="Date Placeholder 27"/>
          <p:cNvSpPr>
            <a:spLocks noGrp="1"/>
          </p:cNvSpPr>
          <p:nvPr>
            <p:ph type="dt" sz="half" idx="10"/>
          </p:nvPr>
        </p:nvSpPr>
        <p:spPr>
          <a:xfrm>
            <a:off x="7209536" y="6355080"/>
            <a:ext cx="3048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9C6D7FAD-5A05-5E4D-B8E9-53FB00C64228}" type="datetimeFigureOut">
              <a:rPr lang="en-US" smtClean="0"/>
              <a:t>2/24/25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540000" y="6397824"/>
            <a:ext cx="457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400" kern="1200" dirty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rPr>
              <a:t>Web page:  aviral.lab.asu.edu</a:t>
            </a:r>
          </a:p>
        </p:txBody>
      </p:sp>
    </p:spTree>
    <p:extLst>
      <p:ext uri="{BB962C8B-B14F-4D97-AF65-F5344CB8AC3E}">
        <p14:creationId xmlns:p14="http://schemas.microsoft.com/office/powerpoint/2010/main" val="2677514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13"/>
          <p:cNvGrpSpPr>
            <a:grpSpLocks/>
          </p:cNvGrpSpPr>
          <p:nvPr/>
        </p:nvGrpSpPr>
        <p:grpSpPr bwMode="auto">
          <a:xfrm>
            <a:off x="10570634" y="5932488"/>
            <a:ext cx="1722966" cy="1008062"/>
            <a:chOff x="4850" y="3497"/>
            <a:chExt cx="814" cy="635"/>
          </a:xfrm>
        </p:grpSpPr>
        <p:sp>
          <p:nvSpPr>
            <p:cNvPr id="9" name="Text Box 8"/>
            <p:cNvSpPr txBox="1">
              <a:spLocks noChangeAspect="1" noChangeArrowheads="1"/>
            </p:cNvSpPr>
            <p:nvPr/>
          </p:nvSpPr>
          <p:spPr bwMode="auto">
            <a:xfrm>
              <a:off x="4850" y="3634"/>
              <a:ext cx="298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0" name="Text Box 9"/>
            <p:cNvSpPr txBox="1">
              <a:spLocks noChangeAspect="1" noChangeArrowheads="1"/>
            </p:cNvSpPr>
            <p:nvPr/>
          </p:nvSpPr>
          <p:spPr bwMode="auto">
            <a:xfrm>
              <a:off x="5089" y="3497"/>
              <a:ext cx="36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1" name="Text Box 10"/>
            <p:cNvSpPr txBox="1">
              <a:spLocks noChangeAspect="1" noChangeArrowheads="1"/>
            </p:cNvSpPr>
            <p:nvPr/>
          </p:nvSpPr>
          <p:spPr bwMode="auto">
            <a:xfrm>
              <a:off x="5382" y="3641"/>
              <a:ext cx="28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2" name="Date Placeholder 27"/>
          <p:cNvSpPr>
            <a:spLocks noGrp="1"/>
          </p:cNvSpPr>
          <p:nvPr>
            <p:ph type="dt" sz="half" idx="10"/>
          </p:nvPr>
        </p:nvSpPr>
        <p:spPr>
          <a:xfrm>
            <a:off x="7209536" y="6355080"/>
            <a:ext cx="3048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9C6D7FAD-5A05-5E4D-B8E9-53FB00C64228}" type="datetimeFigureOut">
              <a:rPr lang="en-US" smtClean="0"/>
              <a:t>2/24/25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0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3"/>
          <p:cNvGrpSpPr>
            <a:grpSpLocks/>
          </p:cNvGrpSpPr>
          <p:nvPr/>
        </p:nvGrpSpPr>
        <p:grpSpPr bwMode="auto">
          <a:xfrm>
            <a:off x="10570634" y="5932488"/>
            <a:ext cx="1722966" cy="1008062"/>
            <a:chOff x="4850" y="3497"/>
            <a:chExt cx="814" cy="635"/>
          </a:xfrm>
        </p:grpSpPr>
        <p:sp>
          <p:nvSpPr>
            <p:cNvPr id="12" name="Text Box 8"/>
            <p:cNvSpPr txBox="1">
              <a:spLocks noChangeAspect="1" noChangeArrowheads="1"/>
            </p:cNvSpPr>
            <p:nvPr/>
          </p:nvSpPr>
          <p:spPr bwMode="auto">
            <a:xfrm>
              <a:off x="4850" y="3634"/>
              <a:ext cx="298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3" name="Text Box 9"/>
            <p:cNvSpPr txBox="1">
              <a:spLocks noChangeAspect="1" noChangeArrowheads="1"/>
            </p:cNvSpPr>
            <p:nvPr/>
          </p:nvSpPr>
          <p:spPr bwMode="auto">
            <a:xfrm>
              <a:off x="5089" y="3497"/>
              <a:ext cx="36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4" name="Text Box 10"/>
            <p:cNvSpPr txBox="1">
              <a:spLocks noChangeAspect="1" noChangeArrowheads="1"/>
            </p:cNvSpPr>
            <p:nvPr/>
          </p:nvSpPr>
          <p:spPr bwMode="auto">
            <a:xfrm>
              <a:off x="5382" y="3641"/>
              <a:ext cx="28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>
          <a:xfrm>
            <a:off x="7209536" y="6355080"/>
            <a:ext cx="3048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9C6D7FAD-5A05-5E4D-B8E9-53FB00C64228}" type="datetimeFigureOut">
              <a:rPr lang="en-US" smtClean="0"/>
              <a:t>2/24/25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540000" y="6397824"/>
            <a:ext cx="457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400" kern="1200" dirty="0">
                <a:solidFill>
                  <a:srgbClr val="0808C0"/>
                </a:solidFill>
                <a:latin typeface="Comic Sans MS" pitchFamily="66" charset="0"/>
                <a:ea typeface="+mn-ea"/>
                <a:cs typeface="+mn-cs"/>
              </a:rPr>
              <a:t>Web page:  aviral.lab.asu.edu</a:t>
            </a:r>
          </a:p>
        </p:txBody>
      </p:sp>
    </p:spTree>
    <p:extLst>
      <p:ext uri="{BB962C8B-B14F-4D97-AF65-F5344CB8AC3E}">
        <p14:creationId xmlns:p14="http://schemas.microsoft.com/office/powerpoint/2010/main" val="1461232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8200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03201" y="990600"/>
            <a:ext cx="11696700" cy="5257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4"/>
            <a:ext cx="8803340" cy="12636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0" y="838200"/>
            <a:ext cx="12192000" cy="0"/>
          </a:xfrm>
          <a:prstGeom prst="line">
            <a:avLst/>
          </a:prstGeom>
          <a:noFill/>
          <a:ln w="63500" cap="flat" cmpd="sng" algn="ctr">
            <a:gradFill flip="none" rotWithShape="1">
              <a:gsLst>
                <a:gs pos="0">
                  <a:srgbClr val="0808C0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Candara" panose="020E0502030303020204" pitchFamily="34" charset="0"/>
              </a:defRPr>
            </a:lvl1pPr>
          </a:lstStyle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picture containing object, clock, screen, room&#10;&#10;Description automatically generated">
            <a:extLst>
              <a:ext uri="{FF2B5EF4-FFF2-40B4-BE49-F238E27FC236}">
                <a16:creationId xmlns:a16="http://schemas.microsoft.com/office/drawing/2014/main" id="{08BFDCC2-5E3C-F64F-A838-CACDA0738A6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12940" y="5888912"/>
            <a:ext cx="2911579" cy="916939"/>
          </a:xfrm>
          <a:prstGeom prst="rect">
            <a:avLst/>
          </a:prstGeom>
        </p:spPr>
      </p:pic>
      <p:sp>
        <p:nvSpPr>
          <p:cNvPr id="21" name="Date Placeholder 27">
            <a:extLst>
              <a:ext uri="{FF2B5EF4-FFF2-40B4-BE49-F238E27FC236}">
                <a16:creationId xmlns:a16="http://schemas.microsoft.com/office/drawing/2014/main" id="{301C601F-B298-1347-BC11-1F805E418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2/24/25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5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rgbClr val="000066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ndara" pitchFamily="34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800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400" kern="1200">
          <a:solidFill>
            <a:srgbClr val="002060"/>
          </a:solidFill>
          <a:latin typeface="Candara" pitchFamily="34" charset="0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400" kern="1200">
          <a:solidFill>
            <a:srgbClr val="006600"/>
          </a:solidFill>
          <a:latin typeface="Candara" pitchFamily="34" charset="0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2000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5SIxEiL8ujA?feature=oembed" TargetMode="External"/><Relationship Id="rId5" Type="http://schemas.openxmlformats.org/officeDocument/2006/relationships/image" Target="../media/image7.jpeg"/><Relationship Id="rId4" Type="http://schemas.openxmlformats.org/officeDocument/2006/relationships/image" Target="../media/image6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0C70-F63B-C5AA-E9B0-D651474243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QM Foundations</a:t>
            </a:r>
            <a:br>
              <a:rPr lang="en-US" dirty="0"/>
            </a:br>
            <a:r>
              <a:rPr lang="en-US" dirty="0"/>
              <a:t>Quantum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2C192-287B-DA7C-CFD2-6C3C6ACB12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Aviral Shrivastava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A6D01-BCC9-7C4E-267B-68BF19107B69}"/>
              </a:ext>
            </a:extLst>
          </p:cNvPr>
          <p:cNvSpPr txBox="1"/>
          <p:nvPr/>
        </p:nvSpPr>
        <p:spPr>
          <a:xfrm>
            <a:off x="1231900" y="4072946"/>
            <a:ext cx="34095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Complex Numbers</a:t>
            </a:r>
          </a:p>
          <a:p>
            <a:r>
              <a:rPr lang="en-US" sz="2800" dirty="0"/>
              <a:t>Vector Spaces</a:t>
            </a:r>
          </a:p>
          <a:p>
            <a:r>
              <a:rPr lang="en-US" sz="2800" dirty="0"/>
              <a:t>Inner product spaces</a:t>
            </a:r>
          </a:p>
          <a:p>
            <a:r>
              <a:rPr lang="en-US" sz="2800" dirty="0"/>
              <a:t>Hilbert Space</a:t>
            </a:r>
          </a:p>
        </p:txBody>
      </p:sp>
      <p:pic>
        <p:nvPicPr>
          <p:cNvPr id="1026" name="Picture 2" descr="Complex number - Wikipedia">
            <a:extLst>
              <a:ext uri="{FF2B5EF4-FFF2-40B4-BE49-F238E27FC236}">
                <a16:creationId xmlns:a16="http://schemas.microsoft.com/office/drawing/2014/main" id="{288F50D6-9918-042A-EE69-21DFC9A79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63" y="3913359"/>
            <a:ext cx="238125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ector spaces - Matthew N. Bernstein">
            <a:extLst>
              <a:ext uri="{FF2B5EF4-FFF2-40B4-BE49-F238E27FC236}">
                <a16:creationId xmlns:a16="http://schemas.microsoft.com/office/drawing/2014/main" id="{2985CDF1-0170-AF28-1753-6E9766F8D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3952875"/>
            <a:ext cx="3114675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372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7677A-E789-111F-E56A-14FE33D8C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DCA3D-AADA-BA32-DA91-69011104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SG Experiment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6B7FA-B686-3445-7147-09CC0CB9CF4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7849" y="951246"/>
            <a:ext cx="4200415" cy="540921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Experiment 4a – Same as Experiment 3</a:t>
            </a:r>
          </a:p>
          <a:p>
            <a:r>
              <a:rPr lang="en-US" sz="2700" dirty="0"/>
              <a:t>Experiment 4a – Almost Same as Experiment 3</a:t>
            </a:r>
          </a:p>
          <a:p>
            <a:endParaRPr lang="en-US" sz="2700" dirty="0"/>
          </a:p>
          <a:p>
            <a:r>
              <a:rPr lang="en-US" sz="2700" dirty="0"/>
              <a:t>Experiment 4c</a:t>
            </a:r>
          </a:p>
          <a:p>
            <a:pPr lvl="1"/>
            <a:r>
              <a:rPr lang="en-US" sz="2500" dirty="0"/>
              <a:t>Classically, we would expect equal probabilities of particles exiting both the ports of the last SGA</a:t>
            </a:r>
          </a:p>
          <a:p>
            <a:pPr lvl="1"/>
            <a:r>
              <a:rPr lang="en-US" sz="2500" dirty="0"/>
              <a:t>Analyze the </a:t>
            </a:r>
            <a:r>
              <a:rPr lang="en-US" sz="2500" b="1" dirty="0"/>
              <a:t>lower port</a:t>
            </a:r>
            <a:r>
              <a:rPr lang="en-US" sz="2500" dirty="0"/>
              <a:t>. In Experiments 4a and 4b, half the atoms exit the lower port of the third analyzer. In Experiment 4c, no atoms make it through the lower port!</a:t>
            </a:r>
          </a:p>
          <a:p>
            <a:pPr lvl="1"/>
            <a:r>
              <a:rPr lang="en-US" sz="2500" dirty="0"/>
              <a:t>It is as if you opened a second window in a room to get more sunlight and the room went dark!</a:t>
            </a:r>
          </a:p>
          <a:p>
            <a:pPr lvl="1"/>
            <a:r>
              <a:rPr lang="en-US" sz="2500" b="1" dirty="0"/>
              <a:t>Interference</a:t>
            </a:r>
          </a:p>
        </p:txBody>
      </p:sp>
      <p:pic>
        <p:nvPicPr>
          <p:cNvPr id="6" name="Picture 5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A7736170-D653-DF03-3CAB-13500AED9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951245"/>
            <a:ext cx="7684008" cy="590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009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D0C13-50FC-CAA0-D367-9C4D0ED84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Effect with Polarizing filters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C75580-1A73-010E-68CD-A2E40914E29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91085" y="5038344"/>
                <a:ext cx="8734043" cy="1180155"/>
              </a:xfrm>
            </p:spPr>
            <p:txBody>
              <a:bodyPr/>
              <a:lstStyle/>
              <a:p>
                <a:r>
                  <a:rPr lang="en-US" dirty="0"/>
                  <a:t>Adding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 polarizer between a vertical and horizontal polarizer enables the light to pass!!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C75580-1A73-010E-68CD-A2E40914E2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91085" y="5038344"/>
                <a:ext cx="8734043" cy="1180155"/>
              </a:xfrm>
              <a:blipFill>
                <a:blip r:embed="rId3"/>
                <a:stretch>
                  <a:fillRect l="-768" t="-5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D55DF596-DF7D-EF66-7E0D-A83728910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85" y="929585"/>
            <a:ext cx="6855460" cy="3084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29EE24-A8E1-0865-3B9F-A137F4363C6A}"/>
              </a:ext>
            </a:extLst>
          </p:cNvPr>
          <p:cNvSpPr txBox="1"/>
          <p:nvPr/>
        </p:nvSpPr>
        <p:spPr>
          <a:xfrm>
            <a:off x="1818005" y="4016604"/>
            <a:ext cx="3267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do polarizers do?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6CECB601-3284-5B0A-0111-9CC2EF778A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Online Media 9" title="Three polarizing filters: a simple demo of a creepy quantum effect">
            <a:hlinkClick r:id="" action="ppaction://media"/>
            <a:extLst>
              <a:ext uri="{FF2B5EF4-FFF2-40B4-BE49-F238E27FC236}">
                <a16:creationId xmlns:a16="http://schemas.microsoft.com/office/drawing/2014/main" id="{22AEF076-3762-8DDB-A238-EE78E3EFCFE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7589107" y="1091184"/>
            <a:ext cx="4137717" cy="233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64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E6CE45-93C0-9B15-CC9D-082D9C5FA5D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Quantum State Vectors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𝝍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E6CE45-93C0-9B15-CC9D-082D9C5FA5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00" t="-9701" b="-41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B03531-FDE2-7A04-0F9D-12883DF07C5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32691"/>
                <a:ext cx="11508922" cy="302311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state of a quantum mechanical system, including all the information you can know about it, is represented by a normalized </a:t>
                </a:r>
                <a:r>
                  <a:rPr lang="en-US" dirty="0" err="1"/>
                  <a:t>ket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These </a:t>
                </a:r>
                <a:r>
                  <a:rPr lang="en-US" b="1" dirty="0">
                    <a:solidFill>
                      <a:srgbClr val="FF0000"/>
                    </a:solidFill>
                  </a:rPr>
                  <a:t>state vectors </a:t>
                </a:r>
                <a:r>
                  <a:rPr lang="en-US" dirty="0"/>
                  <a:t>must employ </a:t>
                </a:r>
                <a:r>
                  <a:rPr lang="en-US" b="1" dirty="0">
                    <a:solidFill>
                      <a:srgbClr val="FF0000"/>
                    </a:solidFill>
                  </a:rPr>
                  <a:t>complex numbers </a:t>
                </a:r>
                <a:r>
                  <a:rPr lang="en-US" dirty="0"/>
                  <a:t>to properly describe quantum mechanical systems.</a:t>
                </a:r>
              </a:p>
              <a:p>
                <a:r>
                  <a:rPr lang="en-US" dirty="0"/>
                  <a:t>Quantum state vectors are part of a </a:t>
                </a:r>
                <a:r>
                  <a:rPr lang="en-US" b="1" dirty="0">
                    <a:solidFill>
                      <a:srgbClr val="FF0000"/>
                    </a:solidFill>
                  </a:rPr>
                  <a:t>vector space </a:t>
                </a:r>
                <a:r>
                  <a:rPr lang="en-US" dirty="0"/>
                  <a:t>that we call a </a:t>
                </a:r>
                <a:r>
                  <a:rPr lang="en-US" b="1" dirty="0">
                    <a:solidFill>
                      <a:srgbClr val="FF0000"/>
                    </a:solidFill>
                  </a:rPr>
                  <a:t>Hilbert space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B03531-FDE2-7A04-0F9D-12883DF07C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32691"/>
                <a:ext cx="11508922" cy="3023115"/>
              </a:xfrm>
              <a:blipFill>
                <a:blip r:embed="rId3"/>
                <a:stretch>
                  <a:fillRect l="-551" t="-2092" r="-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8372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5AD8-BD2B-654F-F246-B0784F64C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Number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1C56F1-492F-58D7-43A2-D8EF28E2639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32691"/>
                <a:ext cx="9325160" cy="5412354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Can be written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𝑖𝑏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b="0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endParaRPr lang="en-US" b="0" dirty="0"/>
              </a:p>
              <a:p>
                <a:r>
                  <a:rPr lang="en-US" b="0" dirty="0"/>
                  <a:t>For each complex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b="0" dirty="0"/>
                  <a:t>, we define a conjugate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r>
                  <a:rPr lang="en-US" b="0" dirty="0"/>
                  <a:t>Conjugate Properties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6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±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6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/>
              </a:p>
              <a:p>
                <a:r>
                  <a:rPr lang="en-US" b="0" dirty="0"/>
                  <a:t>Polar representation of complex numbers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Conjugate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 b="0" dirty="0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altLang="en-US" dirty="0"/>
                  <a:t>If </a:t>
                </a:r>
                <a14:m>
                  <m:oMath xmlns:m="http://schemas.openxmlformats.org/officeDocument/2006/math">
                    <m:r>
                      <a:rPr lang="en-US" altLang="en-US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altLang="en-US" dirty="0"/>
                  <a:t> is a polynomial with real coefficients and </a:t>
                </a:r>
                <a14:m>
                  <m:oMath xmlns:m="http://schemas.openxmlformats.org/officeDocument/2006/math">
                    <m:r>
                      <a:rPr lang="en-US" altLang="en-US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en-US" dirty="0"/>
                  <a:t> is a solution,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US" altLang="en-U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dirty="0"/>
                  <a:t> is also a solution.</a:t>
                </a:r>
              </a:p>
              <a:p>
                <a:pPr lvl="1"/>
                <a:r>
                  <a:rPr lang="en-US" altLang="en-US" dirty="0"/>
                  <a:t>Non-real roots of real polynomials occur in complex conjugate pairs.</a:t>
                </a:r>
                <a:endParaRPr lang="en-US" dirty="0"/>
              </a:p>
              <a:p>
                <a:r>
                  <a:rPr lang="en-US" dirty="0"/>
                  <a:t>Euler’s identity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1C56F1-492F-58D7-43A2-D8EF28E263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32691"/>
                <a:ext cx="9325160" cy="5412354"/>
              </a:xfrm>
              <a:blipFill>
                <a:blip r:embed="rId2"/>
                <a:stretch>
                  <a:fillRect l="-136" t="-1405" r="-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F31F378-8436-D857-DF21-FAAFAE130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166" y="42091"/>
            <a:ext cx="2095500" cy="1981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17A2C2-A7B1-C446-9883-3E3825412F36}"/>
              </a:ext>
            </a:extLst>
          </p:cNvPr>
          <p:cNvSpPr txBox="1"/>
          <p:nvPr/>
        </p:nvSpPr>
        <p:spPr>
          <a:xfrm>
            <a:off x="10043651" y="2023291"/>
            <a:ext cx="19220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Complex numbers can be visualized in a 2D plane.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31F9FC-1E57-9E45-6E14-A4452B013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4284" y="3428435"/>
            <a:ext cx="3332329" cy="3387474"/>
          </a:xfrm>
          <a:prstGeom prst="rect">
            <a:avLst/>
          </a:prstGeom>
        </p:spPr>
      </p:pic>
      <p:sp>
        <p:nvSpPr>
          <p:cNvPr id="10" name="AutoShape 3" descr="{\displaystyle p}">
            <a:extLst>
              <a:ext uri="{FF2B5EF4-FFF2-40B4-BE49-F238E27FC236}">
                <a16:creationId xmlns:a16="http://schemas.microsoft.com/office/drawing/2014/main" id="{3653B8E2-1FEA-8375-8602-6CA93BEC01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43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{\displaystyle p(z)=0,}">
            <a:extLst>
              <a:ext uri="{FF2B5EF4-FFF2-40B4-BE49-F238E27FC236}">
                <a16:creationId xmlns:a16="http://schemas.microsoft.com/office/drawing/2014/main" id="{54F2CA1A-6884-56BC-611D-83567DE88E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290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5" descr="{\displaystyle p\left({\overline {z}}\right)=0}">
            <a:extLst>
              <a:ext uri="{FF2B5EF4-FFF2-40B4-BE49-F238E27FC236}">
                <a16:creationId xmlns:a16="http://schemas.microsoft.com/office/drawing/2014/main" id="{8ABA1D32-2726-5B02-D475-11C70AB5C3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291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68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AC52A-8A26-46BA-45BF-659FB082F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Complex Number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23320B-5190-33E5-194E-65D979C303A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Find the conjugate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3+4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Find the inverse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3+4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Find the magnitude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3+4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Normalize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3+4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Find the angle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2+3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2−3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What is complex conjugate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Verify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Show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23320B-5190-33E5-194E-65D979C303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51" t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7606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6570-1AD7-DB11-B689-A1CA8B7F7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7DF5B-6144-BCAB-09CD-102D4DB347E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19735" y="2315497"/>
            <a:ext cx="5781179" cy="4085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effectLst/>
              </a:rPr>
              <a:t>A1.  </a:t>
            </a:r>
            <a:r>
              <a:rPr lang="en-US" sz="1800" i="1" dirty="0">
                <a:effectLst/>
              </a:rPr>
              <a:t>Closure under addition: </a:t>
            </a:r>
            <a:r>
              <a:rPr lang="en-US" sz="1800" dirty="0">
                <a:effectLst/>
              </a:rPr>
              <a:t>For each pair of vectors </a:t>
            </a:r>
            <a:r>
              <a:rPr lang="en-US" sz="1800" b="1" dirty="0">
                <a:effectLst/>
              </a:rPr>
              <a:t>u </a:t>
            </a:r>
            <a:r>
              <a:rPr lang="en-US" sz="1800" dirty="0">
                <a:effectLst/>
              </a:rPr>
              <a:t>and </a:t>
            </a:r>
            <a:r>
              <a:rPr lang="en-US" sz="1800" b="1" dirty="0">
                <a:effectLst/>
              </a:rPr>
              <a:t>v </a:t>
            </a:r>
            <a:r>
              <a:rPr lang="en-US" sz="1800" dirty="0">
                <a:effectLst/>
              </a:rPr>
              <a:t>in </a:t>
            </a:r>
            <a:r>
              <a:rPr lang="en-US" sz="1800" i="1" dirty="0">
                <a:effectLst/>
              </a:rPr>
              <a:t>V </a:t>
            </a:r>
            <a:r>
              <a:rPr lang="en-US" sz="1800" dirty="0">
                <a:effectLst/>
              </a:rPr>
              <a:t>, the sum </a:t>
            </a:r>
            <a:r>
              <a:rPr lang="en-US" sz="1800" b="1" dirty="0">
                <a:effectLst/>
              </a:rPr>
              <a:t>u </a:t>
            </a:r>
            <a:r>
              <a:rPr lang="en-US" sz="1800" dirty="0">
                <a:effectLst/>
              </a:rPr>
              <a:t>+ </a:t>
            </a:r>
            <a:r>
              <a:rPr lang="en-US" sz="1800" b="1" dirty="0">
                <a:effectLst/>
              </a:rPr>
              <a:t>v </a:t>
            </a:r>
            <a:r>
              <a:rPr lang="en-US" sz="1800" dirty="0">
                <a:effectLst/>
              </a:rPr>
              <a:t>is also in </a:t>
            </a:r>
            <a:r>
              <a:rPr lang="en-US" sz="1800" i="1" dirty="0">
                <a:effectLst/>
              </a:rPr>
              <a:t>V </a:t>
            </a:r>
            <a:r>
              <a:rPr lang="en-US" sz="1800" dirty="0">
                <a:effectLst/>
              </a:rPr>
              <a:t>. We say that </a:t>
            </a:r>
            <a:r>
              <a:rPr lang="en-US" sz="1800" i="1" dirty="0">
                <a:effectLst/>
              </a:rPr>
              <a:t>V </a:t>
            </a:r>
            <a:r>
              <a:rPr lang="en-US" sz="1800" dirty="0">
                <a:effectLst/>
              </a:rPr>
              <a:t>is </a:t>
            </a:r>
            <a:r>
              <a:rPr lang="en-US" sz="1800" b="1" dirty="0">
                <a:effectLst/>
              </a:rPr>
              <a:t>closed under addition</a:t>
            </a:r>
            <a:r>
              <a:rPr lang="en-US" sz="1800" dirty="0">
                <a:effectLst/>
              </a:rPr>
              <a:t>. </a:t>
            </a:r>
            <a:endParaRPr lang="en-US" sz="1800" b="1" dirty="0">
              <a:effectLst/>
            </a:endParaRPr>
          </a:p>
          <a:p>
            <a:pPr marL="0" indent="0">
              <a:buNone/>
            </a:pPr>
            <a:r>
              <a:rPr lang="en-US" sz="1800" b="1" dirty="0">
                <a:effectLst/>
              </a:rPr>
              <a:t>A2.  </a:t>
            </a:r>
            <a:r>
              <a:rPr lang="en-US" sz="1800" i="1" dirty="0">
                <a:effectLst/>
              </a:rPr>
              <a:t>Closure under scalar multiplication: </a:t>
            </a:r>
            <a:r>
              <a:rPr lang="en-US" sz="1800" dirty="0">
                <a:effectLst/>
              </a:rPr>
              <a:t>For each vector </a:t>
            </a:r>
            <a:r>
              <a:rPr lang="en-US" sz="1800" b="1" dirty="0">
                <a:effectLst/>
              </a:rPr>
              <a:t>v </a:t>
            </a:r>
            <a:r>
              <a:rPr lang="en-US" sz="1800" dirty="0">
                <a:effectLst/>
              </a:rPr>
              <a:t>in </a:t>
            </a:r>
            <a:r>
              <a:rPr lang="en-US" sz="1800" i="1" dirty="0">
                <a:effectLst/>
              </a:rPr>
              <a:t>V </a:t>
            </a:r>
            <a:r>
              <a:rPr lang="en-US" sz="1800" dirty="0">
                <a:effectLst/>
              </a:rPr>
              <a:t>and each scalar </a:t>
            </a:r>
            <a:r>
              <a:rPr lang="en-US" sz="1800" i="1" dirty="0">
                <a:effectLst/>
              </a:rPr>
              <a:t>k </a:t>
            </a:r>
            <a:r>
              <a:rPr lang="en-US" sz="1800" dirty="0">
                <a:effectLst/>
              </a:rPr>
              <a:t>in </a:t>
            </a:r>
            <a:r>
              <a:rPr lang="en-US" sz="1800" i="1" dirty="0">
                <a:effectLst/>
              </a:rPr>
              <a:t>F </a:t>
            </a:r>
            <a:r>
              <a:rPr lang="en-US" sz="1800" dirty="0">
                <a:effectLst/>
              </a:rPr>
              <a:t>, the scalar multiple </a:t>
            </a:r>
            <a:r>
              <a:rPr lang="en-US" sz="1800" i="1" dirty="0">
                <a:effectLst/>
              </a:rPr>
              <a:t>k </a:t>
            </a:r>
            <a:r>
              <a:rPr lang="en-US" sz="1800" b="1" dirty="0">
                <a:effectLst/>
              </a:rPr>
              <a:t>v </a:t>
            </a:r>
            <a:r>
              <a:rPr lang="en-US" sz="1800" dirty="0">
                <a:effectLst/>
              </a:rPr>
              <a:t>is also in </a:t>
            </a:r>
            <a:r>
              <a:rPr lang="en-US" sz="1800" i="1" dirty="0">
                <a:effectLst/>
              </a:rPr>
              <a:t>V </a:t>
            </a:r>
            <a:r>
              <a:rPr lang="en-US" sz="1800" dirty="0">
                <a:effectLst/>
              </a:rPr>
              <a:t>. We say that </a:t>
            </a:r>
            <a:r>
              <a:rPr lang="en-US" sz="1800" i="1" dirty="0">
                <a:effectLst/>
              </a:rPr>
              <a:t>V </a:t>
            </a:r>
            <a:r>
              <a:rPr lang="en-US" sz="1800" dirty="0">
                <a:effectLst/>
              </a:rPr>
              <a:t>is </a:t>
            </a:r>
            <a:r>
              <a:rPr lang="en-US" sz="1800" b="1" dirty="0">
                <a:effectLst/>
              </a:rPr>
              <a:t>closed under scalar multiplication</a:t>
            </a:r>
            <a:r>
              <a:rPr lang="en-US" sz="1800" dirty="0">
                <a:effectLst/>
              </a:rPr>
              <a:t>. </a:t>
            </a:r>
            <a:endParaRPr lang="en-US" sz="1800" b="1" dirty="0">
              <a:effectLst/>
            </a:endParaRPr>
          </a:p>
          <a:p>
            <a:pPr marL="0" indent="0">
              <a:buNone/>
            </a:pPr>
            <a:r>
              <a:rPr lang="en-US" sz="1800" b="1" dirty="0">
                <a:effectLst/>
              </a:rPr>
              <a:t>A3.  </a:t>
            </a:r>
            <a:r>
              <a:rPr lang="en-US" sz="1800" i="1" dirty="0">
                <a:effectLst/>
              </a:rPr>
              <a:t>Commutativity of addition: </a:t>
            </a:r>
            <a:r>
              <a:rPr lang="en-US" sz="1800" dirty="0">
                <a:effectLst/>
              </a:rPr>
              <a:t>For all </a:t>
            </a:r>
            <a:r>
              <a:rPr lang="en-US" sz="1800" b="1" dirty="0">
                <a:effectLst/>
              </a:rPr>
              <a:t>u</a:t>
            </a:r>
            <a:r>
              <a:rPr lang="en-US" sz="1800" dirty="0">
                <a:effectLst/>
              </a:rPr>
              <a:t>, </a:t>
            </a:r>
            <a:r>
              <a:rPr lang="en-US" sz="1800" b="1" dirty="0">
                <a:effectLst/>
              </a:rPr>
              <a:t>v </a:t>
            </a:r>
            <a:r>
              <a:rPr lang="en-US" sz="1800" dirty="0">
                <a:effectLst/>
              </a:rPr>
              <a:t>∈ </a:t>
            </a:r>
            <a:r>
              <a:rPr lang="en-US" sz="1800" i="1" dirty="0">
                <a:effectLst/>
              </a:rPr>
              <a:t>V </a:t>
            </a:r>
            <a:r>
              <a:rPr lang="en-US" sz="1800" dirty="0">
                <a:effectLst/>
              </a:rPr>
              <a:t>, we have </a:t>
            </a:r>
            <a:r>
              <a:rPr lang="en-US" sz="1800" b="1" dirty="0">
                <a:effectLst/>
              </a:rPr>
              <a:t>u </a:t>
            </a:r>
            <a:r>
              <a:rPr lang="en-US" sz="1800" dirty="0">
                <a:effectLst/>
              </a:rPr>
              <a:t>+ </a:t>
            </a:r>
            <a:r>
              <a:rPr lang="en-US" sz="1800" b="1" dirty="0">
                <a:effectLst/>
              </a:rPr>
              <a:t>v </a:t>
            </a:r>
            <a:r>
              <a:rPr lang="en-US" sz="1800" dirty="0">
                <a:effectLst/>
              </a:rPr>
              <a:t>= </a:t>
            </a:r>
            <a:r>
              <a:rPr lang="en-US" sz="1800" b="1" dirty="0">
                <a:effectLst/>
              </a:rPr>
              <a:t>v </a:t>
            </a:r>
            <a:r>
              <a:rPr lang="en-US" sz="1800" dirty="0">
                <a:effectLst/>
              </a:rPr>
              <a:t>+ </a:t>
            </a:r>
            <a:r>
              <a:rPr lang="en-US" sz="1800" b="1" dirty="0">
                <a:effectLst/>
              </a:rPr>
              <a:t>u</a:t>
            </a:r>
            <a:r>
              <a:rPr lang="en-US" sz="1800" dirty="0">
                <a:effectLst/>
              </a:rPr>
              <a:t>. </a:t>
            </a:r>
            <a:endParaRPr lang="en-US" sz="1800" b="1" dirty="0">
              <a:effectLst/>
            </a:endParaRPr>
          </a:p>
          <a:p>
            <a:pPr marL="0" indent="0">
              <a:buNone/>
            </a:pPr>
            <a:r>
              <a:rPr lang="en-US" sz="1800" b="1" dirty="0">
                <a:effectLst/>
              </a:rPr>
              <a:t>A4.  </a:t>
            </a:r>
            <a:r>
              <a:rPr lang="en-US" sz="1800" i="1" dirty="0">
                <a:effectLst/>
              </a:rPr>
              <a:t>Associativity of addition: </a:t>
            </a:r>
            <a:r>
              <a:rPr lang="en-US" sz="1800" dirty="0">
                <a:effectLst/>
              </a:rPr>
              <a:t>For all </a:t>
            </a:r>
            <a:r>
              <a:rPr lang="en-US" sz="1800" b="1" dirty="0">
                <a:effectLst/>
              </a:rPr>
              <a:t>u</a:t>
            </a:r>
            <a:r>
              <a:rPr lang="en-US" sz="1800" dirty="0">
                <a:effectLst/>
              </a:rPr>
              <a:t>, </a:t>
            </a:r>
            <a:r>
              <a:rPr lang="en-US" sz="1800" b="1" dirty="0">
                <a:effectLst/>
              </a:rPr>
              <a:t>v</a:t>
            </a:r>
            <a:r>
              <a:rPr lang="en-US" sz="1800" dirty="0">
                <a:effectLst/>
              </a:rPr>
              <a:t>, </a:t>
            </a:r>
            <a:r>
              <a:rPr lang="en-US" sz="1800" b="1" dirty="0">
                <a:effectLst/>
              </a:rPr>
              <a:t>w </a:t>
            </a:r>
            <a:r>
              <a:rPr lang="en-US" sz="1800" dirty="0">
                <a:effectLst/>
              </a:rPr>
              <a:t>∈ </a:t>
            </a:r>
            <a:r>
              <a:rPr lang="en-US" sz="1800" i="1" dirty="0">
                <a:effectLst/>
              </a:rPr>
              <a:t>V </a:t>
            </a:r>
            <a:r>
              <a:rPr lang="en-US" sz="1800" dirty="0">
                <a:effectLst/>
              </a:rPr>
              <a:t>, we have (</a:t>
            </a:r>
            <a:r>
              <a:rPr lang="en-US" sz="1800" b="1" dirty="0">
                <a:effectLst/>
              </a:rPr>
              <a:t>u </a:t>
            </a:r>
            <a:r>
              <a:rPr lang="en-US" sz="1800" dirty="0">
                <a:effectLst/>
              </a:rPr>
              <a:t>+ </a:t>
            </a:r>
            <a:r>
              <a:rPr lang="en-US" sz="1800" b="1" dirty="0">
                <a:effectLst/>
              </a:rPr>
              <a:t>v</a:t>
            </a:r>
            <a:r>
              <a:rPr lang="en-US" sz="1800" dirty="0">
                <a:effectLst/>
              </a:rPr>
              <a:t>) + </a:t>
            </a:r>
            <a:r>
              <a:rPr lang="en-US" sz="1800" b="1" dirty="0">
                <a:effectLst/>
              </a:rPr>
              <a:t>w </a:t>
            </a:r>
            <a:r>
              <a:rPr lang="en-US" sz="1800" dirty="0">
                <a:effectLst/>
              </a:rPr>
              <a:t>= </a:t>
            </a:r>
            <a:r>
              <a:rPr lang="en-US" sz="1800" b="1" dirty="0">
                <a:effectLst/>
              </a:rPr>
              <a:t>u </a:t>
            </a:r>
            <a:r>
              <a:rPr lang="en-US" sz="1800" dirty="0">
                <a:effectLst/>
              </a:rPr>
              <a:t>+ (</a:t>
            </a:r>
            <a:r>
              <a:rPr lang="en-US" sz="1800" b="1" dirty="0">
                <a:effectLst/>
              </a:rPr>
              <a:t>v </a:t>
            </a:r>
            <a:r>
              <a:rPr lang="en-US" sz="1800" dirty="0">
                <a:effectLst/>
              </a:rPr>
              <a:t>+ </a:t>
            </a:r>
            <a:r>
              <a:rPr lang="en-US" sz="1800" b="1" dirty="0">
                <a:effectLst/>
              </a:rPr>
              <a:t>w</a:t>
            </a:r>
            <a:r>
              <a:rPr lang="en-US" sz="1800" dirty="0">
                <a:effectLst/>
              </a:rPr>
              <a:t>). </a:t>
            </a:r>
            <a:endParaRPr lang="en-US" sz="1800" b="1" dirty="0">
              <a:effectLst/>
            </a:endParaRPr>
          </a:p>
          <a:p>
            <a:pPr marL="0" indent="0">
              <a:buNone/>
            </a:pPr>
            <a:r>
              <a:rPr lang="en-US" sz="1800" b="1" dirty="0">
                <a:effectLst/>
              </a:rPr>
              <a:t>A5.  </a:t>
            </a:r>
            <a:r>
              <a:rPr lang="en-US" sz="1800" i="1" dirty="0">
                <a:effectLst/>
              </a:rPr>
              <a:t>Existence of a zero vector in V : </a:t>
            </a:r>
            <a:r>
              <a:rPr lang="en-US" sz="1800" dirty="0">
                <a:effectLst/>
              </a:rPr>
              <a:t>In </a:t>
            </a:r>
            <a:r>
              <a:rPr lang="en-US" sz="1800" i="1" dirty="0">
                <a:effectLst/>
              </a:rPr>
              <a:t>V </a:t>
            </a:r>
            <a:r>
              <a:rPr lang="en-US" sz="1800" dirty="0">
                <a:effectLst/>
              </a:rPr>
              <a:t>there is a vector, denoted </a:t>
            </a:r>
            <a:r>
              <a:rPr lang="en-US" sz="1800" b="1" dirty="0">
                <a:effectLst/>
              </a:rPr>
              <a:t>0</a:t>
            </a:r>
            <a:r>
              <a:rPr lang="en-US" sz="1800" dirty="0">
                <a:effectLst/>
              </a:rPr>
              <a:t>, satisfying </a:t>
            </a:r>
            <a:r>
              <a:rPr lang="en-US" sz="1800" b="1" dirty="0">
                <a:effectLst/>
              </a:rPr>
              <a:t>v </a:t>
            </a:r>
            <a:r>
              <a:rPr lang="en-US" sz="1800" dirty="0">
                <a:effectLst/>
              </a:rPr>
              <a:t>+ </a:t>
            </a:r>
            <a:r>
              <a:rPr lang="en-US" sz="1800" b="1" dirty="0">
                <a:effectLst/>
              </a:rPr>
              <a:t>0 </a:t>
            </a:r>
            <a:r>
              <a:rPr lang="en-US" sz="1800" dirty="0">
                <a:effectLst/>
              </a:rPr>
              <a:t>= </a:t>
            </a:r>
            <a:r>
              <a:rPr lang="en-US" sz="1800" b="1" dirty="0">
                <a:effectLst/>
              </a:rPr>
              <a:t>v</a:t>
            </a:r>
            <a:r>
              <a:rPr lang="en-US" sz="1800" dirty="0">
                <a:effectLst/>
              </a:rPr>
              <a:t>, for all </a:t>
            </a:r>
            <a:r>
              <a:rPr lang="en-US" sz="1800" b="1" dirty="0">
                <a:effectLst/>
              </a:rPr>
              <a:t>v </a:t>
            </a:r>
            <a:r>
              <a:rPr lang="en-US" sz="1800" dirty="0">
                <a:effectLst/>
              </a:rPr>
              <a:t>∈ </a:t>
            </a:r>
            <a:r>
              <a:rPr lang="en-US" sz="1800" i="1" dirty="0">
                <a:effectLst/>
              </a:rPr>
              <a:t>V</a:t>
            </a:r>
            <a:r>
              <a:rPr lang="en-US" sz="1800" dirty="0">
                <a:effectLst/>
              </a:rPr>
              <a:t>. </a:t>
            </a:r>
            <a:endParaRPr lang="en-US" dirty="0">
              <a:effectLst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038C6-E788-DE9B-9113-A8EDC6EFD4CB}"/>
              </a:ext>
            </a:extLst>
          </p:cNvPr>
          <p:cNvSpPr txBox="1">
            <a:spLocks/>
          </p:cNvSpPr>
          <p:nvPr/>
        </p:nvSpPr>
        <p:spPr>
          <a:xfrm>
            <a:off x="6100916" y="2315498"/>
            <a:ext cx="5781179" cy="376083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800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rgbClr val="002060"/>
                </a:solidFill>
                <a:latin typeface="Candara" pitchFamily="34" charset="0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rgbClr val="006600"/>
                </a:solidFill>
                <a:latin typeface="Candara" pitchFamily="34" charset="0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000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A6.  </a:t>
            </a:r>
            <a:r>
              <a:rPr lang="en-US" sz="1800" i="1" dirty="0"/>
              <a:t>Existence of additive inverses in V : </a:t>
            </a:r>
            <a:r>
              <a:rPr lang="en-US" sz="1800" dirty="0"/>
              <a:t>For each vector </a:t>
            </a:r>
            <a:r>
              <a:rPr lang="en-US" sz="1800" b="1" dirty="0"/>
              <a:t>v </a:t>
            </a:r>
            <a:r>
              <a:rPr lang="en-US" sz="1800" dirty="0"/>
              <a:t>∈ </a:t>
            </a:r>
            <a:r>
              <a:rPr lang="en-US" sz="1800" i="1" dirty="0"/>
              <a:t>V</a:t>
            </a:r>
            <a:r>
              <a:rPr lang="en-US" sz="1800" dirty="0"/>
              <a:t>, there is a vector, denoted −</a:t>
            </a:r>
            <a:r>
              <a:rPr lang="en-US" sz="1800" b="1" dirty="0"/>
              <a:t>v</a:t>
            </a:r>
            <a:r>
              <a:rPr lang="en-US" sz="1800" dirty="0"/>
              <a:t>, in </a:t>
            </a:r>
            <a:r>
              <a:rPr lang="en-US" sz="1800" i="1" dirty="0"/>
              <a:t>V </a:t>
            </a:r>
            <a:r>
              <a:rPr lang="en-US" sz="1800" dirty="0"/>
              <a:t>such that </a:t>
            </a:r>
            <a:r>
              <a:rPr lang="en-US" sz="1800" b="1" dirty="0"/>
              <a:t>v </a:t>
            </a:r>
            <a:r>
              <a:rPr lang="en-US" sz="1800" dirty="0"/>
              <a:t>+ (−</a:t>
            </a:r>
            <a:r>
              <a:rPr lang="en-US" sz="1800" b="1" dirty="0"/>
              <a:t>v</a:t>
            </a:r>
            <a:r>
              <a:rPr lang="en-US" sz="1800" dirty="0"/>
              <a:t>) = </a:t>
            </a:r>
            <a:r>
              <a:rPr lang="en-US" sz="1800" b="1" dirty="0"/>
              <a:t>0</a:t>
            </a:r>
            <a:r>
              <a:rPr lang="en-US" sz="1800" dirty="0"/>
              <a:t>. 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A7.  </a:t>
            </a:r>
            <a:r>
              <a:rPr lang="en-US" sz="1800" i="1" dirty="0"/>
              <a:t>Unit property: </a:t>
            </a:r>
            <a:r>
              <a:rPr lang="en-US" sz="1800" dirty="0"/>
              <a:t>For all </a:t>
            </a:r>
            <a:r>
              <a:rPr lang="en-US" sz="1800" b="1" dirty="0"/>
              <a:t>v </a:t>
            </a:r>
            <a:r>
              <a:rPr lang="en-US" sz="1800" dirty="0"/>
              <a:t>∈ </a:t>
            </a:r>
            <a:r>
              <a:rPr lang="en-US" sz="1800" i="1" dirty="0"/>
              <a:t>V</a:t>
            </a:r>
            <a:r>
              <a:rPr lang="en-US" sz="1800" dirty="0"/>
              <a:t>, 1</a:t>
            </a:r>
            <a:r>
              <a:rPr lang="en-US" sz="1800" b="1" dirty="0"/>
              <a:t>v </a:t>
            </a:r>
            <a:r>
              <a:rPr lang="en-US" sz="1800" dirty="0"/>
              <a:t>= </a:t>
            </a:r>
            <a:r>
              <a:rPr lang="en-US" sz="1800" b="1" dirty="0"/>
              <a:t>v</a:t>
            </a:r>
            <a:r>
              <a:rPr lang="en-US" sz="1800" dirty="0"/>
              <a:t>. 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A8.  </a:t>
            </a:r>
            <a:r>
              <a:rPr lang="en-US" sz="1800" i="1" dirty="0"/>
              <a:t>Associativity of scalar multiplication: </a:t>
            </a:r>
            <a:r>
              <a:rPr lang="en-US" sz="1800" dirty="0"/>
              <a:t>For all </a:t>
            </a:r>
            <a:r>
              <a:rPr lang="en-US" sz="1800" b="1" dirty="0"/>
              <a:t>v </a:t>
            </a:r>
            <a:r>
              <a:rPr lang="en-US" sz="1800" dirty="0"/>
              <a:t>∈ </a:t>
            </a:r>
            <a:r>
              <a:rPr lang="en-US" sz="1800" i="1" dirty="0"/>
              <a:t>V </a:t>
            </a:r>
            <a:r>
              <a:rPr lang="en-US" sz="1800" dirty="0"/>
              <a:t>and all scalars </a:t>
            </a:r>
            <a:r>
              <a:rPr lang="en-US" sz="1800" i="1" dirty="0"/>
              <a:t>r</a:t>
            </a:r>
            <a:r>
              <a:rPr lang="en-US" sz="1800" dirty="0"/>
              <a:t>, </a:t>
            </a:r>
            <a:r>
              <a:rPr lang="en-US" sz="1800" i="1" dirty="0"/>
              <a:t>s </a:t>
            </a:r>
            <a:r>
              <a:rPr lang="en-US" sz="1800" dirty="0"/>
              <a:t>∈ </a:t>
            </a:r>
            <a:r>
              <a:rPr lang="en-US" sz="1800" i="1" dirty="0"/>
              <a:t>F </a:t>
            </a:r>
            <a:r>
              <a:rPr lang="en-US" sz="1800" dirty="0"/>
              <a:t>, (</a:t>
            </a:r>
            <a:r>
              <a:rPr lang="en-US" sz="1800" i="1" dirty="0" err="1"/>
              <a:t>rs</a:t>
            </a:r>
            <a:r>
              <a:rPr lang="en-US" sz="1800" dirty="0"/>
              <a:t>)</a:t>
            </a:r>
            <a:r>
              <a:rPr lang="en-US" sz="1800" b="1" dirty="0"/>
              <a:t>v </a:t>
            </a:r>
            <a:r>
              <a:rPr lang="en-US" sz="1800" dirty="0"/>
              <a:t>= </a:t>
            </a:r>
            <a:r>
              <a:rPr lang="en-US" sz="1800" i="1" dirty="0"/>
              <a:t>r</a:t>
            </a:r>
            <a:r>
              <a:rPr lang="en-US" sz="1800" dirty="0"/>
              <a:t>(</a:t>
            </a:r>
            <a:r>
              <a:rPr lang="en-US" sz="1800" i="1" dirty="0" err="1"/>
              <a:t>s</a:t>
            </a:r>
            <a:r>
              <a:rPr lang="en-US" sz="1800" b="1" dirty="0" err="1"/>
              <a:t>v</a:t>
            </a:r>
            <a:r>
              <a:rPr lang="en-US" sz="1800" dirty="0"/>
              <a:t>). 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A9.  </a:t>
            </a:r>
            <a:r>
              <a:rPr lang="en-US" sz="1800" i="1" dirty="0"/>
              <a:t>Distributive property of scalar multiplication over vector addition: </a:t>
            </a:r>
            <a:r>
              <a:rPr lang="en-US" sz="1800" dirty="0"/>
              <a:t>For all </a:t>
            </a:r>
            <a:r>
              <a:rPr lang="en-US" sz="1800" b="1" dirty="0"/>
              <a:t>u</a:t>
            </a:r>
            <a:r>
              <a:rPr lang="en-US" sz="1800" dirty="0"/>
              <a:t>, </a:t>
            </a:r>
            <a:r>
              <a:rPr lang="en-US" sz="1800" b="1" dirty="0"/>
              <a:t>v </a:t>
            </a:r>
            <a:r>
              <a:rPr lang="en-US" sz="1800" dirty="0"/>
              <a:t>∈ </a:t>
            </a:r>
            <a:r>
              <a:rPr lang="en-US" sz="1800" i="1" dirty="0"/>
              <a:t>V </a:t>
            </a:r>
            <a:r>
              <a:rPr lang="en-US" sz="1800" dirty="0"/>
              <a:t>and all scalars </a:t>
            </a:r>
            <a:r>
              <a:rPr lang="en-US" sz="1800" i="1" dirty="0"/>
              <a:t>r </a:t>
            </a:r>
            <a:r>
              <a:rPr lang="en-US" sz="1800" dirty="0"/>
              <a:t>∈ </a:t>
            </a:r>
            <a:r>
              <a:rPr lang="en-US" sz="1800" i="1" dirty="0"/>
              <a:t>F </a:t>
            </a:r>
            <a:r>
              <a:rPr lang="en-US" sz="1800" dirty="0"/>
              <a:t>, </a:t>
            </a:r>
            <a:r>
              <a:rPr lang="en-US" sz="1800" i="1" dirty="0"/>
              <a:t>r</a:t>
            </a:r>
            <a:r>
              <a:rPr lang="en-US" sz="1800" dirty="0"/>
              <a:t>(</a:t>
            </a:r>
            <a:r>
              <a:rPr lang="en-US" sz="1800" b="1" dirty="0"/>
              <a:t>u </a:t>
            </a:r>
            <a:r>
              <a:rPr lang="en-US" sz="1800" dirty="0"/>
              <a:t>+ </a:t>
            </a:r>
            <a:r>
              <a:rPr lang="en-US" sz="1800" b="1" dirty="0"/>
              <a:t>v</a:t>
            </a:r>
            <a:r>
              <a:rPr lang="en-US" sz="1800" dirty="0"/>
              <a:t>) = </a:t>
            </a:r>
            <a:r>
              <a:rPr lang="en-US" sz="1800" i="1" dirty="0" err="1"/>
              <a:t>r</a:t>
            </a:r>
            <a:r>
              <a:rPr lang="en-US" sz="1800" b="1" dirty="0" err="1"/>
              <a:t>u</a:t>
            </a:r>
            <a:r>
              <a:rPr lang="en-US" sz="1800" b="1" dirty="0"/>
              <a:t> </a:t>
            </a:r>
            <a:r>
              <a:rPr lang="en-US" sz="1800" dirty="0"/>
              <a:t>+ </a:t>
            </a:r>
            <a:r>
              <a:rPr lang="en-US" sz="1800" i="1" dirty="0" err="1"/>
              <a:t>r</a:t>
            </a:r>
            <a:r>
              <a:rPr lang="en-US" sz="1800" b="1" dirty="0" err="1"/>
              <a:t>v</a:t>
            </a:r>
            <a:r>
              <a:rPr lang="en-US" sz="1800" dirty="0" err="1"/>
              <a:t>.</a:t>
            </a:r>
            <a:r>
              <a:rPr lang="en-US" sz="1800" dirty="0"/>
              <a:t> 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A10.  </a:t>
            </a:r>
            <a:r>
              <a:rPr lang="en-US" sz="1800" i="1" dirty="0"/>
              <a:t>Distributive property of scalar multiplication over scalar addition: </a:t>
            </a:r>
            <a:r>
              <a:rPr lang="en-US" sz="1800" dirty="0"/>
              <a:t>For all </a:t>
            </a:r>
            <a:r>
              <a:rPr lang="en-US" sz="1800" b="1" dirty="0" err="1"/>
              <a:t>v</a:t>
            </a:r>
            <a:r>
              <a:rPr lang="en-US" sz="1800" dirty="0" err="1"/>
              <a:t>∈</a:t>
            </a:r>
            <a:r>
              <a:rPr lang="en-US" sz="1800" i="1" dirty="0" err="1"/>
              <a:t>V</a:t>
            </a:r>
            <a:r>
              <a:rPr lang="en-US" sz="1800" i="1" dirty="0"/>
              <a:t> </a:t>
            </a:r>
            <a:r>
              <a:rPr lang="en-US" sz="1800" dirty="0"/>
              <a:t>and all scalars </a:t>
            </a:r>
            <a:r>
              <a:rPr lang="en-US" sz="1800" i="1" dirty="0" err="1"/>
              <a:t>r</a:t>
            </a:r>
            <a:r>
              <a:rPr lang="en-US" sz="1800" dirty="0" err="1"/>
              <a:t>,</a:t>
            </a:r>
            <a:r>
              <a:rPr lang="en-US" sz="1800" i="1" dirty="0" err="1"/>
              <a:t>s</a:t>
            </a:r>
            <a:r>
              <a:rPr lang="en-US" sz="1800" i="1" dirty="0"/>
              <a:t> </a:t>
            </a:r>
            <a:r>
              <a:rPr lang="en-US" sz="1800" dirty="0"/>
              <a:t>∈ </a:t>
            </a:r>
            <a:r>
              <a:rPr lang="en-US" sz="1800" i="1" dirty="0"/>
              <a:t>F</a:t>
            </a:r>
            <a:r>
              <a:rPr lang="en-US" sz="1800" dirty="0"/>
              <a:t>,</a:t>
            </a:r>
            <a:br>
              <a:rPr lang="en-US" sz="1800" dirty="0"/>
            </a:br>
            <a:r>
              <a:rPr lang="en-US" sz="1800" dirty="0"/>
              <a:t>(</a:t>
            </a:r>
            <a:r>
              <a:rPr lang="en-US" sz="1800" i="1" dirty="0"/>
              <a:t>r </a:t>
            </a:r>
            <a:r>
              <a:rPr lang="en-US" sz="1800" dirty="0"/>
              <a:t>+ </a:t>
            </a:r>
            <a:r>
              <a:rPr lang="en-US" sz="1800" i="1" dirty="0"/>
              <a:t>s</a:t>
            </a:r>
            <a:r>
              <a:rPr lang="en-US" sz="1800" dirty="0"/>
              <a:t>)</a:t>
            </a:r>
            <a:r>
              <a:rPr lang="en-US" sz="1800" b="1" dirty="0"/>
              <a:t>v </a:t>
            </a:r>
            <a:r>
              <a:rPr lang="en-US" sz="1800" dirty="0"/>
              <a:t>= </a:t>
            </a:r>
            <a:r>
              <a:rPr lang="en-US" sz="1800" i="1" dirty="0" err="1"/>
              <a:t>r</a:t>
            </a:r>
            <a:r>
              <a:rPr lang="en-US" sz="1800" b="1" dirty="0" err="1"/>
              <a:t>v</a:t>
            </a:r>
            <a:r>
              <a:rPr lang="en-US" sz="1800" b="1" dirty="0"/>
              <a:t> </a:t>
            </a:r>
            <a:r>
              <a:rPr lang="en-US" sz="1800" dirty="0"/>
              <a:t>+ </a:t>
            </a:r>
            <a:r>
              <a:rPr lang="en-US" sz="1800" i="1" dirty="0" err="1"/>
              <a:t>s</a:t>
            </a:r>
            <a:r>
              <a:rPr lang="en-US" sz="1800" b="1" dirty="0" err="1"/>
              <a:t>v</a:t>
            </a:r>
            <a:r>
              <a:rPr lang="en-US" sz="1800" dirty="0"/>
              <a:t>.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FFEACE8-D0E3-DED1-8282-4B9ECA375E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507" y="1032692"/>
                <a:ext cx="11508922" cy="1282805"/>
              </a:xfrm>
              <a:prstGeom prst="rect">
                <a:avLst/>
              </a:prstGeom>
            </p:spPr>
            <p:txBody>
              <a:bodyPr vert="horz">
                <a:normAutofit fontScale="850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2060"/>
                    </a:solidFill>
                    <a:latin typeface="Candara" pitchFamily="34" charset="0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6600"/>
                    </a:solidFill>
                    <a:latin typeface="Candara" pitchFamily="34" charset="0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20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be a nonempty set (whose elements are called vectors) on which is defined an addition operation 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dirty="0"/>
                  <a:t>) and a scalar multiplication operation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dirty="0"/>
                  <a:t>) with scalars in </a:t>
                </a:r>
                <a:r>
                  <a:rPr lang="en-US" i="1" dirty="0"/>
                  <a:t>F</a:t>
                </a:r>
                <a:r>
                  <a:rPr lang="en-US" dirty="0"/>
                  <a:t>. We call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 </a:t>
                </a:r>
                <a:r>
                  <a:rPr lang="en-US" b="1" dirty="0"/>
                  <a:t>vector space over a field </a:t>
                </a:r>
                <a:r>
                  <a:rPr lang="en-US" i="1" dirty="0"/>
                  <a:t>F</a:t>
                </a:r>
                <a:r>
                  <a:rPr lang="en-US" dirty="0"/>
                  <a:t>, provided the following ten conditions are satisfied: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FFEACE8-D0E3-DED1-8282-4B9ECA375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07" y="1032692"/>
                <a:ext cx="11508922" cy="1282805"/>
              </a:xfrm>
              <a:prstGeom prst="rect">
                <a:avLst/>
              </a:prstGeom>
              <a:blipFill>
                <a:blip r:embed="rId2"/>
                <a:stretch>
                  <a:fillRect l="-441" t="-8824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09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4F30-7816-016D-1EDB-00EDFAED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these Vectors Spaces?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37007E-4D3C-09C7-0CEA-228A4801C96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86697" y="1032691"/>
                <a:ext cx="11179732" cy="5353361"/>
              </a:xfrm>
            </p:spPr>
            <p:txBody>
              <a:bodyPr>
                <a:normAutofit fontScale="40000" lnSpcReduction="2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4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dirty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4400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4400" dirty="0"/>
                  <a:t>, the (real) vector space of all ordered n-tuples of real numbers.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4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dirty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sz="4400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4400" dirty="0"/>
                  <a:t>, the (complex) vector space of all ordered n-tuples of complex numbers.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440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44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4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4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dirty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4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400" dirty="0"/>
                  <a:t>,the(real) vector space of al </a:t>
                </a:r>
                <a:r>
                  <a:rPr lang="en-US" sz="4400" dirty="0" err="1"/>
                  <a:t>m×n</a:t>
                </a:r>
                <a:r>
                  <a:rPr lang="en-US" sz="4400" dirty="0"/>
                  <a:t> matrices with real elements.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4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dirty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</m:d>
                  </m:oMath>
                </a14:m>
                <a:r>
                  <a:rPr lang="en-US" sz="4400" dirty="0"/>
                  <a:t> ,the (real) vector space of all </a:t>
                </a:r>
                <a:r>
                  <a:rPr lang="en-US" sz="4400" dirty="0" err="1"/>
                  <a:t>n×n</a:t>
                </a:r>
                <a:r>
                  <a:rPr lang="en-US" sz="4400" dirty="0"/>
                  <a:t> matrices with real elements.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440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4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4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400" dirty="0"/>
                  <a:t>, the vector space of all real-valued functions that are continuous and have (at least) k continuous derivatives on an interval I in R, with the vector addition operation defined 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400" dirty="0"/>
                  <a:t>, and the scalar multiplication operation as: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𝑘𝑓</m:t>
                        </m:r>
                      </m:e>
                    </m:d>
                    <m:d>
                      <m:d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400" dirty="0"/>
                  <a:t>, for all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440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4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dirty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4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400" dirty="0"/>
                  <a:t>, the (real) vector space of all real-valued polynomials of degree ≤ n with real coefficients.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4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4400" dirty="0"/>
                  <a:t>The set </a:t>
                </a:r>
                <a14:m>
                  <m:oMath xmlns:m="http://schemas.openxmlformats.org/officeDocument/2006/math">
                    <m:r>
                      <a:rPr lang="en-US" sz="4400" dirty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4400" dirty="0"/>
                  <a:t> of integers, together with the usual operations of addition and scalar multiplication.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4400" dirty="0"/>
                  <a:t>The set {0}, with the usual operations of addition and scalar multiplication, forms a vector space.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4400" dirty="0"/>
                  <a:t>The set {0, 1}, with the usual operations of addition and scalar multiplication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4400" dirty="0"/>
                  <a:t>The set of positive real numbers, with the usual operations of addition and scalar multiplication, forms a vector space.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4400" dirty="0"/>
                  <a:t>, the set of positive real numbers, with the operations, vector addition, ⊕, and scalar multiplication, ⊙ defined as follows: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⨁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sz="440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⨀</m:t>
                    </m:r>
                    <m:r>
                      <a:rPr lang="en-US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𝑐𝑥</m:t>
                    </m:r>
                    <m:r>
                      <a:rPr lang="en-US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440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4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dirty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440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400" dirty="0"/>
                  <a:t>, with the operations of vector addition ⊕ and scalar multiplication ⊙ defined as follows: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⨁"/>
                        <m:subHide m:val="on"/>
                        <m:supHide m:val="on"/>
                        <m:ctrlP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4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4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4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440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⨀</m:t>
                    </m:r>
                    <m:d>
                      <m:d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37007E-4D3C-09C7-0CEA-228A4801C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86697" y="1032691"/>
                <a:ext cx="11179732" cy="5353361"/>
              </a:xfrm>
              <a:blipFill>
                <a:blip r:embed="rId2"/>
                <a:stretch>
                  <a:fillRect l="-114" t="-1418" r="-114"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579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F4532-4729-2004-0733-EF8CC2DAA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Basis for a Vector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B7059-6144-84FA-7489-493EF1032F9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21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15C5D-4962-DAA7-B567-CDD63C36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6AFA4-BA43-D651-9202-54EF2F738FC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3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5EF6C-2B98-C671-45DF-3E0A1C53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Eigenvectors and Eigenvalues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77B48-3D38-0B90-6CE2-C27C8434732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30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A2C2D-D2E1-3C2B-F0D3-A553E0F92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Unitary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4A4166-8EA6-A72F-2C12-21F0DAAFFCE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32435" y="1032691"/>
                <a:ext cx="11096178" cy="526393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 unitary operator is a linear operator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𝒰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dirty="0"/>
                  <a:t>a Hilbert space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dirty="0"/>
                  <a:t> that satisfies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𝒰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𝒰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𝒰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𝒰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ℐ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𝒰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 dirty="0"/>
                  <a:t> is the adjoint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𝒰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dirty="0"/>
                  <a:t> is the identity operator.</a:t>
                </a:r>
              </a:p>
              <a:p>
                <a14:m>
                  <m:oMath xmlns:m="http://schemas.openxmlformats.org/officeDocument/2006/math"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𝒰</m:t>
                    </m:r>
                  </m:oMath>
                </a14:m>
                <a:r>
                  <a:rPr lang="en-US" altLang="en-US" dirty="0"/>
                  <a:t> preserves the inner product of the Hilbert space, 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altLang="en-US" dirty="0"/>
                  <a:t>. </a:t>
                </a:r>
              </a:p>
              <a:p>
                <a:pPr lvl="1"/>
                <a:r>
                  <a:rPr lang="en-US" altLang="en-US" dirty="0"/>
                  <a:t>In other words, for all vectors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altLang="en-US" dirty="0"/>
                  <a:t> we have: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𝒰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𝒰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</m:oMath>
                </a14:m>
                <a:r>
                  <a:rPr lang="en-US" altLang="en-US" dirty="0"/>
                  <a:t>. </a:t>
                </a:r>
              </a:p>
              <a:p>
                <a:pPr lvl="1"/>
                <a:r>
                  <a:rPr lang="en-US" altLang="en-US" dirty="0"/>
                  <a:t>Unitary operators are both magnitude preserving and angle preserving.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𝒰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𝒰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The Identity operator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ℐ</m:t>
                    </m:r>
                  </m:oMath>
                </a14:m>
                <a:r>
                  <a:rPr lang="en-US" dirty="0"/>
                  <a:t> is a Unitary operator</a:t>
                </a:r>
              </a:p>
              <a:p>
                <a:r>
                  <a:rPr lang="en-US" dirty="0"/>
                  <a:t>Eigenvalues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𝒰</m:t>
                    </m:r>
                  </m:oMath>
                </a14:m>
                <a:r>
                  <a:rPr lang="en-US" dirty="0"/>
                  <a:t> lie on a unit circle, as does det(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𝒰</m:t>
                    </m:r>
                  </m:oMath>
                </a14:m>
                <a:r>
                  <a:rPr lang="en-US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𝒰</m:t>
                    </m:r>
                  </m:oMath>
                </a14:m>
                <a:r>
                  <a:rPr lang="en-US" dirty="0"/>
                  <a:t> can be written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𝑖𝐻</m:t>
                        </m:r>
                      </m:sup>
                    </m:sSup>
                  </m:oMath>
                </a14:m>
                <a:r>
                  <a:rPr lang="en-US" dirty="0"/>
                  <a:t>, where H is an Hermitian matrix.</a:t>
                </a:r>
              </a:p>
              <a:p>
                <a:r>
                  <a:rPr lang="en-US" dirty="0"/>
                  <a:t>Rotations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are Unitary.</a:t>
                </a:r>
              </a:p>
              <a:p>
                <a:r>
                  <a:rPr lang="en-US" dirty="0"/>
                  <a:t>The eigenvectors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𝒰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from an orthonormal basis with eigenvalues lying on the unit circle.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4A4166-8EA6-A72F-2C12-21F0DAAFFC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32435" y="1032691"/>
                <a:ext cx="11096178" cy="5263937"/>
              </a:xfrm>
              <a:blipFill>
                <a:blip r:embed="rId2"/>
                <a:stretch>
                  <a:fillRect l="-494" t="-23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6543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F24B-A3FD-B24E-72E2-9EFC9BAF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Observables are Hermitian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BE3017-FF10-7E74-0C03-C6D7D1D9B48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In QM, all Operators that correspond to a physical observable are Hermitian.</a:t>
                </a:r>
              </a:p>
              <a:p>
                <a:r>
                  <a:rPr lang="en-US" dirty="0"/>
                  <a:t>An operator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dirty="0"/>
                  <a:t> is said to be Hermitian 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 dirty="0"/>
                  <a:t> is the Hermitian adjoint operator</a:t>
                </a:r>
              </a:p>
              <a:p>
                <a:r>
                  <a:rPr lang="en-US" dirty="0"/>
                  <a:t>Hermitian adjoint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 dirty="0"/>
                  <a:t> is found by transposing and complex conjugating the matrix representing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Some properties of Hermitian operators.</a:t>
                </a:r>
              </a:p>
              <a:p>
                <a:pPr lvl="1"/>
                <a:r>
                  <a:rPr lang="en-US" dirty="0"/>
                  <a:t>Hermitian operators are square matrices.</a:t>
                </a:r>
              </a:p>
              <a:p>
                <a:pPr lvl="1"/>
                <a:r>
                  <a:rPr lang="en-US" dirty="0"/>
                  <a:t>Hermitian operators are symmetric.</a:t>
                </a:r>
              </a:p>
              <a:p>
                <a:pPr lvl="1"/>
                <a:r>
                  <a:rPr lang="en-US" dirty="0"/>
                  <a:t>Diagonal elements are real numbers.</a:t>
                </a:r>
              </a:p>
              <a:p>
                <a:pPr lvl="1"/>
                <a:r>
                  <a:rPr lang="en-US" dirty="0"/>
                  <a:t>All eigenvalues are real (eigenvectors may have complex values)</a:t>
                </a:r>
              </a:p>
              <a:p>
                <a:pPr lvl="1"/>
                <a:r>
                  <a:rPr lang="en-US" dirty="0"/>
                  <a:t>Eigenvectors are orthonormal and complete (so act as a basis for the Hilbert Space)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BE3017-FF10-7E74-0C03-C6D7D1D9B4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441" t="-2381" b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2738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E7AAE-384E-C6A0-4D8C-38D15AD73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properties of Hermitian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C4424-A5C6-A5FA-C3BE-2D397949976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Hermitian matrices can be diagonalized by a Unitary matrix.</a:t>
            </a:r>
          </a:p>
          <a:p>
            <a:r>
              <a:rPr lang="en-US" dirty="0"/>
              <a:t>The sum of any two Hermitian matrices is Hermitian.</a:t>
            </a:r>
          </a:p>
          <a:p>
            <a:r>
              <a:rPr lang="en-US" dirty="0"/>
              <a:t>Inverse is Hermitian</a:t>
            </a:r>
          </a:p>
          <a:p>
            <a:r>
              <a:rPr lang="en-US" dirty="0"/>
              <a:t>The product of two Hermitian matrices A and B is Hermitian if and only if AB = BA.</a:t>
            </a:r>
          </a:p>
          <a:p>
            <a:r>
              <a:rPr lang="en-US" dirty="0"/>
              <a:t>ABA Hermitian</a:t>
            </a:r>
          </a:p>
          <a:p>
            <a:r>
              <a:rPr lang="en-US" dirty="0"/>
              <a:t>The determinant of a Hermitian matrix is real.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565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AA77C-6646-2F93-BB21-1D94C1AD2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C1A5A0-EBB9-6917-5AC0-CCFA189BFBA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32691"/>
                <a:ext cx="11508922" cy="528908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be a (real or complex) vector space.</a:t>
                </a:r>
              </a:p>
              <a:p>
                <a:r>
                  <a:rPr lang="en-US" dirty="0"/>
                  <a:t>A mapping that associates with each pair of vectors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 scalar, denoted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, is called an </a:t>
                </a:r>
                <a:r>
                  <a:rPr lang="en-US" b="1" dirty="0"/>
                  <a:t>inner product </a:t>
                </a:r>
                <a:r>
                  <a:rPr lang="en-US" dirty="0"/>
                  <a:t>in </a:t>
                </a:r>
                <a:r>
                  <a:rPr lang="en-US" i="1" dirty="0"/>
                  <a:t>V </a:t>
                </a:r>
                <a:r>
                  <a:rPr lang="en-US" dirty="0"/>
                  <a:t>provided it satisfies the following properties. For all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, and all scalars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i="1" dirty="0"/>
                  <a:t>:</a:t>
                </a:r>
              </a:p>
              <a:p>
                <a:pPr lvl="1"/>
                <a:r>
                  <a:rPr lang="en-US" b="1" dirty="0"/>
                  <a:t>1.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⟩ ≥ 0</m:t>
                    </m:r>
                  </m:oMath>
                </a14:m>
                <a:r>
                  <a:rPr lang="en-US" dirty="0"/>
                  <a:t>. Furthermore,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⟩ = 0</m:t>
                    </m:r>
                  </m:oMath>
                </a14:m>
                <a:r>
                  <a:rPr lang="en-US" dirty="0"/>
                  <a:t> if and only 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b="1" dirty="0"/>
                  <a:t>2.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⟩=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 err="1">
                                <a:latin typeface="Cambria Math" panose="02040503050406030204" pitchFamily="18" charset="0"/>
                              </a:rPr>
                              <m:t>𝒖</m:t>
                            </m:r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dirty="0" err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b="1" dirty="0"/>
                  <a:t>3.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⟩=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b="1" dirty="0"/>
                  <a:t>4.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⟩=⟨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⟩+⟨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norm </a:t>
                </a:r>
                <a:r>
                  <a:rPr lang="en-US" dirty="0"/>
                  <a:t>of </a:t>
                </a:r>
                <a:r>
                  <a:rPr lang="en-US" b="1" i="0" dirty="0">
                    <a:latin typeface="+mj-lt"/>
                  </a:rPr>
                  <a:t>v</a:t>
                </a:r>
                <a:r>
                  <a:rPr lang="en-US" b="1" dirty="0"/>
                  <a:t> </a:t>
                </a:r>
                <a:r>
                  <a:rPr lang="en-US" dirty="0"/>
                  <a:t>is defined in terms of an inner product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|| = 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m:rPr>
                            <m:sty m:val="p"/>
                          </m:rPr>
                          <a:rPr lang="en-US" b="1" dirty="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1" dirty="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rad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A real vector space together with an inner product defined in it is called a </a:t>
                </a:r>
                <a:r>
                  <a:rPr lang="en-US" b="1" dirty="0"/>
                  <a:t>real inner product space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Two vectors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are said to be orthogonal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⟩ = 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 vector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 is called a unit vector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||=1</m:t>
                    </m:r>
                  </m:oMath>
                </a14:m>
                <a:r>
                  <a:rPr lang="en-US" dirty="0"/>
                  <a:t>.</a:t>
                </a:r>
                <a:r>
                  <a:rPr lang="en-US" sz="1800" b="1" dirty="0">
                    <a:effectLst/>
                    <a:latin typeface="Times"/>
                  </a:rPr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C1A5A0-EBB9-6917-5AC0-CCFA189BFB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32691"/>
                <a:ext cx="11508922" cy="5289087"/>
              </a:xfrm>
              <a:blipFill>
                <a:blip r:embed="rId2"/>
                <a:stretch>
                  <a:fillRect l="-551" t="-1918" r="-772" b="-1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704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3BEC693-4505-CB95-5BAC-8C3219B5C0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Inner product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3BEC693-4505-CB95-5BAC-8C3219B5C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85" t="-10769" b="-4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748FFA-6219-11FC-204F-035C0A27A69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we define the standard inner product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by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+ 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norm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defined to be the real number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||=</m:t>
                    </m:r>
                    <m:rad>
                      <m:radPr>
                        <m:deg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ra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 …+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=(5−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−3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6+2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=(3, 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−1−4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||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||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orthogonal?</a:t>
                </a:r>
              </a:p>
              <a:p>
                <a:pPr lvl="1"/>
                <a:r>
                  <a:rPr lang="en-US" dirty="0"/>
                  <a:t>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normalized?</a:t>
                </a:r>
              </a:p>
              <a:p>
                <a:pPr lvl="1"/>
                <a:r>
                  <a:rPr lang="en-US" dirty="0"/>
                  <a:t>Normalize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748FFA-6219-11FC-204F-035C0A27A6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51" t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515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82FA2-6587-905E-5874-9E5B1E248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properties of inner products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3781F0-E3EA-5071-8B14-27A59C15A4A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41538" y="1032691"/>
                <a:ext cx="6860773" cy="526650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⟩=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err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b="0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⟩=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⟩+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𝑏𝑧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⟩=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⟩+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err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b="0" i="1" dirty="0" err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dirty="0" err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err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dirty="0" err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3781F0-E3EA-5071-8B14-27A59C15A4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41538" y="1032691"/>
                <a:ext cx="6860773" cy="5266509"/>
              </a:xfrm>
              <a:blipFill>
                <a:blip r:embed="rId2"/>
                <a:stretch>
                  <a:fillRect l="-739" r="-1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960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96245-9413-06D9-A4C5-1370284F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product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328C0D-0535-CC5F-5DEE-B0A7DA6BF86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87021" y="1032691"/>
                <a:ext cx="10893779" cy="524393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be the set of all real-valued functions defined on an interval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Define addition and scalar multiplication in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as follows.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are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any real number, define vector addition,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, and scalar multiplication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, together with the given operations of addition and scalar multiplication, is a real vector space.</a:t>
                </a:r>
              </a:p>
              <a:p>
                <a:endParaRPr lang="en-US" dirty="0"/>
              </a:p>
              <a:p>
                <a:r>
                  <a:rPr lang="en-US" dirty="0"/>
                  <a:t>Now define inner product between two vectors f and g as: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dirty="0"/>
                  <a:t>. Show that with this inner product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 is an Inner product space.</a:t>
                </a:r>
              </a:p>
              <a:p>
                <a:endParaRPr lang="en-US" dirty="0"/>
              </a:p>
              <a:p>
                <a:r>
                  <a:rPr lang="en-US" dirty="0"/>
                  <a:t>D</a:t>
                </a:r>
                <a:r>
                  <a:rPr lang="en-US" b="0" dirty="0"/>
                  <a:t>etermine the inner product of the following functions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 8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0" dirty="0"/>
                  <a:t>. Also find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||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||</m:t>
                    </m:r>
                  </m:oMath>
                </a14:m>
                <a:r>
                  <a:rPr lang="en-US" b="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328C0D-0535-CC5F-5DEE-B0A7DA6BF8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87021" y="1032691"/>
                <a:ext cx="10893779" cy="5243931"/>
              </a:xfrm>
              <a:blipFill>
                <a:blip r:embed="rId2"/>
                <a:stretch>
                  <a:fillRect l="-3263" t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2874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4B64B-F63A-DA0E-D673-23182130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Hilbert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C7658-B32A-52DB-36BD-2245512D385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32691"/>
                <a:ext cx="8244371" cy="4792617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1" dirty="0"/>
                  <a:t>Convergent sequence.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be a normed vector space. The sequence of vectors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=1, 2, 3, 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is said to be convergent to the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&gt;0, 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such that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 The fact that the sequence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converges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symbolically written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im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dirty="0"/>
                  <a:t>.</a:t>
                </a:r>
              </a:p>
              <a:p>
                <a:endParaRPr lang="en-US" b="1" dirty="0"/>
              </a:p>
              <a:p>
                <a:r>
                  <a:rPr lang="en-US" b="1" dirty="0"/>
                  <a:t>Cauchy sequence.</a:t>
                </a:r>
                <a:r>
                  <a:rPr lang="en-US" dirty="0"/>
                  <a:t> The sequence of vectors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=1, 2, 3, 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said to be a Cauchy sequence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such that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Any convergent sequence is necessarily a Cauchy sequence.</a:t>
                </a:r>
              </a:p>
              <a:p>
                <a:endParaRPr lang="en-US" dirty="0"/>
              </a:p>
              <a:p>
                <a:r>
                  <a:rPr lang="en-US" dirty="0"/>
                  <a:t>Is the Euclidean vector space consisting of three-dimensional vectors, denoted by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, and equipped with the dot product a Hilbert space?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C7658-B32A-52DB-36BD-2245512D3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32691"/>
                <a:ext cx="8244371" cy="4792617"/>
              </a:xfrm>
              <a:blipFill>
                <a:blip r:embed="rId2"/>
                <a:stretch>
                  <a:fillRect l="-30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305B0ADE-F2D1-2715-581D-7B7F5AAD3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1534" y="1032691"/>
            <a:ext cx="2585477" cy="159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81695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ML Theme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lnDef>
      <a:spPr>
        <a:ln>
          <a:solidFill>
            <a:srgbClr val="000000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mps-theme</Template>
  <TotalTime>6999</TotalTime>
  <Words>2161</Words>
  <Application>Microsoft Macintosh PowerPoint</Application>
  <PresentationFormat>Widescreen</PresentationFormat>
  <Paragraphs>149</Paragraphs>
  <Slides>19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Aptos</vt:lpstr>
      <vt:lpstr>Arial</vt:lpstr>
      <vt:lpstr>Cambria Math</vt:lpstr>
      <vt:lpstr>Candara</vt:lpstr>
      <vt:lpstr>Comic Sans MS</vt:lpstr>
      <vt:lpstr>Gill Sans MT</vt:lpstr>
      <vt:lpstr>Times</vt:lpstr>
      <vt:lpstr>Times New Roman</vt:lpstr>
      <vt:lpstr>Wingdings</vt:lpstr>
      <vt:lpstr>Wingdings 3</vt:lpstr>
      <vt:lpstr>CML Theme</vt:lpstr>
      <vt:lpstr>QM Foundations Quantum Computing</vt:lpstr>
      <vt:lpstr>SG Experiment 4</vt:lpstr>
      <vt:lpstr>Same Effect with Polarizing filters</vt:lpstr>
      <vt:lpstr>Quantum State Vectors |ψ⟩</vt:lpstr>
      <vt:lpstr>Complex Number Properties</vt:lpstr>
      <vt:lpstr>Some Complex Number problems</vt:lpstr>
      <vt:lpstr>Vector Space</vt:lpstr>
      <vt:lpstr>Are these Vectors Spaces?</vt:lpstr>
      <vt:lpstr>Basis for a Vector Space</vt:lpstr>
      <vt:lpstr>Linear Transformations</vt:lpstr>
      <vt:lpstr>Eigenvectors and Eigenvalues</vt:lpstr>
      <vt:lpstr>Unitary Operators</vt:lpstr>
      <vt:lpstr>Physical Observables are Hermitian Matrices</vt:lpstr>
      <vt:lpstr>Some properties of Hermitian Operators</vt:lpstr>
      <vt:lpstr>Inner Product</vt:lpstr>
      <vt:lpstr>Inner product on C^n</vt:lpstr>
      <vt:lpstr>Some properties of inner products</vt:lpstr>
      <vt:lpstr>Inner product problems</vt:lpstr>
      <vt:lpstr>Hilbert Space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Foundations Quantum Computing</dc:title>
  <dc:creator>Aviral Shrivastava</dc:creator>
  <cp:lastModifiedBy>Aviral Shrivastava</cp:lastModifiedBy>
  <cp:revision>151</cp:revision>
  <dcterms:created xsi:type="dcterms:W3CDTF">2024-07-06T15:34:20Z</dcterms:created>
  <dcterms:modified xsi:type="dcterms:W3CDTF">2025-02-25T01:59:48Z</dcterms:modified>
</cp:coreProperties>
</file>